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411" r:id="rId2"/>
    <p:sldId id="410" r:id="rId3"/>
    <p:sldId id="482" r:id="rId4"/>
    <p:sldId id="501" r:id="rId5"/>
    <p:sldId id="502" r:id="rId6"/>
    <p:sldId id="503" r:id="rId7"/>
    <p:sldId id="504" r:id="rId8"/>
    <p:sldId id="500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6C70"/>
    <a:srgbClr val="37C6D0"/>
    <a:srgbClr val="0072C6"/>
    <a:srgbClr val="00A4EF"/>
    <a:srgbClr val="3333FF"/>
    <a:srgbClr val="FFDF00"/>
    <a:srgbClr val="75CDEA"/>
    <a:srgbClr val="ABE2F5"/>
    <a:srgbClr val="E7F7FE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36F72C-57AD-4C0C-B413-44A67FA7CD9B}" v="95" dt="2024-03-18T15:51:55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39" autoAdjust="0"/>
  </p:normalViewPr>
  <p:slideViewPr>
    <p:cSldViewPr snapToGrid="0">
      <p:cViewPr varScale="1">
        <p:scale>
          <a:sx n="40" d="100"/>
          <a:sy n="40" d="100"/>
        </p:scale>
        <p:origin x="44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1" d="100"/>
          <a:sy n="51" d="100"/>
        </p:scale>
        <p:origin x="2692" y="2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5/23/2026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5/23/2026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ECC495-5FEF-4C9C-502D-7281AA9BC4CE}"/>
              </a:ext>
            </a:extLst>
          </p:cNvPr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Title 1"/>
          <p:cNvSpPr txBox="1"/>
          <p:nvPr userDrawn="1"/>
        </p:nvSpPr>
        <p:spPr>
          <a:xfrm>
            <a:off x="-1707114" y="2422578"/>
            <a:ext cx="6145764" cy="11097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US" sz="2400" dirty="0"/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509750" y="2338493"/>
            <a:ext cx="3531146" cy="1450757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YESHUAH" panose="02000500000000000000" pitchFamily="2" charset="0"/>
              </a:defRPr>
            </a:lvl1pPr>
          </a:lstStyle>
          <a:p>
            <a:r>
              <a:rPr lang="en-US" dirty="0"/>
              <a:t>{ subject }</a:t>
            </a:r>
          </a:p>
        </p:txBody>
      </p:sp>
      <p:sp>
        <p:nvSpPr>
          <p:cNvPr id="1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7647842" y="6136265"/>
            <a:ext cx="4090199" cy="4531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400" baseline="0">
                <a:solidFill>
                  <a:srgbClr val="25677D"/>
                </a:solidFill>
                <a:latin typeface="YESHUAH" panose="02000500000000000000" pitchFamily="2" charset="0"/>
              </a:defRPr>
            </a:lvl1pPr>
          </a:lstStyle>
          <a:p>
            <a:pPr lvl="0"/>
            <a:r>
              <a:rPr lang="en-US" dirty="0"/>
              <a:t> { write presenter name }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 userDrawn="1"/>
        </p:nvSpPr>
        <p:spPr>
          <a:xfrm>
            <a:off x="-64008" y="0"/>
            <a:ext cx="4723782" cy="68580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9" name="Group 18" descr="Info"/>
          <p:cNvGrpSpPr/>
          <p:nvPr userDrawn="1"/>
        </p:nvGrpSpPr>
        <p:grpSpPr>
          <a:xfrm>
            <a:off x="4642801" y="3133724"/>
            <a:ext cx="567374" cy="550865"/>
            <a:chOff x="4914764" y="3319462"/>
            <a:chExt cx="619125" cy="619125"/>
          </a:xfrm>
          <a:solidFill>
            <a:schemeClr val="bg1"/>
          </a:solidFill>
        </p:grpSpPr>
        <p:sp>
          <p:nvSpPr>
            <p:cNvPr id="20" name="Freeform: Shape 19"/>
            <p:cNvSpPr/>
            <p:nvPr/>
          </p:nvSpPr>
          <p:spPr>
            <a:xfrm>
              <a:off x="4914764" y="3319462"/>
              <a:ext cx="619125" cy="619125"/>
            </a:xfrm>
            <a:custGeom>
              <a:avLst/>
              <a:gdLst>
                <a:gd name="connsiteX0" fmla="*/ 309563 w 619125"/>
                <a:gd name="connsiteY0" fmla="*/ 0 h 619125"/>
                <a:gd name="connsiteX1" fmla="*/ 0 w 619125"/>
                <a:gd name="connsiteY1" fmla="*/ 309563 h 619125"/>
                <a:gd name="connsiteX2" fmla="*/ 309563 w 619125"/>
                <a:gd name="connsiteY2" fmla="*/ 619125 h 619125"/>
                <a:gd name="connsiteX3" fmla="*/ 619125 w 619125"/>
                <a:gd name="connsiteY3" fmla="*/ 309563 h 619125"/>
                <a:gd name="connsiteX4" fmla="*/ 309563 w 619125"/>
                <a:gd name="connsiteY4" fmla="*/ 0 h 619125"/>
                <a:gd name="connsiteX5" fmla="*/ 309563 w 619125"/>
                <a:gd name="connsiteY5" fmla="*/ 581025 h 619125"/>
                <a:gd name="connsiteX6" fmla="*/ 38100 w 619125"/>
                <a:gd name="connsiteY6" fmla="*/ 309563 h 619125"/>
                <a:gd name="connsiteX7" fmla="*/ 309563 w 619125"/>
                <a:gd name="connsiteY7" fmla="*/ 38100 h 619125"/>
                <a:gd name="connsiteX8" fmla="*/ 581025 w 619125"/>
                <a:gd name="connsiteY8" fmla="*/ 309563 h 619125"/>
                <a:gd name="connsiteX9" fmla="*/ 309563 w 619125"/>
                <a:gd name="connsiteY9" fmla="*/ 581025 h 6191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125" h="619125">
                  <a:moveTo>
                    <a:pt x="309563" y="0"/>
                  </a:moveTo>
                  <a:cubicBezTo>
                    <a:pt x="138875" y="0"/>
                    <a:pt x="0" y="138865"/>
                    <a:pt x="0" y="309563"/>
                  </a:cubicBezTo>
                  <a:cubicBezTo>
                    <a:pt x="0" y="480260"/>
                    <a:pt x="138875" y="619125"/>
                    <a:pt x="309563" y="619125"/>
                  </a:cubicBezTo>
                  <a:cubicBezTo>
                    <a:pt x="480250" y="619125"/>
                    <a:pt x="619125" y="480260"/>
                    <a:pt x="619125" y="309563"/>
                  </a:cubicBezTo>
                  <a:cubicBezTo>
                    <a:pt x="619125" y="138865"/>
                    <a:pt x="480250" y="0"/>
                    <a:pt x="309563" y="0"/>
                  </a:cubicBezTo>
                  <a:close/>
                  <a:moveTo>
                    <a:pt x="309563" y="581025"/>
                  </a:moveTo>
                  <a:cubicBezTo>
                    <a:pt x="159877" y="581025"/>
                    <a:pt x="38100" y="459248"/>
                    <a:pt x="38100" y="309563"/>
                  </a:cubicBezTo>
                  <a:cubicBezTo>
                    <a:pt x="38100" y="159877"/>
                    <a:pt x="159877" y="38100"/>
                    <a:pt x="309563" y="38100"/>
                  </a:cubicBezTo>
                  <a:cubicBezTo>
                    <a:pt x="459248" y="38100"/>
                    <a:pt x="581025" y="159877"/>
                    <a:pt x="581025" y="309563"/>
                  </a:cubicBezTo>
                  <a:cubicBezTo>
                    <a:pt x="581025" y="459248"/>
                    <a:pt x="459248" y="581025"/>
                    <a:pt x="309563" y="5810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5195751" y="3473729"/>
              <a:ext cx="57150" cy="57150"/>
            </a:xfrm>
            <a:custGeom>
              <a:avLst/>
              <a:gdLst>
                <a:gd name="connsiteX0" fmla="*/ 63722 w 57150"/>
                <a:gd name="connsiteY0" fmla="*/ 31861 h 57150"/>
                <a:gd name="connsiteX1" fmla="*/ 31861 w 57150"/>
                <a:gd name="connsiteY1" fmla="*/ 63722 h 57150"/>
                <a:gd name="connsiteX2" fmla="*/ 0 w 57150"/>
                <a:gd name="connsiteY2" fmla="*/ 31861 h 57150"/>
                <a:gd name="connsiteX3" fmla="*/ 31861 w 57150"/>
                <a:gd name="connsiteY3" fmla="*/ 0 h 57150"/>
                <a:gd name="connsiteX4" fmla="*/ 63722 w 57150"/>
                <a:gd name="connsiteY4" fmla="*/ 31861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63722" y="31861"/>
                  </a:moveTo>
                  <a:cubicBezTo>
                    <a:pt x="63722" y="49458"/>
                    <a:pt x="49458" y="63722"/>
                    <a:pt x="31861" y="63722"/>
                  </a:cubicBezTo>
                  <a:cubicBezTo>
                    <a:pt x="14265" y="63722"/>
                    <a:pt x="0" y="49458"/>
                    <a:pt x="0" y="31861"/>
                  </a:cubicBezTo>
                  <a:cubicBezTo>
                    <a:pt x="0" y="14265"/>
                    <a:pt x="14265" y="0"/>
                    <a:pt x="31861" y="0"/>
                  </a:cubicBezTo>
                  <a:cubicBezTo>
                    <a:pt x="49458" y="0"/>
                    <a:pt x="63722" y="14265"/>
                    <a:pt x="63722" y="3186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5205276" y="3589420"/>
              <a:ext cx="38100" cy="200025"/>
            </a:xfrm>
            <a:custGeom>
              <a:avLst/>
              <a:gdLst>
                <a:gd name="connsiteX0" fmla="*/ 19050 w 38100"/>
                <a:gd name="connsiteY0" fmla="*/ 0 h 200025"/>
                <a:gd name="connsiteX1" fmla="*/ 0 w 38100"/>
                <a:gd name="connsiteY1" fmla="*/ 19050 h 200025"/>
                <a:gd name="connsiteX2" fmla="*/ 0 w 38100"/>
                <a:gd name="connsiteY2" fmla="*/ 180975 h 200025"/>
                <a:gd name="connsiteX3" fmla="*/ 19050 w 38100"/>
                <a:gd name="connsiteY3" fmla="*/ 200025 h 200025"/>
                <a:gd name="connsiteX4" fmla="*/ 38100 w 38100"/>
                <a:gd name="connsiteY4" fmla="*/ 180975 h 200025"/>
                <a:gd name="connsiteX5" fmla="*/ 38100 w 38100"/>
                <a:gd name="connsiteY5" fmla="*/ 19050 h 200025"/>
                <a:gd name="connsiteX6" fmla="*/ 19050 w 38100"/>
                <a:gd name="connsiteY6" fmla="*/ 0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0" h="200025">
                  <a:moveTo>
                    <a:pt x="19050" y="0"/>
                  </a:moveTo>
                  <a:cubicBezTo>
                    <a:pt x="8534" y="0"/>
                    <a:pt x="0" y="8534"/>
                    <a:pt x="0" y="19050"/>
                  </a:cubicBezTo>
                  <a:lnTo>
                    <a:pt x="0" y="180975"/>
                  </a:lnTo>
                  <a:cubicBezTo>
                    <a:pt x="0" y="191491"/>
                    <a:pt x="8534" y="200025"/>
                    <a:pt x="19050" y="200025"/>
                  </a:cubicBezTo>
                  <a:cubicBezTo>
                    <a:pt x="29566" y="200025"/>
                    <a:pt x="38100" y="191491"/>
                    <a:pt x="38100" y="180975"/>
                  </a:cubicBezTo>
                  <a:lnTo>
                    <a:pt x="38100" y="19050"/>
                  </a:lnTo>
                  <a:cubicBezTo>
                    <a:pt x="38100" y="8525"/>
                    <a:pt x="29566" y="0"/>
                    <a:pt x="190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 dirty="0"/>
            </a:p>
          </p:txBody>
        </p:sp>
      </p:grpSp>
      <p:sp>
        <p:nvSpPr>
          <p:cNvPr id="16" name="Title 1"/>
          <p:cNvSpPr txBox="1"/>
          <p:nvPr userDrawn="1"/>
        </p:nvSpPr>
        <p:spPr>
          <a:xfrm>
            <a:off x="474130" y="2639243"/>
            <a:ext cx="3334512" cy="108011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6000" b="1" dirty="0">
                <a:solidFill>
                  <a:schemeClr val="bg1"/>
                </a:solidFill>
                <a:latin typeface="YESHUAH" panose="020005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Objectives</a:t>
            </a:r>
            <a:endParaRPr lang="en-US" sz="3200" b="1" dirty="0">
              <a:solidFill>
                <a:schemeClr val="bg1"/>
              </a:solidFill>
              <a:latin typeface="YESHUAH" panose="020005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5908431" y="1603717"/>
            <a:ext cx="5524060" cy="3151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32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 { write your objectives}</a:t>
            </a:r>
          </a:p>
          <a:p>
            <a:pPr lvl="0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F92EB-1689-2416-7533-E53DBC8933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400" y="2348890"/>
            <a:ext cx="2160220" cy="216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56921" y="618977"/>
            <a:ext cx="9393848" cy="712765"/>
          </a:xfrm>
          <a:prstGeom prst="rect">
            <a:avLst/>
          </a:prstGeom>
        </p:spPr>
        <p:txBody>
          <a:bodyPr/>
          <a:lstStyle>
            <a:lvl1pPr>
              <a:defRPr lang="en-US" sz="3600" b="1" kern="1200" spc="-38" baseline="0" dirty="0">
                <a:solidFill>
                  <a:srgbClr val="002060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dirty="0"/>
              <a:t>{ Title }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56921" y="1603717"/>
            <a:ext cx="10275570" cy="47053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{write your bullet point }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 txBox="1"/>
          <p:nvPr userDrawn="1"/>
        </p:nvSpPr>
        <p:spPr>
          <a:xfrm>
            <a:off x="1325880" y="638175"/>
            <a:ext cx="9942195" cy="6667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2060"/>
                </a:solidFill>
                <a:latin typeface="+mn-lt"/>
                <a:ea typeface="Cambria" panose="02040503050406030204" pitchFamily="18" charset="0"/>
              </a:rPr>
              <a:t>References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325880" y="1524000"/>
            <a:ext cx="9681949" cy="3958659"/>
          </a:xfrm>
          <a:prstGeom prst="rect">
            <a:avLst/>
          </a:prstGeom>
        </p:spPr>
        <p:txBody>
          <a:bodyPr>
            <a:normAutofit/>
          </a:bodyPr>
          <a:lstStyle>
            <a:lvl1pPr marL="91440">
              <a:spcBef>
                <a:spcPts val="0"/>
              </a:spcBef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{ link to reference1, example: http://app.icraftsoft.net }</a:t>
            </a:r>
          </a:p>
          <a:p>
            <a:pPr lvl="0"/>
            <a:r>
              <a:rPr lang="en-US" dirty="0"/>
              <a:t>{ link to reference1, example: http://app.icraftsoft.net }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84E36F-A443-7521-D49B-753C50A8A8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25952" y="973836"/>
            <a:ext cx="4910328" cy="491032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8621" y="625480"/>
            <a:ext cx="1036320" cy="685800"/>
          </a:xfrm>
          <a:prstGeom prst="rect">
            <a:avLst/>
          </a:prstGeom>
          <a:solidFill>
            <a:srgbClr val="2567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610600" y="6181726"/>
            <a:ext cx="2743200" cy="5397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36B06-9FB6-4AA1-A097-666DD28834F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073852" y="205990"/>
            <a:ext cx="944645" cy="9446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 spc="-38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00025" indent="-200025" algn="l" defTabSz="685800" rtl="0" eaLnBrk="1" latinLnBrk="0" hangingPunct="1">
        <a:lnSpc>
          <a:spcPct val="10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29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45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61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770" indent="-137160" algn="l" defTabSz="685800" rtl="0" eaLnBrk="1" latinLnBrk="0" hangingPunct="1">
        <a:lnSpc>
          <a:spcPct val="100000"/>
        </a:lnSpc>
        <a:spcBef>
          <a:spcPts val="150"/>
        </a:spcBef>
        <a:spcAft>
          <a:spcPts val="300"/>
        </a:spcAft>
        <a:buClr>
          <a:schemeClr val="accent1"/>
        </a:buClr>
        <a:buFont typeface="Wingdings" panose="05000000000000000000" pitchFamily="2" charset="2"/>
        <a:buChar char="§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486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4725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22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8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anose="020F0502020204030204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ECDAC-6AB4-4A7B-90D7-87428ABE7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" y="2402501"/>
            <a:ext cx="4014216" cy="1450757"/>
          </a:xfrm>
        </p:spPr>
        <p:txBody>
          <a:bodyPr>
            <a:noAutofit/>
          </a:bodyPr>
          <a:lstStyle/>
          <a:p>
            <a: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</a:t>
            </a:r>
            <a:br>
              <a:rPr lang="en-US" sz="5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3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Lists</a:t>
            </a:r>
            <a:br>
              <a:rPr lang="en-US" sz="3600" dirty="0">
                <a:solidFill>
                  <a:srgbClr val="FFC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Part III</a:t>
            </a:r>
            <a:endParaRPr lang="en-US" sz="66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0905C-A1AA-3986-D28A-042DCEF789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mintesnot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CEBC9E-4311-34A9-0C78-FA3EC3930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14544" y="1447038"/>
            <a:ext cx="6830568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13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A5F557-19C5-3E57-5E7C-602DF20CAE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52193" y="654839"/>
            <a:ext cx="6460032" cy="6440905"/>
          </a:xfrm>
        </p:spPr>
        <p:txBody>
          <a:bodyPr>
            <a:normAutofit/>
          </a:bodyPr>
          <a:lstStyle/>
          <a:p>
            <a:pPr>
              <a:buBlip>
                <a:blip r:embed="rId2"/>
              </a:buBlip>
            </a:pP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What is SharePoint Site Customization?</a:t>
            </a:r>
          </a:p>
          <a:p>
            <a:pPr>
              <a:buBlip>
                <a:blip r:embed="rId2"/>
              </a:buBlip>
            </a:pPr>
            <a:r>
              <a:rPr lang="en-US" dirty="0">
                <a:solidFill>
                  <a:schemeClr val="tx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6488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AC7B-04BC-F64F-721F-7D3AF774F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Conditional Formatting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290E8-2F0D-3C23-E05D-060AC17761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54780" y="1219694"/>
            <a:ext cx="4923980" cy="5382620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Conditional formatting in SharePoint Lists allows users to change the appearance of list items automatically base don conditions</a:t>
            </a:r>
          </a:p>
          <a:p>
            <a:r>
              <a:rPr lang="en-US" b="1" dirty="0"/>
              <a:t> It helps users</a:t>
            </a:r>
          </a:p>
          <a:p>
            <a:pPr marL="0" indent="0">
              <a:buNone/>
            </a:pPr>
            <a:r>
              <a:rPr lang="en-US" dirty="0"/>
              <a:t>✅ Highlight important information</a:t>
            </a:r>
            <a:br>
              <a:rPr lang="en-US" dirty="0"/>
            </a:br>
            <a:r>
              <a:rPr lang="en-US" dirty="0"/>
              <a:t>✅ Identify risk quickly</a:t>
            </a:r>
            <a:br>
              <a:rPr lang="en-US" dirty="0"/>
            </a:br>
            <a:r>
              <a:rPr lang="en-US" dirty="0"/>
              <a:t>✅ Improve readability</a:t>
            </a:r>
            <a:br>
              <a:rPr lang="en-US" dirty="0"/>
            </a:br>
            <a:r>
              <a:rPr lang="en-US" dirty="0"/>
              <a:t>✅ Focus on priority tasks</a:t>
            </a:r>
          </a:p>
          <a:p>
            <a:pPr marL="0" indent="0">
              <a:buNone/>
            </a:pPr>
            <a:r>
              <a:rPr lang="en-US" b="1" dirty="0"/>
              <a:t>Examples</a:t>
            </a:r>
          </a:p>
          <a:p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 color for overdue tasks </a:t>
            </a:r>
          </a:p>
          <a:p>
            <a:r>
              <a:rPr lang="en-US" b="1" dirty="0">
                <a:solidFill>
                  <a:srgbClr val="00B050"/>
                </a:solidFill>
              </a:rPr>
              <a:t>Green</a:t>
            </a:r>
            <a:r>
              <a:rPr lang="en-US" dirty="0"/>
              <a:t> for completed work </a:t>
            </a:r>
          </a:p>
          <a:p>
            <a:r>
              <a:rPr lang="en-US" b="1" dirty="0">
                <a:solidFill>
                  <a:srgbClr val="FFC000"/>
                </a:solidFill>
              </a:rPr>
              <a:t>Yellow</a:t>
            </a:r>
            <a:r>
              <a:rPr lang="en-US" dirty="0"/>
              <a:t> for pending approval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80703-B2B2-A3D3-023F-5444D07C5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15" y="1725936"/>
            <a:ext cx="6882065" cy="458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7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92B31-2D5F-6F89-9BC3-FB26DFBD2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Types of Conditional Formatting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20BFC-302F-EB36-622E-1EEF852484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201" y="5038826"/>
            <a:ext cx="10664290" cy="168733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Benefits</a:t>
            </a:r>
          </a:p>
          <a:p>
            <a:pPr marL="0" indent="0">
              <a:buNone/>
            </a:pPr>
            <a:r>
              <a:rPr lang="en-US" dirty="0"/>
              <a:t>✔ Easy visual identification</a:t>
            </a:r>
            <a:br>
              <a:rPr lang="en-US" dirty="0"/>
            </a:br>
            <a:r>
              <a:rPr lang="en-US" dirty="0"/>
              <a:t>✔ Better user experience</a:t>
            </a:r>
            <a:br>
              <a:rPr lang="en-US" dirty="0"/>
            </a:br>
            <a:r>
              <a:rPr lang="en-US" dirty="0"/>
              <a:t>✔ Faster decision-making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A62779-C6AC-A275-789C-094651551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9772151"/>
              </p:ext>
            </p:extLst>
          </p:nvPr>
        </p:nvGraphicFramePr>
        <p:xfrm>
          <a:off x="768201" y="1447924"/>
          <a:ext cx="11053010" cy="34747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136734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3194508">
                  <a:extLst>
                    <a:ext uri="{9D8B030D-6E8A-4147-A177-3AD203B41FA5}">
                      <a16:colId xmlns:a16="http://schemas.microsoft.com/office/drawing/2014/main" val="2532995169"/>
                    </a:ext>
                  </a:extLst>
                </a:gridCol>
                <a:gridCol w="3721768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</a:tblGrid>
              <a:tr h="376377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Column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Row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View Formatting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2924162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Example:</a:t>
                      </a:r>
                      <a:b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</a:br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Status Column</a:t>
                      </a:r>
                      <a:b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</a:br>
                      <a:b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</a:br>
                      <a:r>
                        <a:rPr lang="en-US" sz="2800" dirty="0"/>
                        <a:t>Completed → </a:t>
                      </a:r>
                      <a:r>
                        <a:rPr lang="en-US" sz="2800" b="1" dirty="0">
                          <a:solidFill>
                            <a:srgbClr val="00B050"/>
                          </a:solidFill>
                        </a:rPr>
                        <a:t>Green</a:t>
                      </a:r>
                      <a:r>
                        <a:rPr lang="en-US" sz="2800" dirty="0"/>
                        <a:t> Badge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Pending → </a:t>
                      </a:r>
                      <a:r>
                        <a:rPr lang="en-US" sz="2800" b="1" dirty="0">
                          <a:solidFill>
                            <a:srgbClr val="FFC000"/>
                          </a:solidFill>
                        </a:rPr>
                        <a:t>Yellow</a:t>
                      </a:r>
                      <a:r>
                        <a:rPr lang="en-US" sz="2800" dirty="0"/>
                        <a:t> Badge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Rejected → </a:t>
                      </a:r>
                      <a:r>
                        <a:rPr lang="en-US" sz="2800" b="1" dirty="0">
                          <a:solidFill>
                            <a:srgbClr val="C00000"/>
                          </a:solidFill>
                        </a:rPr>
                        <a:t>Red</a:t>
                      </a:r>
                      <a:r>
                        <a:rPr lang="en-US" sz="2800" dirty="0"/>
                        <a:t> Badge</a:t>
                      </a:r>
                    </a:p>
                    <a:p>
                      <a:endParaRPr lang="en-US" sz="2800" b="0" dirty="0">
                        <a:solidFill>
                          <a:schemeClr val="tx1"/>
                        </a:solidFill>
                        <a:latin typeface="+mn-lt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Formats the entire row.</a:t>
                      </a:r>
                    </a:p>
                    <a:p>
                      <a:endParaRPr lang="en-US" sz="2800" b="0" dirty="0">
                        <a:solidFill>
                          <a:schemeClr val="tx1"/>
                        </a:solidFill>
                        <a:latin typeface="+mn-lt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r>
                        <a:rPr lang="en-US" sz="2800" dirty="0"/>
                        <a:t>Example: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High Priority Tasks = </a:t>
                      </a:r>
                      <a:r>
                        <a:rPr lang="en-US" sz="2800" b="1" dirty="0">
                          <a:solidFill>
                            <a:schemeClr val="bg1"/>
                          </a:solidFill>
                          <a:highlight>
                            <a:srgbClr val="FF0000"/>
                          </a:highlight>
                        </a:rPr>
                        <a:t>Red Background</a:t>
                      </a:r>
                      <a:endParaRPr lang="en-US" sz="2800" b="1" dirty="0">
                        <a:solidFill>
                          <a:schemeClr val="bg1"/>
                        </a:solidFill>
                        <a:highlight>
                          <a:srgbClr val="FF0000"/>
                        </a:highlight>
                        <a:latin typeface="+mn-lt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Changes appearance of the entire list view.</a:t>
                      </a:r>
                    </a:p>
                    <a:p>
                      <a:endParaRPr lang="en-US" sz="2800" b="0" dirty="0">
                        <a:solidFill>
                          <a:schemeClr val="tx1"/>
                        </a:solidFill>
                        <a:latin typeface="+mn-lt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Example:</a:t>
                      </a:r>
                      <a:br>
                        <a:rPr lang="en-US" sz="2800" dirty="0"/>
                      </a:br>
                      <a:r>
                        <a:rPr lang="en-US" sz="2800" dirty="0"/>
                        <a:t>Gallery View for employee cards.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45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09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0B61B-AE56-E348-A48A-AB811522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Apply Conditional Formatting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DC504-44B2-454E-48D2-E692DBDA77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68856" y="1603716"/>
            <a:ext cx="4823144" cy="4705350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b="1" dirty="0"/>
              <a:t>Method 1: Using Rules (Easy Way)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Open SharePoint List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Click Column Header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b="1" dirty="0"/>
              <a:t>Column Settings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Choose </a:t>
            </a:r>
            <a:r>
              <a:rPr lang="en-US" b="1" dirty="0"/>
              <a:t>Format This Column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 </a:t>
            </a:r>
            <a:r>
              <a:rPr lang="en-US" b="1" dirty="0"/>
              <a:t>Conditional Formatting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Set condition </a:t>
            </a:r>
          </a:p>
          <a:p>
            <a:r>
              <a:rPr lang="en-US" dirty="0"/>
              <a:t>Example:</a:t>
            </a:r>
          </a:p>
          <a:p>
            <a:r>
              <a:rPr lang="en-US" b="1" dirty="0"/>
              <a:t>If Status = Completed → Green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02910-7B7D-8A5B-A17B-081B6EA4E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31" y="1778090"/>
            <a:ext cx="7204425" cy="480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87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416DA-3175-4F17-0FED-CD89EF4B5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FC3AA-7570-B32C-866E-32A9EBC0F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E3C0A1-FD50-E359-ED08-2067A268C1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68856" y="1533673"/>
            <a:ext cx="4823144" cy="47053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</a:t>
            </a:r>
            <a:r>
              <a:rPr lang="en-US" b="1" dirty="0"/>
              <a:t>Method 2: Advanced JSON Formatting</a:t>
            </a:r>
          </a:p>
          <a:p>
            <a:pPr marL="0" indent="0">
              <a:buNone/>
            </a:pPr>
            <a:r>
              <a:rPr lang="en-US" dirty="0"/>
              <a:t>Advanced users can customize formatting using </a:t>
            </a:r>
            <a:r>
              <a:rPr lang="en-US" b="1" dirty="0"/>
              <a:t>JSON code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Used for:</a:t>
            </a:r>
          </a:p>
          <a:p>
            <a:r>
              <a:rPr lang="en-US" dirty="0"/>
              <a:t>Custom colors </a:t>
            </a:r>
          </a:p>
          <a:p>
            <a:r>
              <a:rPr lang="en-US" dirty="0"/>
              <a:t>Icons </a:t>
            </a:r>
          </a:p>
          <a:p>
            <a:r>
              <a:rPr lang="en-US" dirty="0"/>
              <a:t>Progress bars </a:t>
            </a:r>
          </a:p>
          <a:p>
            <a:r>
              <a:rPr lang="en-US" dirty="0"/>
              <a:t>Advanced layouts </a:t>
            </a:r>
          </a:p>
          <a:p>
            <a:pPr marL="0" indent="0">
              <a:buNone/>
            </a:pPr>
            <a:r>
              <a:rPr lang="en-US" dirty="0"/>
              <a:t>Example:</a:t>
            </a:r>
          </a:p>
          <a:p>
            <a:r>
              <a:rPr lang="en-US" dirty="0"/>
              <a:t>Priority = High → Red Icon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3D872-23D0-1A6A-290D-FCCB3ED66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63" y="1610894"/>
            <a:ext cx="7192393" cy="4794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8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60DBB-5768-A2BE-A366-36121A2DC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is Versioning?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7BA9F-52D5-14F4-DC8A-6A3EBE4EFF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en-US" dirty="0"/>
              <a:t> Versioning in SharePoint Lists allows SharePoint to </a:t>
            </a:r>
          </a:p>
        </p:txBody>
      </p:sp>
    </p:spTree>
    <p:extLst>
      <p:ext uri="{BB962C8B-B14F-4D97-AF65-F5344CB8AC3E}">
        <p14:creationId xmlns:p14="http://schemas.microsoft.com/office/powerpoint/2010/main" val="2661769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C3F51-89C6-BE11-DA44-152710D6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27024-B09B-7875-26AE-29B9E5A48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SharePoint Lists Vs. Microsoft Lists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943C3AA-D165-3AAE-0969-3F3D5EA15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371427"/>
              </p:ext>
            </p:extLst>
          </p:nvPr>
        </p:nvGraphicFramePr>
        <p:xfrm>
          <a:off x="721894" y="1551036"/>
          <a:ext cx="11053010" cy="3505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136734">
                  <a:extLst>
                    <a:ext uri="{9D8B030D-6E8A-4147-A177-3AD203B41FA5}">
                      <a16:colId xmlns:a16="http://schemas.microsoft.com/office/drawing/2014/main" val="470776211"/>
                    </a:ext>
                  </a:extLst>
                </a:gridCol>
                <a:gridCol w="3194508">
                  <a:extLst>
                    <a:ext uri="{9D8B030D-6E8A-4147-A177-3AD203B41FA5}">
                      <a16:colId xmlns:a16="http://schemas.microsoft.com/office/drawing/2014/main" val="2532995169"/>
                    </a:ext>
                  </a:extLst>
                </a:gridCol>
                <a:gridCol w="3721768">
                  <a:extLst>
                    <a:ext uri="{9D8B030D-6E8A-4147-A177-3AD203B41FA5}">
                      <a16:colId xmlns:a16="http://schemas.microsoft.com/office/drawing/2014/main" val="1019660400"/>
                    </a:ext>
                  </a:extLst>
                </a:gridCol>
              </a:tblGrid>
              <a:tr h="367926"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rgbClr val="036C70"/>
                          </a:solidFill>
                          <a:latin typeface="ADLaM Display" panose="02010000000000000000" pitchFamily="2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Microsoft Lists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9263078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Platform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Inside SharePoint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Standalone App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456463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Access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 Site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Web, Mobile, Teams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35596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Templates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More modern templates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387606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Collaboration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Yes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Enhanced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742282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Mobile Experience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Limited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Better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0822759"/>
                  </a:ext>
                </a:extLst>
              </a:tr>
              <a:tr h="367926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Backend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+mn-lt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SharePoint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03258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723F73D-F649-8E6A-29BF-ADD47637E8D4}"/>
              </a:ext>
            </a:extLst>
          </p:cNvPr>
          <p:cNvSpPr txBox="1"/>
          <p:nvPr/>
        </p:nvSpPr>
        <p:spPr>
          <a:xfrm>
            <a:off x="721894" y="5275530"/>
            <a:ext cx="93525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u="sng" dirty="0">
                <a:solidFill>
                  <a:srgbClr val="036C7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Difference</a:t>
            </a:r>
          </a:p>
          <a:p>
            <a:pPr marL="457200" indent="-457200">
              <a:buBlip>
                <a:blip r:embed="rId2"/>
              </a:buBlip>
            </a:pPr>
            <a:r>
              <a:rPr lang="en-US" sz="2800" b="1" dirty="0"/>
              <a:t>Microsoft Lists = Modern experience of SharePoint Lists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5289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4021</TotalTime>
  <Words>285</Words>
  <Application>Microsoft Office PowerPoint</Application>
  <PresentationFormat>Widescreen</PresentationFormat>
  <Paragraphs>71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ADLaM Display</vt:lpstr>
      <vt:lpstr>Calibri</vt:lpstr>
      <vt:lpstr>Wingdings</vt:lpstr>
      <vt:lpstr>YESHUAH</vt:lpstr>
      <vt:lpstr>RetrospectVTI</vt:lpstr>
      <vt:lpstr>SharePoint Lists - Part III</vt:lpstr>
      <vt:lpstr>PowerPoint Presentation</vt:lpstr>
      <vt:lpstr>Conditional Formatting</vt:lpstr>
      <vt:lpstr>Types of Conditional Formatting</vt:lpstr>
      <vt:lpstr>Apply Conditional Formatting</vt:lpstr>
      <vt:lpstr>…</vt:lpstr>
      <vt:lpstr>What is Versioning?</vt:lpstr>
      <vt:lpstr>SharePoint Lists Vs. Microsoft Lists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Mintesnot Iwunete</cp:lastModifiedBy>
  <cp:revision>393</cp:revision>
  <dcterms:created xsi:type="dcterms:W3CDTF">2020-02-06T00:04:00Z</dcterms:created>
  <dcterms:modified xsi:type="dcterms:W3CDTF">2026-05-23T21:56:28Z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1033-11.2.0.9937</vt:lpwstr>
  </property>
</Properties>
</file>