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11" r:id="rId2"/>
    <p:sldId id="410" r:id="rId3"/>
    <p:sldId id="514" r:id="rId4"/>
    <p:sldId id="516" r:id="rId5"/>
    <p:sldId id="515" r:id="rId6"/>
    <p:sldId id="501" r:id="rId7"/>
    <p:sldId id="517" r:id="rId8"/>
    <p:sldId id="518" r:id="rId9"/>
    <p:sldId id="519" r:id="rId10"/>
    <p:sldId id="520" r:id="rId11"/>
    <p:sldId id="521" r:id="rId12"/>
    <p:sldId id="522" r:id="rId13"/>
    <p:sldId id="523" r:id="rId14"/>
    <p:sldId id="524" r:id="rId15"/>
    <p:sldId id="525" r:id="rId16"/>
    <p:sldId id="526" r:id="rId17"/>
    <p:sldId id="527" r:id="rId18"/>
    <p:sldId id="528" r:id="rId19"/>
    <p:sldId id="529" r:id="rId20"/>
    <p:sldId id="530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40" d="100"/>
          <a:sy n="40" d="100"/>
        </p:scale>
        <p:origin x="44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014216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 Library</a:t>
            </a:r>
            <a:br>
              <a:rPr lang="en-US" sz="3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Part I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SharePoint Site Customization?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43EC-0DD4-FAFC-7605-F1C22B34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Document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F3C6B-601B-1F69-BDE1-33FBA63A2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585900" cy="57107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A Document Library is a storage location in SharePoint where users can: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Store files and documents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Organize business information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Share documents securely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Collaborate with teams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Track document changes</a:t>
            </a:r>
          </a:p>
          <a:p>
            <a:pPr algn="just"/>
            <a:r>
              <a:rPr lang="en-US" dirty="0"/>
              <a:t> Unlike regular file storage, SharePoint document libraries provide advanced document management capabilities.</a:t>
            </a:r>
          </a:p>
          <a:p>
            <a:pPr algn="just"/>
            <a:r>
              <a:rPr lang="en-US" dirty="0"/>
              <a:t> Examples of Files Stored: Word documents, Excel spreadsheets, PowerPoint presentations, PDF files, Images and videos &amp; Contracts and reports.</a:t>
            </a:r>
          </a:p>
          <a:p>
            <a:pPr marL="0" indent="0">
              <a:buNone/>
            </a:pPr>
            <a:r>
              <a:rPr lang="en-US" b="1" dirty="0"/>
              <a:t>Real Example</a:t>
            </a:r>
          </a:p>
          <a:p>
            <a:pPr marL="0" indent="0">
              <a:buNone/>
            </a:pPr>
            <a:r>
              <a:rPr lang="en-US" dirty="0"/>
              <a:t>A university department can store:</a:t>
            </a:r>
          </a:p>
          <a:p>
            <a:pPr marL="0" indent="0">
              <a:buNone/>
            </a:pPr>
            <a:r>
              <a:rPr lang="en-US" b="1" dirty="0"/>
              <a:t>Student Reports → Policies → Lecture Notes → Administrative Documents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inside one organized document library.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53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0D64-6438-1AB3-6BFA-2516A0B3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7F21-D2AB-B027-7096-4F419DC2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66A4D-2333-5568-CCD4-368BD341C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1" y="1348031"/>
            <a:ext cx="11036968" cy="571074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A  SharePoint Document Library is a specialized container designed to store, organize, manage, and collaborate on documents within SharePoint.</a:t>
            </a:r>
          </a:p>
          <a:p>
            <a:pPr algn="just"/>
            <a:r>
              <a:rPr lang="en-US" dirty="0"/>
              <a:t> It acts like a </a:t>
            </a:r>
            <a:r>
              <a:rPr lang="en-US" b="1" dirty="0"/>
              <a:t>cloud-based smart folder system </a:t>
            </a:r>
            <a:r>
              <a:rPr lang="en-US" dirty="0"/>
              <a:t>but with advanced capabilities such as:</a:t>
            </a:r>
          </a:p>
          <a:p>
            <a:pPr marL="0" indent="0">
              <a:buNone/>
            </a:pPr>
            <a:r>
              <a:rPr lang="en-US" dirty="0"/>
              <a:t>✅ Version history</a:t>
            </a:r>
            <a:br>
              <a:rPr lang="en-US" dirty="0"/>
            </a:br>
            <a:r>
              <a:rPr lang="en-US" dirty="0"/>
              <a:t>✅ Real-time collaboration</a:t>
            </a:r>
            <a:br>
              <a:rPr lang="en-US" dirty="0"/>
            </a:br>
            <a:r>
              <a:rPr lang="en-US" dirty="0"/>
              <a:t>✅ Metadata management</a:t>
            </a:r>
            <a:br>
              <a:rPr lang="en-US" dirty="0"/>
            </a:br>
            <a:r>
              <a:rPr lang="en-US" dirty="0"/>
              <a:t>✅ Permission control</a:t>
            </a:r>
            <a:br>
              <a:rPr lang="en-US" dirty="0"/>
            </a:br>
            <a:r>
              <a:rPr lang="en-US" dirty="0"/>
              <a:t>✅ Approval workflows</a:t>
            </a:r>
            <a:br>
              <a:rPr lang="en-US" dirty="0"/>
            </a:br>
            <a:r>
              <a:rPr lang="en-US" dirty="0"/>
              <a:t>✅ Search capabilities</a:t>
            </a:r>
          </a:p>
          <a:p>
            <a:pPr marL="0" indent="0">
              <a:buNone/>
            </a:pPr>
            <a:r>
              <a:rPr lang="en-US" b="1" dirty="0"/>
              <a:t>Simple Explanation</a:t>
            </a:r>
          </a:p>
          <a:p>
            <a:pPr marL="0" indent="0">
              <a:buNone/>
            </a:pPr>
            <a:r>
              <a:rPr lang="en-US" dirty="0"/>
              <a:t>Think of a document library as:</a:t>
            </a:r>
          </a:p>
          <a:p>
            <a:pPr marL="0" indent="0">
              <a:buNone/>
            </a:pPr>
            <a:r>
              <a:rPr lang="en-US" b="1" dirty="0"/>
              <a:t>One Drive + Smart Folder + Team Collaboration + Document Tracking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Purpose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 Centralize documents in one secure location for collaboration and management.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2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2E5B-DEAD-DCF1-9C23-82CE52A9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87BEBA-83AA-2701-8F1D-77EA208D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2335"/>
            <a:ext cx="7251032" cy="4834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56E5-AB94-08E4-402C-F5A8AEC2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8977"/>
            <a:ext cx="9944216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Features of SharePoint Document Library</a:t>
            </a:r>
            <a:endParaRPr lang="en-US" dirty="0">
              <a:solidFill>
                <a:srgbClr val="036C7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CBE29-1A32-72CD-E26D-98F2B0226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4568" y="1348031"/>
            <a:ext cx="4876800" cy="5710742"/>
          </a:xfrm>
        </p:spPr>
        <p:txBody>
          <a:bodyPr>
            <a:normAutofit fontScale="925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File Storage </a:t>
            </a:r>
            <a:r>
              <a:rPr lang="en-US" dirty="0"/>
              <a:t>– Store documents in the cloud securely.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Metadata </a:t>
            </a:r>
            <a:r>
              <a:rPr lang="en-US" dirty="0"/>
              <a:t>– Add additional information to files.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Version History </a:t>
            </a:r>
            <a:r>
              <a:rPr lang="en-US" dirty="0"/>
              <a:t>– Tracks document updates.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Co-Authoring </a:t>
            </a:r>
            <a:r>
              <a:rPr lang="en-US" dirty="0"/>
              <a:t>– Multiple users edit simultaneously.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Search </a:t>
            </a:r>
            <a:r>
              <a:rPr lang="en-US" dirty="0"/>
              <a:t>– Find files instantly.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Permissions </a:t>
            </a:r>
            <a:r>
              <a:rPr lang="en-US" dirty="0"/>
              <a:t>– Restrict access to sensitive </a:t>
            </a:r>
            <a:r>
              <a:rPr lang="en-US" b="1" dirty="0"/>
              <a:t>files.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Automaton </a:t>
            </a:r>
            <a:r>
              <a:rPr lang="en-US" dirty="0"/>
              <a:t>– Automate approvals.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Microsoft 365 Integration </a:t>
            </a:r>
            <a:r>
              <a:rPr lang="en-US" dirty="0"/>
              <a:t>– Works with Word, Excel, Teams, OneDrive…</a:t>
            </a:r>
          </a:p>
        </p:txBody>
      </p:sp>
    </p:spTree>
    <p:extLst>
      <p:ext uri="{BB962C8B-B14F-4D97-AF65-F5344CB8AC3E}">
        <p14:creationId xmlns:p14="http://schemas.microsoft.com/office/powerpoint/2010/main" val="99286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2B31-2D5F-6F89-9BC3-FB26DFBD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 of Document Libraires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0BFC-302F-EB36-622E-1EEF852484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201" y="4566408"/>
            <a:ext cx="10664290" cy="2155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Without proper management</a:t>
            </a:r>
          </a:p>
          <a:p>
            <a:pPr marL="0" indent="0">
              <a:buNone/>
            </a:pPr>
            <a:r>
              <a:rPr lang="en-US" dirty="0"/>
              <a:t>❌ Files become lost</a:t>
            </a:r>
            <a:br>
              <a:rPr lang="en-US" dirty="0"/>
            </a:br>
            <a:r>
              <a:rPr lang="en-US" dirty="0"/>
              <a:t>❌ Duplicate versions appear</a:t>
            </a:r>
            <a:br>
              <a:rPr lang="en-US" dirty="0"/>
            </a:br>
            <a:r>
              <a:rPr lang="en-US" dirty="0"/>
              <a:t>❌ Employees waste time searching</a:t>
            </a:r>
            <a:br>
              <a:rPr lang="en-US" dirty="0"/>
            </a:br>
            <a:r>
              <a:rPr lang="en-US" dirty="0"/>
              <a:t>❌ Security risks increase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A62779-C6AC-A275-789C-09465155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434926"/>
              </p:ext>
            </p:extLst>
          </p:nvPr>
        </p:nvGraphicFramePr>
        <p:xfrm>
          <a:off x="768201" y="1447924"/>
          <a:ext cx="10958578" cy="28403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768621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5189957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</a:tblGrid>
              <a:tr h="30540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Centralized Storage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Keep all files in one place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456463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Collaboration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Multiple users work together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61938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Security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Permission-based access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708946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Version Control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Track document history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981670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Fast Search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Quickly locate files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93167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Accessibility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Access from anywhere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22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9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F286-84C1-02DD-1765-B1913A16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7F52-5EB2-760D-63B5-0E6066C7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List Vs. Document Library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01F7ED-F3AE-B7B9-B6CE-1231EB15B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161272"/>
              </p:ext>
            </p:extLst>
          </p:nvPr>
        </p:nvGraphicFramePr>
        <p:xfrm>
          <a:off x="768201" y="1447923"/>
          <a:ext cx="10990663" cy="39672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0292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3790292">
                  <a:extLst>
                    <a:ext uri="{9D8B030D-6E8A-4147-A177-3AD203B41FA5}">
                      <a16:colId xmlns:a16="http://schemas.microsoft.com/office/drawing/2014/main" val="4128963164"/>
                    </a:ext>
                  </a:extLst>
                </a:gridCol>
                <a:gridCol w="3410079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</a:tblGrid>
              <a:tr h="430082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Document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Main Purpose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Store structured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Store documents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456463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Store Files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61938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Metadata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708946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Attachments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 document storage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981670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Collaboration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Advanced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93167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Versioning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Available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Advanced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221367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Office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Minimal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Strong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683323"/>
                  </a:ext>
                </a:extLst>
              </a:tr>
              <a:tr h="4421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Usage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For structured records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For managing files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5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F403-2A06-F901-894B-8FBA8F10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4B6F-5F46-BE4F-C781-53391D3C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651DF2-9361-8DEA-3D20-ED7F08DB2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08881"/>
              </p:ext>
            </p:extLst>
          </p:nvPr>
        </p:nvGraphicFramePr>
        <p:xfrm>
          <a:off x="1040726" y="1508205"/>
          <a:ext cx="10605844" cy="422753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67260">
                  <a:extLst>
                    <a:ext uri="{9D8B030D-6E8A-4147-A177-3AD203B41FA5}">
                      <a16:colId xmlns:a16="http://schemas.microsoft.com/office/drawing/2014/main" val="303321710"/>
                    </a:ext>
                  </a:extLst>
                </a:gridCol>
                <a:gridCol w="4664769">
                  <a:extLst>
                    <a:ext uri="{9D8B030D-6E8A-4147-A177-3AD203B41FA5}">
                      <a16:colId xmlns:a16="http://schemas.microsoft.com/office/drawing/2014/main" val="2004215882"/>
                    </a:ext>
                  </a:extLst>
                </a:gridCol>
                <a:gridCol w="3573815">
                  <a:extLst>
                    <a:ext uri="{9D8B030D-6E8A-4147-A177-3AD203B41FA5}">
                      <a16:colId xmlns:a16="http://schemas.microsoft.com/office/drawing/2014/main" val="177094684"/>
                    </a:ext>
                  </a:extLst>
                </a:gridCol>
              </a:tblGrid>
              <a:tr h="399906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bg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 marL="59141" marR="42244" marT="84487" marB="844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03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 dirty="0">
                          <a:solidFill>
                            <a:schemeClr val="bg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 Lists</a:t>
                      </a:r>
                    </a:p>
                  </a:txBody>
                  <a:tcPr marL="59141" marR="42244" marT="84487" marB="844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03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 dirty="0">
                          <a:solidFill>
                            <a:schemeClr val="bg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 Document Libraries</a:t>
                      </a:r>
                    </a:p>
                  </a:txBody>
                  <a:tcPr marL="59141" marR="42244" marT="84487" marB="844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rgbClr val="036C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52825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Primary Content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Non-document data (e.g., tasks, contacts)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Document files (e.g., Word, Excel, PDF)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57749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Storage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Structured like a table with rows and columns 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Structured as a folder hierarchy with files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43204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Metadata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Customizable metadata for categorization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Metadata typically includes file properties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722293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Versioning 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Versioning tracks changes to list items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Versioning tracks changes to document files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9320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Check-in/Check-out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Not typically used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Used to prevent simultaneous editing of documents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510887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Permissions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Permissions can be set at list or item level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Permissions can be set at library or file level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54836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Integration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Often used for task tracking, surveys, etc.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Used for document management, collaboration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7702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Content Types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Supports content types for structured data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Supports content types for defining document templates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89242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Template 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Standard templates include tasks, calendars, etc.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Standard template for managing document files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12561"/>
                  </a:ext>
                </a:extLst>
              </a:tr>
              <a:tr h="329500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Use Cases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Tracking issues, managing contacts, etc.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Storing organizing, and sharing document files</a:t>
                      </a:r>
                    </a:p>
                  </a:txBody>
                  <a:tcPr marL="59141" marR="42244" marT="42244" marB="8448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1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84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8A32-771F-EBB9-ED76-8B043A77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733B11-B0DF-868A-0662-2C88D701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52335"/>
            <a:ext cx="7251031" cy="4834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92B0B5-6697-2976-FCE0-0C8737DD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8977"/>
            <a:ext cx="9944216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Document Libraries</a:t>
            </a:r>
            <a:endParaRPr lang="en-US" dirty="0">
              <a:solidFill>
                <a:srgbClr val="036C7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D288E-425C-1FBA-911B-C8203244B8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4568" y="1213974"/>
            <a:ext cx="4876800" cy="571074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Document Library </a:t>
            </a:r>
            <a:r>
              <a:rPr lang="en-US" dirty="0"/>
              <a:t>– General file storage. Example: Department documents.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Picture Library </a:t>
            </a:r>
            <a:r>
              <a:rPr lang="en-US" dirty="0"/>
              <a:t>– Stores images and media. Example: Company event photos.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Form Library </a:t>
            </a:r>
            <a:r>
              <a:rPr lang="en-US" dirty="0"/>
              <a:t>– Stores forms. Example: Employee requests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Assert Library </a:t>
            </a:r>
            <a:r>
              <a:rPr lang="en-US" dirty="0"/>
              <a:t>– Stores media assets. Example: Videos and presentations.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 Site Assets Library </a:t>
            </a:r>
            <a:r>
              <a:rPr lang="en-US" dirty="0"/>
              <a:t>– Stores site-related files. Example: Images for SharePoint pages.</a:t>
            </a:r>
          </a:p>
        </p:txBody>
      </p:sp>
    </p:spTree>
    <p:extLst>
      <p:ext uri="{BB962C8B-B14F-4D97-AF65-F5344CB8AC3E}">
        <p14:creationId xmlns:p14="http://schemas.microsoft.com/office/powerpoint/2010/main" val="244588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A803-4D44-A828-A082-C3B5702E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to Create a Document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924A5-52F5-7F76-E920-3DC7D7EE6B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08435" y="1195632"/>
            <a:ext cx="4983565" cy="572678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 Step 1 </a:t>
            </a:r>
            <a:r>
              <a:rPr lang="en-US" dirty="0"/>
              <a:t>– Go to SharePoint Site.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2 </a:t>
            </a:r>
            <a:r>
              <a:rPr lang="en-US" dirty="0"/>
              <a:t>– Click </a:t>
            </a:r>
            <a:r>
              <a:rPr lang="en-US" b="1" dirty="0"/>
              <a:t>Settings (⚙️).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3 </a:t>
            </a:r>
            <a:r>
              <a:rPr lang="en-US" dirty="0"/>
              <a:t>– Select </a:t>
            </a:r>
            <a:r>
              <a:rPr lang="en-US" b="1" dirty="0"/>
              <a:t>Site Contents.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4 </a:t>
            </a:r>
            <a:r>
              <a:rPr lang="en-US" dirty="0"/>
              <a:t>– Click </a:t>
            </a:r>
            <a:r>
              <a:rPr lang="en-US" b="1" dirty="0"/>
              <a:t>New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5 </a:t>
            </a:r>
            <a:r>
              <a:rPr lang="en-US" dirty="0"/>
              <a:t>– Choose </a:t>
            </a:r>
            <a:r>
              <a:rPr lang="en-US" b="1" dirty="0"/>
              <a:t>Document Library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6 </a:t>
            </a:r>
            <a:r>
              <a:rPr lang="en-US" dirty="0"/>
              <a:t>– Enter: Library name &amp; Description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7 </a:t>
            </a:r>
            <a:r>
              <a:rPr lang="en-US" dirty="0"/>
              <a:t>– Click </a:t>
            </a:r>
            <a:r>
              <a:rPr lang="en-US" b="1" dirty="0"/>
              <a:t>Create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Library Name:</a:t>
            </a:r>
          </a:p>
          <a:p>
            <a:pPr marL="0" indent="0">
              <a:buNone/>
            </a:pPr>
            <a:r>
              <a:rPr lang="en-US" b="1" dirty="0"/>
              <a:t>HR Documents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Description:</a:t>
            </a:r>
          </a:p>
          <a:p>
            <a:pPr marL="0" indent="0">
              <a:buNone/>
            </a:pPr>
            <a:r>
              <a:rPr lang="en-US" b="1" dirty="0"/>
              <a:t>Stores employee files and HR policies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66037-89D3-2B56-92F0-759EF8B9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7" y="1643636"/>
            <a:ext cx="7063558" cy="470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2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58F4-3166-C01B-2F76-EEC16910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 Library Interface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5BE43-D60C-3471-0A52-58EB2FB8B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07704" y="1603717"/>
            <a:ext cx="4389523" cy="4705350"/>
          </a:xfrm>
        </p:spPr>
        <p:txBody>
          <a:bodyPr>
            <a:normAutofit fontScale="92500" lnSpcReduction="10000"/>
          </a:bodyPr>
          <a:lstStyle/>
          <a:p>
            <a:pPr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b="1" dirty="0"/>
              <a:t>Toolbar / Command Bar </a:t>
            </a:r>
            <a:r>
              <a:rPr lang="en-US" sz="2800" dirty="0"/>
              <a:t>– Contains actions like: New, Upload, Share, Delete &amp; Export.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b="1" dirty="0"/>
              <a:t>File Area </a:t>
            </a:r>
            <a:r>
              <a:rPr lang="en-US" sz="2800" dirty="0"/>
              <a:t>– Displays documents.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b="1" dirty="0"/>
              <a:t>Navigation Panel </a:t>
            </a:r>
            <a:r>
              <a:rPr lang="en-US" sz="2800" dirty="0"/>
              <a:t>– Quick access to folders.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b="1" dirty="0"/>
              <a:t>Search Box </a:t>
            </a:r>
            <a:r>
              <a:rPr lang="en-US" sz="2800" dirty="0"/>
              <a:t>– Find files quickly.</a:t>
            </a:r>
          </a:p>
          <a:p>
            <a:pPr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b="1" dirty="0"/>
              <a:t>Details Pane </a:t>
            </a:r>
            <a:r>
              <a:rPr lang="en-US" sz="2800" dirty="0"/>
              <a:t>– Shows file properties.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4EFD1-6C90-3049-F651-F16B405E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2" y="1732546"/>
            <a:ext cx="7068554" cy="471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42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56F6-F61F-7783-B556-99761B67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Uploading Documents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313B-0B2F-0870-674D-0BE3883B07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46068" y="1331742"/>
            <a:ext cx="4417595" cy="552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b="1" dirty="0"/>
              <a:t> Method 1: Upload Button</a:t>
            </a:r>
          </a:p>
          <a:p>
            <a:pPr marL="0" indent="0">
              <a:buNone/>
            </a:pPr>
            <a:r>
              <a:rPr lang="en-US" dirty="0"/>
              <a:t> Steps:</a:t>
            </a:r>
          </a:p>
          <a:p>
            <a:r>
              <a:rPr lang="en-US" dirty="0"/>
              <a:t> Click </a:t>
            </a:r>
            <a:r>
              <a:rPr lang="en-US" b="1" dirty="0"/>
              <a:t>Upload</a:t>
            </a:r>
          </a:p>
          <a:p>
            <a:r>
              <a:rPr lang="en-US" dirty="0"/>
              <a:t> Select file</a:t>
            </a:r>
          </a:p>
          <a:p>
            <a:r>
              <a:rPr lang="en-US" dirty="0"/>
              <a:t> Click Open</a:t>
            </a:r>
          </a:p>
          <a:p>
            <a:pPr marL="514350" indent="-514350">
              <a:buFont typeface="+mj-lt"/>
              <a:buAutoNum type="romanUcPeriod" startAt="2"/>
            </a:pPr>
            <a:r>
              <a:rPr lang="en-US" b="1" dirty="0"/>
              <a:t> Method 2: Drag and Drop</a:t>
            </a:r>
          </a:p>
          <a:p>
            <a:r>
              <a:rPr lang="en-US" dirty="0"/>
              <a:t> Simply drag files into library.</a:t>
            </a:r>
          </a:p>
          <a:p>
            <a:pPr marL="514350" indent="-514350">
              <a:buFont typeface="+mj-lt"/>
              <a:buAutoNum type="romanUcPeriod" startAt="3"/>
            </a:pPr>
            <a:r>
              <a:rPr lang="en-US" b="1" dirty="0"/>
              <a:t> Method 3: Sync via OneDrive</a:t>
            </a:r>
          </a:p>
          <a:p>
            <a:r>
              <a:rPr lang="en-US" dirty="0"/>
              <a:t> Sync files automatically.</a:t>
            </a:r>
          </a:p>
          <a:p>
            <a:r>
              <a:rPr lang="en-US" dirty="0"/>
              <a:t> Supported File Types: DOCX, XLSX, PDF, PPTX, JPG, PNG, MP4.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7D960-ED61-7EC5-D8AB-E4972185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73" y="1569909"/>
            <a:ext cx="7535095" cy="502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2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221C-DB7C-1246-AC8A-AF0A0198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 Versioning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D932-C287-D568-6585-70419DAB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275570" cy="552625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Versioning</a:t>
            </a:r>
            <a:r>
              <a:rPr lang="en-US" dirty="0"/>
              <a:t> is a feature in SharePoint that keeps track of document changes over time.</a:t>
            </a:r>
          </a:p>
          <a:p>
            <a:pPr algn="just"/>
            <a:r>
              <a:rPr lang="en-US" dirty="0"/>
              <a:t> Whenever a file is edited, SharePoint saves a new version instead of replacing the original document permanently.</a:t>
            </a:r>
          </a:p>
          <a:p>
            <a:pPr algn="just"/>
            <a:r>
              <a:rPr lang="en-US" dirty="0"/>
              <a:t> This allows users to: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View document history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Restore previous versions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Track edits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Prevent accidental data loss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Without versioning:</a:t>
            </a:r>
          </a:p>
          <a:p>
            <a:pPr marL="0" indent="0">
              <a:buNone/>
            </a:pPr>
            <a:r>
              <a:rPr lang="en-US" dirty="0"/>
              <a:t>❌ Mistakes may become permanent</a:t>
            </a:r>
            <a:br>
              <a:rPr lang="en-US" dirty="0"/>
            </a:br>
            <a:r>
              <a:rPr lang="en-US" dirty="0"/>
              <a:t>❌ Deleted content is difficult to recover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With versioning:</a:t>
            </a:r>
          </a:p>
          <a:p>
            <a:pPr marL="0" indent="0">
              <a:buNone/>
            </a:pPr>
            <a:r>
              <a:rPr lang="en-US" dirty="0"/>
              <a:t>✅ Older copies remain available</a:t>
            </a:r>
          </a:p>
        </p:txBody>
      </p:sp>
    </p:spTree>
    <p:extLst>
      <p:ext uri="{BB962C8B-B14F-4D97-AF65-F5344CB8AC3E}">
        <p14:creationId xmlns:p14="http://schemas.microsoft.com/office/powerpoint/2010/main" val="2438432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02EE-20E3-BD6B-79A2-9422A237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Versioning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798AD9-B51D-807B-C2A4-F018FDDA7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971299"/>
              </p:ext>
            </p:extLst>
          </p:nvPr>
        </p:nvGraphicFramePr>
        <p:xfrm>
          <a:off x="748630" y="1553854"/>
          <a:ext cx="11186696" cy="49111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89321">
                  <a:extLst>
                    <a:ext uri="{9D8B030D-6E8A-4147-A177-3AD203B41FA5}">
                      <a16:colId xmlns:a16="http://schemas.microsoft.com/office/drawing/2014/main" val="4195097132"/>
                    </a:ext>
                  </a:extLst>
                </a:gridCol>
                <a:gridCol w="6097375">
                  <a:extLst>
                    <a:ext uri="{9D8B030D-6E8A-4147-A177-3AD203B41FA5}">
                      <a16:colId xmlns:a16="http://schemas.microsoft.com/office/drawing/2014/main" val="2170322987"/>
                    </a:ext>
                  </a:extLst>
                </a:gridCol>
              </a:tblGrid>
              <a:tr h="764417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Major 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Minor Versions (Drafts)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44125"/>
                  </a:ext>
                </a:extLst>
              </a:tr>
              <a:tr h="4146696">
                <a:tc>
                  <a:txBody>
                    <a:bodyPr/>
                    <a:lstStyle/>
                    <a:p>
                      <a:r>
                        <a:rPr lang="en-US" sz="2800" dirty="0"/>
                        <a:t>Major versions are official published versions.</a:t>
                      </a:r>
                    </a:p>
                    <a:p>
                      <a:r>
                        <a:rPr lang="en-US" sz="2800" dirty="0"/>
                        <a:t>Example :   1.0   -&gt;   2.0   -&gt;   3.0   -&gt;  4.0</a:t>
                      </a:r>
                    </a:p>
                    <a:p>
                      <a:endParaRPr lang="en-US" sz="2800" dirty="0"/>
                    </a:p>
                    <a:p>
                      <a:r>
                        <a:rPr lang="en-US" sz="2800" dirty="0"/>
                        <a:t>Used for: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2800" dirty="0"/>
                        <a:t>Final reports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2800" dirty="0"/>
                        <a:t>Approved documents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2800" dirty="0"/>
                        <a:t>Published content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Minor versions are draft copies.</a:t>
                      </a:r>
                    </a:p>
                    <a:p>
                      <a:r>
                        <a:rPr lang="en-US" sz="2800" dirty="0"/>
                        <a:t>Example: 1.0  -&gt; 1.1 -&gt; 1.2  -&gt; 1.3  -&gt; 2.0</a:t>
                      </a:r>
                    </a:p>
                    <a:p>
                      <a:endParaRPr lang="en-US" sz="2800" dirty="0"/>
                    </a:p>
                    <a:p>
                      <a:r>
                        <a:rPr lang="en-US" sz="2800" dirty="0"/>
                        <a:t>Used for: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800" dirty="0"/>
                        <a:t>Work in progress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800" dirty="0"/>
                        <a:t>Internal reviews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670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55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9522-8E21-DB9E-9875-B126B5DD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38B4-006E-7058-DFC5-449CDE91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to Enable Versioning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C2BDE-66E2-57C3-7CE8-2C1DD9ECD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08435" y="1131216"/>
            <a:ext cx="4983565" cy="5879184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 Step 1 </a:t>
            </a:r>
            <a:r>
              <a:rPr lang="en-US" dirty="0"/>
              <a:t>– Open </a:t>
            </a:r>
            <a:r>
              <a:rPr lang="en-US" b="1" dirty="0"/>
              <a:t>Document Library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2 </a:t>
            </a:r>
            <a:r>
              <a:rPr lang="en-US" dirty="0"/>
              <a:t>– Click </a:t>
            </a:r>
            <a:r>
              <a:rPr lang="en-US" b="1" dirty="0"/>
              <a:t>Settings (⚙️).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3 </a:t>
            </a:r>
            <a:r>
              <a:rPr lang="en-US" dirty="0"/>
              <a:t>– Select </a:t>
            </a:r>
            <a:r>
              <a:rPr lang="en-US" b="1" dirty="0"/>
              <a:t>Library Settings.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4 </a:t>
            </a:r>
            <a:r>
              <a:rPr lang="en-US" dirty="0"/>
              <a:t>– Click </a:t>
            </a:r>
            <a:r>
              <a:rPr lang="en-US" b="1" dirty="0"/>
              <a:t>Versioning Settings.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5 </a:t>
            </a:r>
            <a:r>
              <a:rPr lang="en-US" dirty="0"/>
              <a:t>– Enable:</a:t>
            </a:r>
          </a:p>
          <a:p>
            <a:pPr marL="0" indent="0">
              <a:buNone/>
            </a:pPr>
            <a:r>
              <a:rPr lang="en-US" dirty="0"/>
              <a:t>✔ Create Major Versions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✔ Create Major and Minor Versions</a:t>
            </a:r>
            <a:endParaRPr lang="en-US" b="1" dirty="0"/>
          </a:p>
          <a:p>
            <a:pPr marL="514350" indent="-514350">
              <a:buFont typeface="+mj-lt"/>
              <a:buAutoNum type="arabicPeriod" startAt="6"/>
            </a:pPr>
            <a:r>
              <a:rPr lang="en-US" b="1" dirty="0"/>
              <a:t> Step 6 </a:t>
            </a:r>
            <a:r>
              <a:rPr lang="en-US" dirty="0"/>
              <a:t>– Click </a:t>
            </a:r>
            <a:r>
              <a:rPr lang="en-US" b="1" dirty="0"/>
              <a:t>Save</a:t>
            </a:r>
          </a:p>
          <a:p>
            <a:pPr marL="0" indent="0">
              <a:buNone/>
            </a:pPr>
            <a:r>
              <a:rPr lang="en-US" b="1" dirty="0"/>
              <a:t>Benefits of Versioning</a:t>
            </a:r>
          </a:p>
          <a:p>
            <a:pPr marL="0" indent="0">
              <a:buNone/>
            </a:pPr>
            <a:r>
              <a:rPr lang="en-US" dirty="0"/>
              <a:t>✅ Prevents accidental overwriting</a:t>
            </a:r>
            <a:br>
              <a:rPr lang="en-US" dirty="0"/>
            </a:br>
            <a:r>
              <a:rPr lang="en-US" dirty="0"/>
              <a:t>✅ Keeps document history</a:t>
            </a:r>
            <a:br>
              <a:rPr lang="en-US" dirty="0"/>
            </a:br>
            <a:r>
              <a:rPr lang="en-US" dirty="0"/>
              <a:t>✅ Makes auditing easier</a:t>
            </a:r>
            <a:br>
              <a:rPr lang="en-US" dirty="0"/>
            </a:br>
            <a:r>
              <a:rPr lang="en-US" dirty="0"/>
              <a:t>✅ Supports compliance requirements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BFFC3-F625-8724-B88B-7DE189E50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877" y="2113991"/>
            <a:ext cx="7063558" cy="376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47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9CD4-6E8E-BB71-644E-DF9457CD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Check-In and Check-Out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736BE-7666-9711-1B41-96AC76B2D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275570" cy="564657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Check-In &amp; Check-Out </a:t>
            </a:r>
            <a:r>
              <a:rPr lang="en-US" dirty="0"/>
              <a:t>is a feature that prevents multiple users from editing the same file at the same time.</a:t>
            </a:r>
          </a:p>
          <a:p>
            <a:pPr algn="just"/>
            <a:r>
              <a:rPr lang="en-US" dirty="0"/>
              <a:t> It temporarily locks a document for editing.</a:t>
            </a:r>
          </a:p>
          <a:p>
            <a:pPr marL="0" indent="0" algn="just">
              <a:buNone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Check-Out</a:t>
            </a:r>
          </a:p>
          <a:p>
            <a:pPr marL="0" indent="0" algn="just">
              <a:buNone/>
            </a:pPr>
            <a:r>
              <a:rPr lang="en-US" dirty="0"/>
              <a:t>When a document is checked out: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Only one person edits it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Others can view but cannot edit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A lock icon appears</a:t>
            </a:r>
          </a:p>
          <a:p>
            <a:pPr marL="0" indent="0" algn="just">
              <a:buNone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Check-In</a:t>
            </a:r>
          </a:p>
          <a:p>
            <a:pPr marL="0" indent="0" algn="just">
              <a:buNone/>
            </a:pPr>
            <a:r>
              <a:rPr lang="en-US" dirty="0"/>
              <a:t>After editing the user checks in the document:</a:t>
            </a:r>
          </a:p>
          <a:p>
            <a:pPr algn="just">
              <a:buBlip>
                <a:blip r:embed="rId3"/>
              </a:buBlip>
            </a:pPr>
            <a:r>
              <a:rPr lang="en-US" dirty="0"/>
              <a:t> Save changes</a:t>
            </a:r>
          </a:p>
          <a:p>
            <a:pPr algn="just">
              <a:buBlip>
                <a:blip r:embed="rId3"/>
              </a:buBlip>
            </a:pPr>
            <a:r>
              <a:rPr lang="en-US" dirty="0"/>
              <a:t> Unlocks file</a:t>
            </a:r>
          </a:p>
          <a:p>
            <a:pPr algn="just">
              <a:buBlip>
                <a:blip r:embed="rId3"/>
              </a:buBlip>
            </a:pPr>
            <a:r>
              <a:rPr lang="en-US" dirty="0"/>
              <a:t> Creates new version</a:t>
            </a:r>
          </a:p>
        </p:txBody>
      </p:sp>
    </p:spTree>
    <p:extLst>
      <p:ext uri="{BB962C8B-B14F-4D97-AF65-F5344CB8AC3E}">
        <p14:creationId xmlns:p14="http://schemas.microsoft.com/office/powerpoint/2010/main" val="2317755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A629-FC9A-93CC-5A58-D6B5CD03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5512-FE00-0817-2005-2897AC74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Steps to Check Out a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D423-20AF-2498-9091-11C97EA689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08435" y="1131216"/>
            <a:ext cx="4983565" cy="58791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 Step 1 </a:t>
            </a:r>
            <a:r>
              <a:rPr lang="en-US" dirty="0"/>
              <a:t>– Select document.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2 </a:t>
            </a:r>
            <a:r>
              <a:rPr lang="en-US" dirty="0"/>
              <a:t>– Click </a:t>
            </a:r>
            <a:r>
              <a:rPr lang="en-US" b="1" dirty="0"/>
              <a:t>More Options (⋮</a:t>
            </a:r>
            <a:r>
              <a:rPr lang="en-US" dirty="0"/>
              <a:t>).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3 </a:t>
            </a:r>
            <a:r>
              <a:rPr lang="en-US" dirty="0"/>
              <a:t>– Choose </a:t>
            </a:r>
            <a:r>
              <a:rPr lang="en-US" b="1" dirty="0"/>
              <a:t>Check Out.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4 </a:t>
            </a:r>
            <a:r>
              <a:rPr lang="en-US" dirty="0"/>
              <a:t>– Edit file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 Step 5 </a:t>
            </a:r>
            <a:r>
              <a:rPr lang="en-US" dirty="0"/>
              <a:t>– Choose </a:t>
            </a:r>
            <a:r>
              <a:rPr lang="en-US" b="1" dirty="0"/>
              <a:t>Check In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b="1" dirty="0"/>
              <a:t> Step 6 </a:t>
            </a:r>
            <a:r>
              <a:rPr lang="en-US" dirty="0"/>
              <a:t>– Click </a:t>
            </a:r>
            <a:r>
              <a:rPr lang="en-US" b="1" dirty="0"/>
              <a:t>Save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✅ Prevents editing conflicts</a:t>
            </a:r>
            <a:br>
              <a:rPr lang="en-US" dirty="0"/>
            </a:br>
            <a:r>
              <a:rPr lang="en-US" dirty="0"/>
              <a:t>✅ Protects document integrity</a:t>
            </a:r>
            <a:br>
              <a:rPr lang="en-US" dirty="0"/>
            </a:br>
            <a:r>
              <a:rPr lang="en-US" dirty="0"/>
              <a:t>✅ Better version control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CF109-A86E-AC60-A31D-3DF3EE2F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28" y="1739557"/>
            <a:ext cx="7160307" cy="47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23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4F8E-26E6-92BF-EE91-0DB0A46B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5715-A3B4-E35C-4A36-E1CFF194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Co-Authoring (Real-Time Collaboration)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8ED1-19DE-BB04-ABE3-CAB363D058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275570" cy="564657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Co-authoring </a:t>
            </a:r>
            <a:r>
              <a:rPr lang="en-US" dirty="0"/>
              <a:t>allows multiple users to edit the same document simultaneously.</a:t>
            </a:r>
          </a:p>
          <a:p>
            <a:pPr algn="just"/>
            <a:r>
              <a:rPr lang="en-US" dirty="0"/>
              <a:t> Users can collaborate in real time.</a:t>
            </a:r>
          </a:p>
          <a:p>
            <a:pPr algn="just"/>
            <a:r>
              <a:rPr lang="en-US" dirty="0"/>
              <a:t> Supported in Word, Excel &amp; PowerPoint through Microsoft 365.</a:t>
            </a:r>
          </a:p>
          <a:p>
            <a:pPr algn="just"/>
            <a:r>
              <a:rPr lang="en-US" dirty="0"/>
              <a:t> When teams edits at the same time; SharePoint shows: Who is editing, Cursor position &amp; Changes instantly.</a:t>
            </a:r>
          </a:p>
          <a:p>
            <a:pPr marL="0" indent="0" algn="just">
              <a:buNone/>
            </a:pPr>
            <a:r>
              <a:rPr lang="en-US" b="1" dirty="0"/>
              <a:t>Requirements for Co-Authoring</a:t>
            </a:r>
          </a:p>
          <a:p>
            <a:pPr marL="0" indent="0" algn="just">
              <a:buNone/>
            </a:pPr>
            <a:r>
              <a:rPr lang="en-US" dirty="0"/>
              <a:t>✔ SharePoint Online</a:t>
            </a:r>
          </a:p>
          <a:p>
            <a:pPr marL="0" indent="0" algn="just">
              <a:buNone/>
            </a:pPr>
            <a:r>
              <a:rPr lang="en-US" dirty="0"/>
              <a:t>✔ Microsoft 365 Apps</a:t>
            </a:r>
          </a:p>
          <a:p>
            <a:pPr marL="0" indent="0" algn="just">
              <a:buNone/>
            </a:pPr>
            <a:r>
              <a:rPr lang="en-US" dirty="0"/>
              <a:t>✔ Permission to edit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✅ Faster teamwork</a:t>
            </a:r>
            <a:br>
              <a:rPr lang="en-US" dirty="0"/>
            </a:br>
            <a:r>
              <a:rPr lang="en-US" dirty="0"/>
              <a:t>✅ No duplicate files</a:t>
            </a:r>
            <a:br>
              <a:rPr lang="en-US" dirty="0"/>
            </a:br>
            <a:r>
              <a:rPr lang="en-US" dirty="0"/>
              <a:t>✅ Live collaboration</a:t>
            </a:r>
            <a:br>
              <a:rPr lang="en-US" dirty="0"/>
            </a:br>
            <a:r>
              <a:rPr lang="en-US" dirty="0"/>
              <a:t>✅ Automatic saving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888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223D-CC15-E1A6-EC9C-1F8E5B65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BFDE-4B69-A79C-4FA7-99915318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Traditional Editing Vs Co-Authoring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3A5DFD-8D30-BF3A-3380-4D5F10582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275882"/>
              </p:ext>
            </p:extLst>
          </p:nvPr>
        </p:nvGraphicFramePr>
        <p:xfrm>
          <a:off x="1156920" y="1794487"/>
          <a:ext cx="10088596" cy="2651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44298">
                  <a:extLst>
                    <a:ext uri="{9D8B030D-6E8A-4147-A177-3AD203B41FA5}">
                      <a16:colId xmlns:a16="http://schemas.microsoft.com/office/drawing/2014/main" val="3666251898"/>
                    </a:ext>
                  </a:extLst>
                </a:gridCol>
                <a:gridCol w="5044298">
                  <a:extLst>
                    <a:ext uri="{9D8B030D-6E8A-4147-A177-3AD203B41FA5}">
                      <a16:colId xmlns:a16="http://schemas.microsoft.com/office/drawing/2014/main" val="1338133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Traditional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Co-Authoring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50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Email attachments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One shared file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75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Multiple copies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Single document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8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Slow collaboration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Instant editing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39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Version confusion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Real-time updates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611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F4E8-8886-7CEC-8F5C-82F3EB22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E5A6-FC21-A205-FEC4-F30E6194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Co-Authoring Vs Check-Out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8784E0-1E67-CC67-0BBC-FC9DC918C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638068"/>
              </p:ext>
            </p:extLst>
          </p:nvPr>
        </p:nvGraphicFramePr>
        <p:xfrm>
          <a:off x="1156920" y="1794487"/>
          <a:ext cx="10088595" cy="2651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62865">
                  <a:extLst>
                    <a:ext uri="{9D8B030D-6E8A-4147-A177-3AD203B41FA5}">
                      <a16:colId xmlns:a16="http://schemas.microsoft.com/office/drawing/2014/main" val="3666251898"/>
                    </a:ext>
                  </a:extLst>
                </a:gridCol>
                <a:gridCol w="3362865">
                  <a:extLst>
                    <a:ext uri="{9D8B030D-6E8A-4147-A177-3AD203B41FA5}">
                      <a16:colId xmlns:a16="http://schemas.microsoft.com/office/drawing/2014/main" val="836000970"/>
                    </a:ext>
                  </a:extLst>
                </a:gridCol>
                <a:gridCol w="3362865">
                  <a:extLst>
                    <a:ext uri="{9D8B030D-6E8A-4147-A177-3AD203B41FA5}">
                      <a16:colId xmlns:a16="http://schemas.microsoft.com/office/drawing/2014/main" val="1338133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Co-Authoring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Check-Out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50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Multiple Editors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75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Real-Time Editing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8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File Locking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39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Best For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Team collaboration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/>
                        <a:t>Sensitive documents</a:t>
                      </a:r>
                      <a:endParaRPr lang="en-US" sz="28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78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4356</TotalTime>
  <Words>1350</Words>
  <Application>Microsoft Office PowerPoint</Application>
  <PresentationFormat>Widescreen</PresentationFormat>
  <Paragraphs>251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ADLaM Display</vt:lpstr>
      <vt:lpstr>Calibri</vt:lpstr>
      <vt:lpstr>Wingdings</vt:lpstr>
      <vt:lpstr>YESHUAH</vt:lpstr>
      <vt:lpstr>RetrospectVTI</vt:lpstr>
      <vt:lpstr>SharePoint Document Library - Part I</vt:lpstr>
      <vt:lpstr>PowerPoint Presentation</vt:lpstr>
      <vt:lpstr>SharePoint Document Library</vt:lpstr>
      <vt:lpstr>…</vt:lpstr>
      <vt:lpstr>Key Features of SharePoint Document Library</vt:lpstr>
      <vt:lpstr>Benefits of Document Libraires</vt:lpstr>
      <vt:lpstr>SharePoint List Vs. Document Library</vt:lpstr>
      <vt:lpstr>…</vt:lpstr>
      <vt:lpstr>Types of Document Libraries</vt:lpstr>
      <vt:lpstr>How to Create a Document Library</vt:lpstr>
      <vt:lpstr>Document Library Interface Overview</vt:lpstr>
      <vt:lpstr>Uploading Documents</vt:lpstr>
      <vt:lpstr>Document Versioning</vt:lpstr>
      <vt:lpstr>Types of Versioning</vt:lpstr>
      <vt:lpstr>How to Enable Versioning</vt:lpstr>
      <vt:lpstr>Check-In and Check-Out</vt:lpstr>
      <vt:lpstr>Steps to Check Out a Document</vt:lpstr>
      <vt:lpstr>Co-Authoring (Real-Time Collaboration)</vt:lpstr>
      <vt:lpstr>Traditional Editing Vs Co-Authoring</vt:lpstr>
      <vt:lpstr>Co-Authoring Vs Check-Out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435</cp:revision>
  <dcterms:created xsi:type="dcterms:W3CDTF">2020-02-06T00:04:00Z</dcterms:created>
  <dcterms:modified xsi:type="dcterms:W3CDTF">2026-05-24T10:24:00Z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