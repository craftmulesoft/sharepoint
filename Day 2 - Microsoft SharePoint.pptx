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411" r:id="rId2"/>
    <p:sldId id="410" r:id="rId3"/>
    <p:sldId id="394" r:id="rId4"/>
    <p:sldId id="412" r:id="rId5"/>
    <p:sldId id="413" r:id="rId6"/>
    <p:sldId id="414" r:id="rId7"/>
    <p:sldId id="416" r:id="rId8"/>
    <p:sldId id="415" r:id="rId9"/>
    <p:sldId id="427" r:id="rId10"/>
    <p:sldId id="428" r:id="rId11"/>
    <p:sldId id="417" r:id="rId12"/>
    <p:sldId id="418" r:id="rId13"/>
    <p:sldId id="419" r:id="rId14"/>
    <p:sldId id="420" r:id="rId15"/>
    <p:sldId id="421" r:id="rId16"/>
    <p:sldId id="422" r:id="rId17"/>
    <p:sldId id="423" r:id="rId18"/>
    <p:sldId id="424" r:id="rId19"/>
    <p:sldId id="425" r:id="rId20"/>
    <p:sldId id="426" r:id="rId21"/>
    <p:sldId id="26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C6"/>
    <a:srgbClr val="00A4EF"/>
    <a:srgbClr val="3333FF"/>
    <a:srgbClr val="FFDF00"/>
    <a:srgbClr val="75CDEA"/>
    <a:srgbClr val="ABE2F5"/>
    <a:srgbClr val="E7F7FE"/>
    <a:srgbClr val="002060"/>
    <a:srgbClr val="5A56A1"/>
    <a:srgbClr val="5656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36F72C-57AD-4C0C-B413-44A67FA7CD9B}" v="95" dt="2024-03-18T15:51:55.6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39" autoAdjust="0"/>
  </p:normalViewPr>
  <p:slideViewPr>
    <p:cSldViewPr snapToGrid="0">
      <p:cViewPr>
        <p:scale>
          <a:sx n="62" d="100"/>
          <a:sy n="62" d="100"/>
        </p:scale>
        <p:origin x="788" y="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51" d="100"/>
          <a:sy n="51" d="100"/>
        </p:scale>
        <p:origin x="2692" y="2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8E1AF-6343-46AA-8AEF-4C12F4118850}" type="datetimeFigureOut">
              <a:rPr lang="en-US" smtClean="0"/>
              <a:t>5/16/2026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8E0-3D38-47B7-97D4-4FE08D90D3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2517-63AA-420A-887D-BE60360A8F4D}" type="datetimeFigureOut">
              <a:rPr lang="en-US" noProof="0" smtClean="0"/>
              <a:t>5/16/2026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ECAD9-32EE-4091-BDA5-6BD15ACC5E58}" type="slidenum">
              <a:rPr lang="en-US" noProof="0" smtClean="0"/>
              <a:t>‹#›</a:t>
            </a:fld>
            <a:endParaRPr 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ECC495-5FEF-4C9C-502D-7281AA9BC4CE}"/>
              </a:ext>
            </a:extLst>
          </p:cNvPr>
          <p:cNvSpPr/>
          <p:nvPr userDrawn="1"/>
        </p:nvSpPr>
        <p:spPr>
          <a:xfrm>
            <a:off x="-64008" y="0"/>
            <a:ext cx="4723782" cy="68580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Title 1"/>
          <p:cNvSpPr txBox="1"/>
          <p:nvPr userDrawn="1"/>
        </p:nvSpPr>
        <p:spPr>
          <a:xfrm>
            <a:off x="-1707114" y="2422578"/>
            <a:ext cx="6145764" cy="11097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en-US" sz="2400" dirty="0"/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509750" y="2338493"/>
            <a:ext cx="3531146" cy="14507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 baseline="0">
                <a:solidFill>
                  <a:schemeClr val="bg1"/>
                </a:solidFill>
                <a:latin typeface="YESHUAH" panose="02000500000000000000" pitchFamily="2" charset="0"/>
              </a:defRPr>
            </a:lvl1pPr>
          </a:lstStyle>
          <a:p>
            <a:r>
              <a:rPr lang="en-US" dirty="0"/>
              <a:t>{ subject }</a:t>
            </a:r>
          </a:p>
        </p:txBody>
      </p:sp>
      <p:sp>
        <p:nvSpPr>
          <p:cNvPr id="1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7647842" y="6136265"/>
            <a:ext cx="4090199" cy="4531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2400" baseline="0">
                <a:solidFill>
                  <a:srgbClr val="25677D"/>
                </a:solidFill>
                <a:latin typeface="YESHUAH" panose="02000500000000000000" pitchFamily="2" charset="0"/>
              </a:defRPr>
            </a:lvl1pPr>
          </a:lstStyle>
          <a:p>
            <a:pPr lvl="0"/>
            <a:r>
              <a:rPr lang="en-US" dirty="0"/>
              <a:t> { write presenter name }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-64008" y="0"/>
            <a:ext cx="4723782" cy="68580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9" name="Group 18" descr="Info"/>
          <p:cNvGrpSpPr/>
          <p:nvPr userDrawn="1"/>
        </p:nvGrpSpPr>
        <p:grpSpPr>
          <a:xfrm>
            <a:off x="4642801" y="3133724"/>
            <a:ext cx="567374" cy="550865"/>
            <a:chOff x="4914764" y="3319462"/>
            <a:chExt cx="619125" cy="619125"/>
          </a:xfrm>
          <a:solidFill>
            <a:schemeClr val="bg1"/>
          </a:solidFill>
        </p:grpSpPr>
        <p:sp>
          <p:nvSpPr>
            <p:cNvPr id="20" name="Freeform: Shape 19"/>
            <p:cNvSpPr/>
            <p:nvPr/>
          </p:nvSpPr>
          <p:spPr>
            <a:xfrm>
              <a:off x="4914764" y="3319462"/>
              <a:ext cx="619125" cy="619125"/>
            </a:xfrm>
            <a:custGeom>
              <a:avLst/>
              <a:gdLst>
                <a:gd name="connsiteX0" fmla="*/ 309563 w 619125"/>
                <a:gd name="connsiteY0" fmla="*/ 0 h 619125"/>
                <a:gd name="connsiteX1" fmla="*/ 0 w 619125"/>
                <a:gd name="connsiteY1" fmla="*/ 309563 h 619125"/>
                <a:gd name="connsiteX2" fmla="*/ 309563 w 619125"/>
                <a:gd name="connsiteY2" fmla="*/ 619125 h 619125"/>
                <a:gd name="connsiteX3" fmla="*/ 619125 w 619125"/>
                <a:gd name="connsiteY3" fmla="*/ 309563 h 619125"/>
                <a:gd name="connsiteX4" fmla="*/ 309563 w 619125"/>
                <a:gd name="connsiteY4" fmla="*/ 0 h 619125"/>
                <a:gd name="connsiteX5" fmla="*/ 309563 w 619125"/>
                <a:gd name="connsiteY5" fmla="*/ 581025 h 619125"/>
                <a:gd name="connsiteX6" fmla="*/ 38100 w 619125"/>
                <a:gd name="connsiteY6" fmla="*/ 309563 h 619125"/>
                <a:gd name="connsiteX7" fmla="*/ 309563 w 619125"/>
                <a:gd name="connsiteY7" fmla="*/ 38100 h 619125"/>
                <a:gd name="connsiteX8" fmla="*/ 581025 w 619125"/>
                <a:gd name="connsiteY8" fmla="*/ 309563 h 619125"/>
                <a:gd name="connsiteX9" fmla="*/ 309563 w 619125"/>
                <a:gd name="connsiteY9" fmla="*/ 581025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9125" h="619125">
                  <a:moveTo>
                    <a:pt x="309563" y="0"/>
                  </a:moveTo>
                  <a:cubicBezTo>
                    <a:pt x="138875" y="0"/>
                    <a:pt x="0" y="138865"/>
                    <a:pt x="0" y="309563"/>
                  </a:cubicBezTo>
                  <a:cubicBezTo>
                    <a:pt x="0" y="480260"/>
                    <a:pt x="138875" y="619125"/>
                    <a:pt x="309563" y="619125"/>
                  </a:cubicBezTo>
                  <a:cubicBezTo>
                    <a:pt x="480250" y="619125"/>
                    <a:pt x="619125" y="480260"/>
                    <a:pt x="619125" y="309563"/>
                  </a:cubicBezTo>
                  <a:cubicBezTo>
                    <a:pt x="619125" y="138865"/>
                    <a:pt x="480250" y="0"/>
                    <a:pt x="309563" y="0"/>
                  </a:cubicBezTo>
                  <a:close/>
                  <a:moveTo>
                    <a:pt x="309563" y="581025"/>
                  </a:moveTo>
                  <a:cubicBezTo>
                    <a:pt x="159877" y="581025"/>
                    <a:pt x="38100" y="459248"/>
                    <a:pt x="38100" y="309563"/>
                  </a:cubicBezTo>
                  <a:cubicBezTo>
                    <a:pt x="38100" y="159877"/>
                    <a:pt x="159877" y="38100"/>
                    <a:pt x="309563" y="38100"/>
                  </a:cubicBezTo>
                  <a:cubicBezTo>
                    <a:pt x="459248" y="38100"/>
                    <a:pt x="581025" y="159877"/>
                    <a:pt x="581025" y="309563"/>
                  </a:cubicBezTo>
                  <a:cubicBezTo>
                    <a:pt x="581025" y="459248"/>
                    <a:pt x="459248" y="581025"/>
                    <a:pt x="309563" y="5810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5195751" y="3473729"/>
              <a:ext cx="57150" cy="57150"/>
            </a:xfrm>
            <a:custGeom>
              <a:avLst/>
              <a:gdLst>
                <a:gd name="connsiteX0" fmla="*/ 63722 w 57150"/>
                <a:gd name="connsiteY0" fmla="*/ 31861 h 57150"/>
                <a:gd name="connsiteX1" fmla="*/ 31861 w 57150"/>
                <a:gd name="connsiteY1" fmla="*/ 63722 h 57150"/>
                <a:gd name="connsiteX2" fmla="*/ 0 w 57150"/>
                <a:gd name="connsiteY2" fmla="*/ 31861 h 57150"/>
                <a:gd name="connsiteX3" fmla="*/ 31861 w 57150"/>
                <a:gd name="connsiteY3" fmla="*/ 0 h 57150"/>
                <a:gd name="connsiteX4" fmla="*/ 63722 w 57150"/>
                <a:gd name="connsiteY4" fmla="*/ 3186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63722" y="31861"/>
                  </a:moveTo>
                  <a:cubicBezTo>
                    <a:pt x="63722" y="49458"/>
                    <a:pt x="49458" y="63722"/>
                    <a:pt x="31861" y="63722"/>
                  </a:cubicBezTo>
                  <a:cubicBezTo>
                    <a:pt x="14265" y="63722"/>
                    <a:pt x="0" y="49458"/>
                    <a:pt x="0" y="31861"/>
                  </a:cubicBezTo>
                  <a:cubicBezTo>
                    <a:pt x="0" y="14265"/>
                    <a:pt x="14265" y="0"/>
                    <a:pt x="31861" y="0"/>
                  </a:cubicBezTo>
                  <a:cubicBezTo>
                    <a:pt x="49458" y="0"/>
                    <a:pt x="63722" y="14265"/>
                    <a:pt x="63722" y="318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5205276" y="3589420"/>
              <a:ext cx="38100" cy="200025"/>
            </a:xfrm>
            <a:custGeom>
              <a:avLst/>
              <a:gdLst>
                <a:gd name="connsiteX0" fmla="*/ 19050 w 38100"/>
                <a:gd name="connsiteY0" fmla="*/ 0 h 200025"/>
                <a:gd name="connsiteX1" fmla="*/ 0 w 38100"/>
                <a:gd name="connsiteY1" fmla="*/ 19050 h 200025"/>
                <a:gd name="connsiteX2" fmla="*/ 0 w 38100"/>
                <a:gd name="connsiteY2" fmla="*/ 180975 h 200025"/>
                <a:gd name="connsiteX3" fmla="*/ 19050 w 38100"/>
                <a:gd name="connsiteY3" fmla="*/ 200025 h 200025"/>
                <a:gd name="connsiteX4" fmla="*/ 38100 w 38100"/>
                <a:gd name="connsiteY4" fmla="*/ 180975 h 200025"/>
                <a:gd name="connsiteX5" fmla="*/ 38100 w 38100"/>
                <a:gd name="connsiteY5" fmla="*/ 19050 h 200025"/>
                <a:gd name="connsiteX6" fmla="*/ 19050 w 38100"/>
                <a:gd name="connsiteY6" fmla="*/ 0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200025">
                  <a:moveTo>
                    <a:pt x="19050" y="0"/>
                  </a:moveTo>
                  <a:cubicBezTo>
                    <a:pt x="8534" y="0"/>
                    <a:pt x="0" y="8534"/>
                    <a:pt x="0" y="19050"/>
                  </a:cubicBezTo>
                  <a:lnTo>
                    <a:pt x="0" y="180975"/>
                  </a:lnTo>
                  <a:cubicBezTo>
                    <a:pt x="0" y="191491"/>
                    <a:pt x="8534" y="200025"/>
                    <a:pt x="19050" y="200025"/>
                  </a:cubicBezTo>
                  <a:cubicBezTo>
                    <a:pt x="29566" y="200025"/>
                    <a:pt x="38100" y="191491"/>
                    <a:pt x="38100" y="180975"/>
                  </a:cubicBezTo>
                  <a:lnTo>
                    <a:pt x="38100" y="19050"/>
                  </a:lnTo>
                  <a:cubicBezTo>
                    <a:pt x="38100" y="8525"/>
                    <a:pt x="29566" y="0"/>
                    <a:pt x="1905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</p:grpSp>
      <p:sp>
        <p:nvSpPr>
          <p:cNvPr id="16" name="Title 1"/>
          <p:cNvSpPr txBox="1"/>
          <p:nvPr userDrawn="1"/>
        </p:nvSpPr>
        <p:spPr>
          <a:xfrm>
            <a:off x="474130" y="2639243"/>
            <a:ext cx="3334512" cy="108011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solidFill>
                  <a:schemeClr val="bg1"/>
                </a:solidFill>
                <a:latin typeface="YESHUAH" panose="020005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Objectives</a:t>
            </a:r>
            <a:endParaRPr lang="en-US" sz="3200" b="1" dirty="0">
              <a:solidFill>
                <a:schemeClr val="bg1"/>
              </a:solidFill>
              <a:latin typeface="YESHUAH" panose="020005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908431" y="1603717"/>
            <a:ext cx="5524060" cy="31511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32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 { write your objectives}</a:t>
            </a:r>
          </a:p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EF92EB-1689-2416-7533-E53DBC8933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2348890"/>
            <a:ext cx="2160220" cy="216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56921" y="618977"/>
            <a:ext cx="9393848" cy="712765"/>
          </a:xfrm>
          <a:prstGeom prst="rect">
            <a:avLst/>
          </a:prstGeom>
        </p:spPr>
        <p:txBody>
          <a:bodyPr/>
          <a:lstStyle>
            <a:lvl1pPr>
              <a:defRPr lang="en-US" sz="3600" b="1" kern="1200" spc="-38" baseline="0" dirty="0">
                <a:solidFill>
                  <a:srgbClr val="002060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{ Title }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156921" y="1603717"/>
            <a:ext cx="10275570" cy="47053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{write your bullet point }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/>
          <p:nvPr userDrawn="1"/>
        </p:nvSpPr>
        <p:spPr>
          <a:xfrm>
            <a:off x="1325880" y="638175"/>
            <a:ext cx="9942195" cy="6667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002060"/>
                </a:solidFill>
                <a:latin typeface="+mn-lt"/>
                <a:ea typeface="Cambria" panose="02040503050406030204" pitchFamily="18" charset="0"/>
              </a:rPr>
              <a:t>References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325880" y="1524000"/>
            <a:ext cx="9681949" cy="3958659"/>
          </a:xfrm>
          <a:prstGeom prst="rect">
            <a:avLst/>
          </a:prstGeom>
        </p:spPr>
        <p:txBody>
          <a:bodyPr>
            <a:normAutofit/>
          </a:bodyPr>
          <a:lstStyle>
            <a:lvl1pPr marL="91440">
              <a:spcBef>
                <a:spcPts val="0"/>
              </a:spcBef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{ link to reference1, example: http://app.icraftsoft.net }</a:t>
            </a:r>
          </a:p>
          <a:p>
            <a:pPr lvl="0"/>
            <a:r>
              <a:rPr lang="en-US" dirty="0"/>
              <a:t>{ link to reference1, example: http://app.icraftsoft.net }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84E36F-A443-7521-D49B-753C50A8A8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5952" y="973836"/>
            <a:ext cx="4910328" cy="491032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8621" y="625480"/>
            <a:ext cx="1036320" cy="6858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610600" y="6181726"/>
            <a:ext cx="2743200" cy="539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36B06-9FB6-4AA1-A097-666DD28834F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73852" y="205990"/>
            <a:ext cx="944645" cy="94464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b="1" kern="1200" spc="-38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10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29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45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61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77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4865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4725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22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8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ECDAC-6AB4-4A7B-90D7-87428ABE7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88" y="2402501"/>
            <a:ext cx="4014216" cy="1450757"/>
          </a:xfrm>
        </p:spPr>
        <p:txBody>
          <a:bodyPr>
            <a:noAutofit/>
          </a:bodyPr>
          <a:lstStyle/>
          <a:p>
            <a:r>
              <a:rPr lang="en-US" sz="5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Microsoft</a:t>
            </a:r>
            <a:br>
              <a:rPr lang="en-US" sz="5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5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SharePoint</a:t>
            </a:r>
            <a:endParaRPr lang="en-US" sz="6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0905C-A1AA-3986-D28A-042DCEF7892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mintesnot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8DF0FF-6AA6-8F05-F79C-09A2F411E50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75229" y="3496758"/>
            <a:ext cx="2571750" cy="25717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CEBC9E-4311-34A9-0C78-FA3EC39303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14544" y="1447038"/>
            <a:ext cx="6830568" cy="4553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13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A5F557-19C5-3E57-5E7C-602DF20CAE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97329" y="417095"/>
            <a:ext cx="6460032" cy="6440905"/>
          </a:xfrm>
        </p:spPr>
        <p:txBody>
          <a:bodyPr>
            <a:normAutofit fontScale="92500" lnSpcReduction="10000"/>
          </a:bodyPr>
          <a:lstStyle/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What is 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Visualization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in Power BI?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Benefits of Visualization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Bar Charts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Column Charts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Line Charts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Line &amp; Stacked Column Chart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Area Charts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Pie Charts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Donut Charts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Tree Map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Scatter Plot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Map Charts</a:t>
            </a:r>
          </a:p>
        </p:txBody>
      </p:sp>
    </p:spTree>
    <p:extLst>
      <p:ext uri="{BB962C8B-B14F-4D97-AF65-F5344CB8AC3E}">
        <p14:creationId xmlns:p14="http://schemas.microsoft.com/office/powerpoint/2010/main" val="166488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9F17C-4686-579A-ADCE-818576D43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920" y="715229"/>
            <a:ext cx="9393848" cy="712765"/>
          </a:xfrm>
        </p:spPr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What is 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Visualization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in Power BI?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D0B1B-B130-8E70-136A-D0F6E5E12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6147" y="1603717"/>
            <a:ext cx="8133348" cy="5005630"/>
          </a:xfrm>
        </p:spPr>
        <p:txBody>
          <a:bodyPr>
            <a:normAutofit/>
          </a:bodyPr>
          <a:lstStyle/>
          <a:p>
            <a:pPr lvl="1" algn="just"/>
            <a:r>
              <a:rPr lang="en-US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sz="32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Visualization</a:t>
            </a:r>
            <a:r>
              <a:rPr lang="en-US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in Power BI refers to the graphical representation of data through various types of charts, graphs, and other visual elements.</a:t>
            </a:r>
          </a:p>
          <a:p>
            <a:pPr lvl="1" algn="just"/>
            <a:r>
              <a:rPr lang="en-US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The primary goal of visualization is to provide a clear and intuitive way to understand complex data.</a:t>
            </a:r>
          </a:p>
          <a:p>
            <a:pPr lvl="1" algn="just"/>
            <a:r>
              <a:rPr lang="en-US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Enables users to identify trends, patterns, and insights quickly.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E7C1F2-B75C-BC8F-3F61-D599E8CF7C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2179487"/>
            <a:ext cx="4795430" cy="2953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428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C9B5B-D053-9D5D-3E82-CA613531A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25430-3C79-FF83-9765-15C3EE79F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920" y="715229"/>
            <a:ext cx="9393848" cy="712765"/>
          </a:xfrm>
        </p:spPr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Benefits of 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Visualization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in Power BI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AC099-FF51-6029-BE24-6582CBE953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47688" y="1427994"/>
            <a:ext cx="5742432" cy="5430006"/>
          </a:xfrm>
        </p:spPr>
        <p:txBody>
          <a:bodyPr>
            <a:normAutofit lnSpcReduction="10000"/>
          </a:bodyPr>
          <a:lstStyle/>
          <a:p>
            <a:pPr lvl="1"/>
            <a:r>
              <a:rPr lang="en-US" sz="28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sz="28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Enhanced Understanding</a:t>
            </a:r>
            <a:r>
              <a:rPr lang="en-US" sz="28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Visuals make complex data more accessible &amp; understandable.</a:t>
            </a:r>
          </a:p>
          <a:p>
            <a:pPr lvl="1"/>
            <a:r>
              <a:rPr lang="en-US" sz="28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sz="28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Quick Insights</a:t>
            </a:r>
            <a:r>
              <a:rPr lang="en-US" sz="28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Users can quickly grasp key metrics and performance indicators at a glance.</a:t>
            </a:r>
          </a:p>
          <a:p>
            <a:pPr lvl="1"/>
            <a:r>
              <a:rPr lang="en-US" sz="28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sz="28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Real-Time Monitoring (Dashboard): </a:t>
            </a:r>
            <a:r>
              <a:rPr lang="en-US" sz="28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Act like a dashboard in a car, providing real-time updates on key metrics.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8263A3-70CD-ABA4-9A1D-45CFF35D4C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9121"/>
            <a:ext cx="6766560" cy="4511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151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9180E-E6E2-47FA-6CB8-C666CA963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Bar Charts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9857E1-C6FD-2B2E-A864-A5905FEB49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90147" y="1533672"/>
            <a:ext cx="6619859" cy="5123801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 A </a:t>
            </a:r>
            <a:r>
              <a:rPr lang="en-US" sz="28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Bar chart </a:t>
            </a:r>
            <a:r>
              <a:rPr lang="en-US" sz="2800" dirty="0"/>
              <a:t>displays data using horizontal bars.</a:t>
            </a:r>
          </a:p>
          <a:p>
            <a:r>
              <a:rPr lang="en-US" sz="2800" dirty="0"/>
              <a:t> Length of the bar represents the value.</a:t>
            </a:r>
          </a:p>
          <a:p>
            <a:r>
              <a:rPr lang="en-US" sz="2800" dirty="0"/>
              <a:t> Categories are listed on the vertical axis.</a:t>
            </a:r>
          </a:p>
          <a:p>
            <a:r>
              <a:rPr lang="en-US" sz="2800" dirty="0"/>
              <a:t> Three types: Clustered, Stacked &amp; 100% Stacked.</a:t>
            </a:r>
          </a:p>
          <a:p>
            <a:r>
              <a:rPr lang="en-US" sz="2800" dirty="0"/>
              <a:t> </a:t>
            </a:r>
            <a:r>
              <a:rPr lang="en-US" sz="2800" b="1" dirty="0"/>
              <a:t>Use Cases: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Compare many categories easily.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Display long category names clearly.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Rank data (highest to lowest).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Best for large data sets &amp; Categorical comparisons.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D72906-14CB-D7A8-2686-9632AE62C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7559" y="1307291"/>
            <a:ext cx="3128210" cy="1720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99533F-0D6A-60D8-2062-CFEAEA9DA0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96" y="3091597"/>
            <a:ext cx="2855710" cy="1561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BFDADD-F758-531A-E38F-A9B06D9550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0058" y="4733589"/>
            <a:ext cx="2855710" cy="165264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CFF6D2C-15F4-2444-4E4C-5AEBC4222F39}"/>
              </a:ext>
            </a:extLst>
          </p:cNvPr>
          <p:cNvSpPr txBox="1">
            <a:spLocks/>
          </p:cNvSpPr>
          <p:nvPr/>
        </p:nvSpPr>
        <p:spPr>
          <a:xfrm>
            <a:off x="871589" y="1901730"/>
            <a:ext cx="1518469" cy="40648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kern="1200" spc="-38" baseline="0" dirty="0">
                <a:solidFill>
                  <a:srgbClr val="002060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Stacked 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A279E75-6A13-A1CA-D308-A31EFE33F69E}"/>
              </a:ext>
            </a:extLst>
          </p:cNvPr>
          <p:cNvSpPr txBox="1">
            <a:spLocks/>
          </p:cNvSpPr>
          <p:nvPr/>
        </p:nvSpPr>
        <p:spPr>
          <a:xfrm>
            <a:off x="3394778" y="3716070"/>
            <a:ext cx="1518469" cy="40648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kern="1200" spc="-38" baseline="0" dirty="0">
                <a:solidFill>
                  <a:srgbClr val="002060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Clustered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1E7F23A-CC24-299C-64E8-7A219C1E46F4}"/>
              </a:ext>
            </a:extLst>
          </p:cNvPr>
          <p:cNvSpPr txBox="1">
            <a:spLocks/>
          </p:cNvSpPr>
          <p:nvPr/>
        </p:nvSpPr>
        <p:spPr>
          <a:xfrm>
            <a:off x="727210" y="5550709"/>
            <a:ext cx="1518469" cy="40648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kern="1200" spc="-38" baseline="0" dirty="0">
                <a:solidFill>
                  <a:srgbClr val="002060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100% Stacked</a:t>
            </a:r>
            <a:endParaRPr lang="en-US" sz="16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8807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C2869-F323-832E-4074-4EBB9E194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2E3CF-E4B7-B344-63DB-C83734FC1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Column Charts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93670D-5667-4A33-1271-A02A3803D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19440" y="1098582"/>
            <a:ext cx="6619859" cy="5547546"/>
          </a:xfrm>
        </p:spPr>
        <p:txBody>
          <a:bodyPr>
            <a:normAutofit fontScale="92500"/>
          </a:bodyPr>
          <a:lstStyle/>
          <a:p>
            <a:r>
              <a:rPr lang="en-US" sz="2800" dirty="0"/>
              <a:t> A </a:t>
            </a:r>
            <a:r>
              <a:rPr lang="en-US" sz="28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Column chart </a:t>
            </a:r>
            <a:r>
              <a:rPr lang="en-US" sz="2800" dirty="0"/>
              <a:t>displays data using vertical bars.</a:t>
            </a:r>
          </a:p>
          <a:p>
            <a:r>
              <a:rPr lang="en-US" sz="2800" dirty="0"/>
              <a:t> Each column represents a category.</a:t>
            </a:r>
          </a:p>
          <a:p>
            <a:r>
              <a:rPr lang="en-US" sz="2800" dirty="0"/>
              <a:t> The height of the column shows the value.</a:t>
            </a:r>
          </a:p>
          <a:p>
            <a:r>
              <a:rPr lang="en-US" sz="2800" dirty="0"/>
              <a:t> Three types: Clustered, Stacked &amp; 100% Stacked.</a:t>
            </a:r>
          </a:p>
          <a:p>
            <a:r>
              <a:rPr lang="en-US" sz="2800" dirty="0"/>
              <a:t> </a:t>
            </a:r>
            <a:r>
              <a:rPr lang="en-US" sz="2800" b="1" dirty="0"/>
              <a:t>Use Cases: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Compare values across categories.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Show changes over time (e.g., monthly sales).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Highlight trends clearly.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Best for time-based data, small to medium number of categories.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7D2F5D-E1D8-A3A1-44B0-A1465263EE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17559" y="1331742"/>
            <a:ext cx="3128210" cy="1397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A67146-5D1B-4AB8-EBEB-9E072A9D92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5395" y="3059827"/>
            <a:ext cx="3128209" cy="1476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41E5BD-73D3-FC7B-A546-A01D9A882F6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54974" y="4842224"/>
            <a:ext cx="3664466" cy="162494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5620EDE-D856-26F0-EDD4-9E5C83AC2517}"/>
              </a:ext>
            </a:extLst>
          </p:cNvPr>
          <p:cNvSpPr txBox="1">
            <a:spLocks/>
          </p:cNvSpPr>
          <p:nvPr/>
        </p:nvSpPr>
        <p:spPr>
          <a:xfrm>
            <a:off x="871589" y="1901730"/>
            <a:ext cx="1518469" cy="40648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kern="1200" spc="-38" baseline="0" dirty="0">
                <a:solidFill>
                  <a:srgbClr val="002060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Stacked 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7662AAA-7C61-A997-662C-93D069AAFF30}"/>
              </a:ext>
            </a:extLst>
          </p:cNvPr>
          <p:cNvSpPr txBox="1">
            <a:spLocks/>
          </p:cNvSpPr>
          <p:nvPr/>
        </p:nvSpPr>
        <p:spPr>
          <a:xfrm>
            <a:off x="3727299" y="3582447"/>
            <a:ext cx="1518469" cy="40648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kern="1200" spc="-38" baseline="0" dirty="0">
                <a:solidFill>
                  <a:srgbClr val="002060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Clustered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75EDEB6-9035-C3F3-E51A-AC514B67397F}"/>
              </a:ext>
            </a:extLst>
          </p:cNvPr>
          <p:cNvSpPr txBox="1">
            <a:spLocks/>
          </p:cNvSpPr>
          <p:nvPr/>
        </p:nvSpPr>
        <p:spPr>
          <a:xfrm>
            <a:off x="300625" y="5583196"/>
            <a:ext cx="1518469" cy="40648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kern="1200" spc="-38" baseline="0" dirty="0">
                <a:solidFill>
                  <a:srgbClr val="002060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100% Stacked</a:t>
            </a:r>
            <a:endParaRPr lang="en-US" sz="16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649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CFEFA-F379-119E-F6B0-1B1C93706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1C32C-F413-5100-411D-E99C6D75C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Column Chart 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Vs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Bar Chart</a:t>
            </a:r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C76269-3F7C-5D42-E7E6-95B650D718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371395"/>
              </p:ext>
            </p:extLst>
          </p:nvPr>
        </p:nvGraphicFramePr>
        <p:xfrm>
          <a:off x="1156921" y="1698233"/>
          <a:ext cx="10393395" cy="4782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4465">
                  <a:extLst>
                    <a:ext uri="{9D8B030D-6E8A-4147-A177-3AD203B41FA5}">
                      <a16:colId xmlns:a16="http://schemas.microsoft.com/office/drawing/2014/main" val="2384811825"/>
                    </a:ext>
                  </a:extLst>
                </a:gridCol>
                <a:gridCol w="3464465">
                  <a:extLst>
                    <a:ext uri="{9D8B030D-6E8A-4147-A177-3AD203B41FA5}">
                      <a16:colId xmlns:a16="http://schemas.microsoft.com/office/drawing/2014/main" val="116356935"/>
                    </a:ext>
                  </a:extLst>
                </a:gridCol>
                <a:gridCol w="3464465">
                  <a:extLst>
                    <a:ext uri="{9D8B030D-6E8A-4147-A177-3AD203B41FA5}">
                      <a16:colId xmlns:a16="http://schemas.microsoft.com/office/drawing/2014/main" val="308172036"/>
                    </a:ext>
                  </a:extLst>
                </a:gridCol>
              </a:tblGrid>
              <a:tr h="95655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Feature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Column Chart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Bar Chart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08023"/>
                  </a:ext>
                </a:extLst>
              </a:tr>
              <a:tr h="95655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Orientation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Vertical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Horizontal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840143"/>
                  </a:ext>
                </a:extLst>
              </a:tr>
              <a:tr h="95655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Best Use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Time trends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Category comparison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846869"/>
                  </a:ext>
                </a:extLst>
              </a:tr>
              <a:tr h="95655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Space Usage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Needs more width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Needs more height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497545"/>
                  </a:ext>
                </a:extLst>
              </a:tr>
              <a:tr h="95655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Labels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Short labels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Long labels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588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5464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0EAB0-9FEF-D70A-CBA5-8AF196902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78D80-A080-93BB-BD7F-82A8C8395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Line Charts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BCCBF5-D97A-C77B-1518-082E9713F2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45768" y="984899"/>
            <a:ext cx="6946232" cy="6008070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 </a:t>
            </a:r>
            <a:r>
              <a:rPr lang="en-US" sz="28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Line Charts </a:t>
            </a:r>
            <a:r>
              <a:rPr lang="en-US" sz="2800" dirty="0"/>
              <a:t>are used to display data trends over time.</a:t>
            </a:r>
          </a:p>
          <a:p>
            <a:r>
              <a:rPr lang="en-US" sz="2800" dirty="0"/>
              <a:t> Data points are connected by a continuous line.</a:t>
            </a:r>
          </a:p>
          <a:p>
            <a:r>
              <a:rPr lang="en-US" sz="2800" dirty="0"/>
              <a:t> Shows information as a series of data points.</a:t>
            </a:r>
          </a:p>
          <a:p>
            <a:r>
              <a:rPr lang="en-US" sz="2800" dirty="0"/>
              <a:t> Typically used for time-series data.</a:t>
            </a:r>
          </a:p>
          <a:p>
            <a:r>
              <a:rPr lang="en-US" sz="2800" dirty="0"/>
              <a:t> </a:t>
            </a:r>
            <a:r>
              <a:rPr lang="en-US" sz="2800" b="1" dirty="0"/>
              <a:t>Use Cases: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Shows trends over time.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Track performance (sales, revenue, growth).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Compare multiple variables.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Identify patterns &amp; seasonality.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Best for continuous data, time-based analysis.</a:t>
            </a:r>
          </a:p>
          <a:p>
            <a:endParaRPr lang="en-US" sz="2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E6C4714-A313-B297-5F8B-95B35D223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883" y="2325970"/>
            <a:ext cx="5055885" cy="28075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6001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499A7-A63B-1630-905F-B1DC13AB4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68C81-FC7B-29B0-AA4B-54F644391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Line &amp; Stacked Column Charts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BEB99-6A3F-6EB2-30F6-E5D8502F40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45768" y="1491915"/>
            <a:ext cx="6946232" cy="5501053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 </a:t>
            </a:r>
            <a:r>
              <a:rPr lang="en-US" sz="28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Line  &amp; Stacked Column Chart</a:t>
            </a:r>
            <a:r>
              <a:rPr lang="en-US" sz="2800" dirty="0"/>
              <a:t> combines line chart &amp; a stacked column chart.</a:t>
            </a:r>
          </a:p>
          <a:p>
            <a:r>
              <a:rPr lang="en-US" sz="2800" dirty="0"/>
              <a:t> Allows to analyze trends over time while also observing the composition of different categories.</a:t>
            </a:r>
          </a:p>
          <a:p>
            <a:r>
              <a:rPr lang="en-US" sz="2800" dirty="0"/>
              <a:t>  </a:t>
            </a:r>
            <a:r>
              <a:rPr lang="en-US" sz="2800" b="1" dirty="0"/>
              <a:t>Use Cases: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Combines multiple insights in one chart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Saves dashboard space.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Shows relationships between metrics.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Compare total vs breakdown.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Show trend + composition together.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Analyze performance across categories over time.</a:t>
            </a:r>
          </a:p>
          <a:p>
            <a:endParaRPr lang="en-US" sz="2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5946702-7CB6-70F9-0FD4-C1E00828F6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9883" y="2342594"/>
            <a:ext cx="5055885" cy="27742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3438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B7DD1-0CF7-90F3-DDA9-E04690F4B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7383-4597-7BEA-F752-6EA760E83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Comparison with Other Charts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C72625-4533-E6CA-4B58-64B5085E2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129887"/>
              </p:ext>
            </p:extLst>
          </p:nvPr>
        </p:nvGraphicFramePr>
        <p:xfrm>
          <a:off x="1042737" y="1698233"/>
          <a:ext cx="10700084" cy="4782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0042">
                  <a:extLst>
                    <a:ext uri="{9D8B030D-6E8A-4147-A177-3AD203B41FA5}">
                      <a16:colId xmlns:a16="http://schemas.microsoft.com/office/drawing/2014/main" val="2384811825"/>
                    </a:ext>
                  </a:extLst>
                </a:gridCol>
                <a:gridCol w="5350042">
                  <a:extLst>
                    <a:ext uri="{9D8B030D-6E8A-4147-A177-3AD203B41FA5}">
                      <a16:colId xmlns:a16="http://schemas.microsoft.com/office/drawing/2014/main" val="116356935"/>
                    </a:ext>
                  </a:extLst>
                </a:gridCol>
              </a:tblGrid>
              <a:tr h="95655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Chart Type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Purpose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08023"/>
                  </a:ext>
                </a:extLst>
              </a:tr>
              <a:tr h="95655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Column Chart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Simple Comparison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840143"/>
                  </a:ext>
                </a:extLst>
              </a:tr>
              <a:tr h="95655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Line Chart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Trend over time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846869"/>
                  </a:ext>
                </a:extLst>
              </a:tr>
              <a:tr h="95655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Stacked Column Chart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Composition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497545"/>
                  </a:ext>
                </a:extLst>
              </a:tr>
              <a:tr h="95655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Line &amp; Stacked Column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Trend + Composition together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588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8166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EEB2F-AA4C-DD0E-5116-F9AC54305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CC3FA-FF7F-5EA2-3E9F-C319BDA49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Area Charts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7A8D79-65DF-D6AC-D7BB-4B5D9FFEDC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45768" y="984899"/>
            <a:ext cx="6946232" cy="6008070"/>
          </a:xfrm>
        </p:spPr>
        <p:txBody>
          <a:bodyPr>
            <a:normAutofit/>
          </a:bodyPr>
          <a:lstStyle/>
          <a:p>
            <a:r>
              <a:rPr lang="en-US" sz="2800" dirty="0"/>
              <a:t> </a:t>
            </a:r>
            <a:r>
              <a:rPr lang="en-US" sz="28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Area Charts </a:t>
            </a:r>
            <a:r>
              <a:rPr lang="en-US" sz="2800" dirty="0"/>
              <a:t>are like line charts but with the area filled below the line.</a:t>
            </a:r>
          </a:p>
          <a:p>
            <a:r>
              <a:rPr lang="en-US" sz="2800" dirty="0"/>
              <a:t> Used to show trends over time along with magnitude. (Highlights trend &amp; quantity).</a:t>
            </a:r>
          </a:p>
          <a:p>
            <a:r>
              <a:rPr lang="en-US" sz="2800" dirty="0"/>
              <a:t> Helps emphasize  the volume of data.</a:t>
            </a:r>
          </a:p>
          <a:p>
            <a:r>
              <a:rPr lang="en-US" sz="2800" dirty="0"/>
              <a:t> </a:t>
            </a:r>
            <a:r>
              <a:rPr lang="en-US" sz="2800" b="1" dirty="0"/>
              <a:t>Use Cases: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Show trends over time.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Display cumulative totals.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Compare multiple data series.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Emphasize the magnitude of values.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Best for  time-based data, showing contribution to total.</a:t>
            </a:r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B816A91-5BCD-C389-C29C-474FBB56C0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661" y="2358190"/>
            <a:ext cx="5145108" cy="27752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6609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9FA12-E4AB-CC6D-DACF-3A985B8B6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B33AE-0704-A68E-AFF3-9DA4ECBB0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Area Chart 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Vs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Line Chart</a:t>
            </a:r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32C6A7A-4481-698C-D9C5-A5B2CEE135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831681"/>
              </p:ext>
            </p:extLst>
          </p:nvPr>
        </p:nvGraphicFramePr>
        <p:xfrm>
          <a:off x="1156921" y="1698233"/>
          <a:ext cx="10393395" cy="4782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4465">
                  <a:extLst>
                    <a:ext uri="{9D8B030D-6E8A-4147-A177-3AD203B41FA5}">
                      <a16:colId xmlns:a16="http://schemas.microsoft.com/office/drawing/2014/main" val="2384811825"/>
                    </a:ext>
                  </a:extLst>
                </a:gridCol>
                <a:gridCol w="3464465">
                  <a:extLst>
                    <a:ext uri="{9D8B030D-6E8A-4147-A177-3AD203B41FA5}">
                      <a16:colId xmlns:a16="http://schemas.microsoft.com/office/drawing/2014/main" val="116356935"/>
                    </a:ext>
                  </a:extLst>
                </a:gridCol>
                <a:gridCol w="3464465">
                  <a:extLst>
                    <a:ext uri="{9D8B030D-6E8A-4147-A177-3AD203B41FA5}">
                      <a16:colId xmlns:a16="http://schemas.microsoft.com/office/drawing/2014/main" val="308172036"/>
                    </a:ext>
                  </a:extLst>
                </a:gridCol>
              </a:tblGrid>
              <a:tr h="95655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Feature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Area Chart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Line Chart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08023"/>
                  </a:ext>
                </a:extLst>
              </a:tr>
              <a:tr h="95655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Fill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Colored Area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No Fill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840143"/>
                  </a:ext>
                </a:extLst>
              </a:tr>
              <a:tr h="95655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Focus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Trend + Volume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Trend only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846869"/>
                  </a:ext>
                </a:extLst>
              </a:tr>
              <a:tr h="95655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Best Use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Cumulative data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Precise trends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497545"/>
                  </a:ext>
                </a:extLst>
              </a:tr>
              <a:tr h="95655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Visual Impact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More attractive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Simpler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588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5125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EBF27-F1A6-559A-9E58-6B4CCCAF8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8CDAE-65C2-0D6F-1CDE-313BAE711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Pie Chart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02C7-DD55-1DBC-754D-3AAE9C649F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45768" y="984899"/>
            <a:ext cx="6946232" cy="6008070"/>
          </a:xfrm>
        </p:spPr>
        <p:txBody>
          <a:bodyPr>
            <a:normAutofit/>
          </a:bodyPr>
          <a:lstStyle/>
          <a:p>
            <a:r>
              <a:rPr lang="en-US" sz="2800" dirty="0"/>
              <a:t> </a:t>
            </a:r>
            <a:r>
              <a:rPr lang="en-US" sz="28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Pie Chart </a:t>
            </a:r>
            <a:r>
              <a:rPr lang="en-US" sz="2800" dirty="0"/>
              <a:t>is a circular chart divided into slices.</a:t>
            </a:r>
          </a:p>
          <a:p>
            <a:r>
              <a:rPr lang="en-US" sz="2800" dirty="0"/>
              <a:t> Each slice represents a proportion of the total. (Total equals 100%).</a:t>
            </a:r>
          </a:p>
          <a:p>
            <a:r>
              <a:rPr lang="en-US" sz="2800" dirty="0"/>
              <a:t>  </a:t>
            </a:r>
            <a:r>
              <a:rPr lang="en-US" sz="2800" b="1" dirty="0"/>
              <a:t>Use Cases: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Show percentage distribution.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Compare parts of a whole.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Highlight  dominant categories.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Best for Small number of categories (5-6 max &amp; Simple datasets).</a:t>
            </a:r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8B9C93-9C05-9EDB-EE7D-E248700FC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22" y="2194993"/>
            <a:ext cx="5085346" cy="31630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6008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F45DF-99AF-4BC6-295E-4A85EFDB7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836E6-FD09-4D5E-1049-B5785EEFB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Donut Chart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2EBE4-D96E-617F-98FA-B02EF75B8D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45768" y="984899"/>
            <a:ext cx="6946232" cy="6008070"/>
          </a:xfrm>
        </p:spPr>
        <p:txBody>
          <a:bodyPr>
            <a:normAutofit/>
          </a:bodyPr>
          <a:lstStyle/>
          <a:p>
            <a:r>
              <a:rPr lang="en-US" sz="2800" dirty="0"/>
              <a:t> </a:t>
            </a:r>
            <a:r>
              <a:rPr lang="en-US" sz="28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Donut Chart </a:t>
            </a:r>
            <a:r>
              <a:rPr lang="en-US" sz="2800" dirty="0"/>
              <a:t>is like pie chart but with a hole in the center.</a:t>
            </a:r>
          </a:p>
          <a:p>
            <a:r>
              <a:rPr lang="en-US" sz="2800" dirty="0"/>
              <a:t> Displays proportions in a circular format.</a:t>
            </a:r>
          </a:p>
          <a:p>
            <a:r>
              <a:rPr lang="en-US" sz="2800" dirty="0"/>
              <a:t> Center space can show additional information.</a:t>
            </a:r>
          </a:p>
          <a:p>
            <a:r>
              <a:rPr lang="en-US" sz="2800" dirty="0"/>
              <a:t>  </a:t>
            </a:r>
            <a:r>
              <a:rPr lang="en-US" sz="2800" b="1" dirty="0"/>
              <a:t>Use Cases: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Show proportion of categories.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Display summary values in the center.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Improve visual design in dashboards.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Best for Dashboard visuals, Highlighting key metrics.</a:t>
            </a:r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88629C-42BF-9096-CEC2-7764283483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3029" y="2514798"/>
            <a:ext cx="5000158" cy="28753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0510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81906-CE8D-DECA-5B4D-0411CC733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13014-D1B0-24FD-E0A9-4A68B79D4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Pie Chart 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Vs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Donut Chart</a:t>
            </a:r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290AAAF-5CCF-D262-6E5E-83C7ADA179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362619"/>
              </p:ext>
            </p:extLst>
          </p:nvPr>
        </p:nvGraphicFramePr>
        <p:xfrm>
          <a:off x="1156921" y="1698233"/>
          <a:ext cx="10393395" cy="4782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4465">
                  <a:extLst>
                    <a:ext uri="{9D8B030D-6E8A-4147-A177-3AD203B41FA5}">
                      <a16:colId xmlns:a16="http://schemas.microsoft.com/office/drawing/2014/main" val="2384811825"/>
                    </a:ext>
                  </a:extLst>
                </a:gridCol>
                <a:gridCol w="3464465">
                  <a:extLst>
                    <a:ext uri="{9D8B030D-6E8A-4147-A177-3AD203B41FA5}">
                      <a16:colId xmlns:a16="http://schemas.microsoft.com/office/drawing/2014/main" val="116356935"/>
                    </a:ext>
                  </a:extLst>
                </a:gridCol>
                <a:gridCol w="3464465">
                  <a:extLst>
                    <a:ext uri="{9D8B030D-6E8A-4147-A177-3AD203B41FA5}">
                      <a16:colId xmlns:a16="http://schemas.microsoft.com/office/drawing/2014/main" val="308172036"/>
                    </a:ext>
                  </a:extLst>
                </a:gridCol>
              </a:tblGrid>
              <a:tr h="95655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Feature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Pie Chart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Donut Chart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08023"/>
                  </a:ext>
                </a:extLst>
              </a:tr>
              <a:tr h="95655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Shape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Full Circle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Circle with hold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840143"/>
                  </a:ext>
                </a:extLst>
              </a:tr>
              <a:tr h="95655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Center Space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Not available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Available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846869"/>
                  </a:ext>
                </a:extLst>
              </a:tr>
              <a:tr h="95655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Best Use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Cumulative data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Precise trends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497545"/>
                  </a:ext>
                </a:extLst>
              </a:tr>
              <a:tr h="95655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Visual Impact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More attractive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Simpler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588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103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1A9BF-F820-7802-1086-7A6400A16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83D7A-914E-0208-8CCC-3C4A8853C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Tree Map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6F3EF-69A0-46BE-27B0-EFFCEF8B16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45768" y="849930"/>
            <a:ext cx="6946232" cy="6008070"/>
          </a:xfrm>
        </p:spPr>
        <p:txBody>
          <a:bodyPr>
            <a:normAutofit/>
          </a:bodyPr>
          <a:lstStyle/>
          <a:p>
            <a:r>
              <a:rPr lang="en-US" sz="2800" dirty="0"/>
              <a:t> </a:t>
            </a:r>
            <a:r>
              <a:rPr lang="en-US" sz="28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Tree Map </a:t>
            </a:r>
            <a:r>
              <a:rPr lang="en-US" sz="2800" dirty="0"/>
              <a:t>displays data as nested rectangles.</a:t>
            </a:r>
          </a:p>
          <a:p>
            <a:r>
              <a:rPr lang="en-US" sz="2800" dirty="0"/>
              <a:t> Each rectangle represents a category.</a:t>
            </a:r>
          </a:p>
          <a:p>
            <a:r>
              <a:rPr lang="en-US" sz="2800" dirty="0"/>
              <a:t> Size of the rectangle shows the value.</a:t>
            </a:r>
          </a:p>
          <a:p>
            <a:r>
              <a:rPr lang="en-US" sz="2800" dirty="0"/>
              <a:t> </a:t>
            </a:r>
            <a:r>
              <a:rPr lang="en-US" sz="2800" b="1" dirty="0"/>
              <a:t>Use Cases: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Show hierarchical data.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Display many categories at one &amp; efficient use of space.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Compare proportions within categories.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Identify largest and smallest contributors.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Best for Part-to-whole relationships, large datasets with hierarchy.</a:t>
            </a:r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9597FA-CFFE-8C20-36A9-6D66F6C5EC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3028" y="2520579"/>
            <a:ext cx="5038263" cy="28856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430016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27156-2E2C-4BA1-04A8-1D80BA416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74F04-C507-A983-2EAB-D0868955D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921" y="616107"/>
            <a:ext cx="9393848" cy="712765"/>
          </a:xfrm>
        </p:spPr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Scatter Plot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7B783-D0DB-C56B-E435-28AB0EDF2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45768" y="849930"/>
            <a:ext cx="6946232" cy="6008070"/>
          </a:xfrm>
        </p:spPr>
        <p:txBody>
          <a:bodyPr>
            <a:normAutofit/>
          </a:bodyPr>
          <a:lstStyle/>
          <a:p>
            <a:r>
              <a:rPr lang="en-US" sz="2800" dirty="0"/>
              <a:t> </a:t>
            </a:r>
            <a:r>
              <a:rPr lang="en-US" sz="28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Scatter Plot </a:t>
            </a:r>
            <a:r>
              <a:rPr lang="en-US" sz="2800" dirty="0"/>
              <a:t>shows data as points on a graph.</a:t>
            </a:r>
          </a:p>
          <a:p>
            <a:r>
              <a:rPr lang="en-US" sz="2800" dirty="0"/>
              <a:t> Used to display relationship between two variables.</a:t>
            </a:r>
          </a:p>
          <a:p>
            <a:r>
              <a:rPr lang="en-US" sz="2800" dirty="0"/>
              <a:t> Each point represents a data record.</a:t>
            </a:r>
          </a:p>
          <a:p>
            <a:r>
              <a:rPr lang="en-US" sz="2800" dirty="0"/>
              <a:t>  </a:t>
            </a:r>
            <a:r>
              <a:rPr lang="en-US" sz="2800" b="1" dirty="0"/>
              <a:t>Use Cases: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Identity relationships or correlations.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Detect patterns and trends.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Spot outliers.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Supports multiple variables.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Helps in predictive analysis.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Best for Numerical data, Statistical Analysis.</a:t>
            </a:r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7CA169-2B10-B9DA-FB1A-4E61E6FAAE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4379" y="2313922"/>
            <a:ext cx="5085277" cy="33331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4330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8F284-8221-F663-451F-7F2D50BD1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7966E-1110-530F-7600-543FEB249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921" y="616107"/>
            <a:ext cx="9393848" cy="712765"/>
          </a:xfrm>
        </p:spPr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Map Charts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E9033-FE72-4EBC-37BD-236552CD9C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45768" y="1507958"/>
            <a:ext cx="6946232" cy="5205663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 </a:t>
            </a:r>
            <a:r>
              <a:rPr lang="en-US" sz="28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Map Charts </a:t>
            </a:r>
            <a:r>
              <a:rPr lang="en-US" sz="2800" dirty="0"/>
              <a:t>display data based on geographic locations.</a:t>
            </a:r>
          </a:p>
          <a:p>
            <a:r>
              <a:rPr lang="en-US" sz="2800" dirty="0"/>
              <a:t> Helps users understand spatial patterns &amp; trends.</a:t>
            </a:r>
          </a:p>
          <a:p>
            <a:r>
              <a:rPr lang="en-US" sz="2800" dirty="0"/>
              <a:t> Widely used in business, logistics, and analytics.</a:t>
            </a:r>
          </a:p>
          <a:p>
            <a:r>
              <a:rPr lang="en-US" sz="2800" dirty="0"/>
              <a:t> It is a visual representation of  data on a map based on Country, City, Region, Latitude &amp; Longitude.</a:t>
            </a:r>
          </a:p>
          <a:p>
            <a:r>
              <a:rPr lang="en-US" sz="2800" dirty="0"/>
              <a:t> </a:t>
            </a:r>
            <a:r>
              <a:rPr lang="en-US" sz="2800" b="1" dirty="0"/>
              <a:t>Use Cases: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Analyze geographic trends.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Track regional performance.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Identify high &amp; low-performing areas.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Support decision-making based on locations.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875F18-9052-6A07-407B-5A09646B86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856" y="2322240"/>
            <a:ext cx="5122912" cy="32764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2438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FC072-4549-E3F9-D29E-5DEFEF8AE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65D9F-40BC-036F-312C-58A915010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921" y="616107"/>
            <a:ext cx="9393848" cy="712765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 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Types of Maps in Power BI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8301DE-0FB5-0828-F09A-43F1D961B8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59052" y="1509804"/>
            <a:ext cx="4132948" cy="4732089"/>
          </a:xfrm>
        </p:spPr>
        <p:txBody>
          <a:bodyPr>
            <a:normAutofit fontScale="92500" lnSpcReduction="10000"/>
          </a:bodyPr>
          <a:lstStyle/>
          <a:p>
            <a:pPr marL="571500" indent="-571500">
              <a:buFont typeface="+mj-lt"/>
              <a:buAutoNum type="romanUcPeriod"/>
            </a:pPr>
            <a:r>
              <a:rPr lang="en-US" sz="28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Basic Maps</a:t>
            </a:r>
            <a:r>
              <a:rPr lang="en-US" sz="2800" dirty="0"/>
              <a:t>: Displays data points on a standard map.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sz="28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Filled Maps</a:t>
            </a:r>
            <a:r>
              <a:rPr lang="en-US" sz="2800" dirty="0"/>
              <a:t>: Colors geographic areas based on a value (e.g., sales by state).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sz="28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ArcGIS Maps</a:t>
            </a:r>
            <a:r>
              <a:rPr lang="en-US" sz="2800" dirty="0"/>
              <a:t>: Offers advanced mapping capabilities, including layers and spatial analytics.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0B1B17-290A-6FEB-BC33-B93678A30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7729" y="1232359"/>
            <a:ext cx="4377637" cy="2151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A997AA-9B70-1022-8516-4423F51F8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83" y="3429000"/>
            <a:ext cx="4132950" cy="19571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3200286-66B8-9999-BE43-43EF1599DD81}"/>
              </a:ext>
            </a:extLst>
          </p:cNvPr>
          <p:cNvSpPr txBox="1">
            <a:spLocks/>
          </p:cNvSpPr>
          <p:nvPr/>
        </p:nvSpPr>
        <p:spPr>
          <a:xfrm>
            <a:off x="1471255" y="1772805"/>
            <a:ext cx="1990185" cy="389112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kern="1200" spc="-38" baseline="0" dirty="0">
                <a:solidFill>
                  <a:srgbClr val="002060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Basic Map </a:t>
            </a:r>
            <a:endParaRPr lang="en-US" sz="2400" dirty="0">
              <a:solidFill>
                <a:srgbClr val="FFC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2FB7F94-F973-D48B-D5E8-EFE2ED13CA05}"/>
              </a:ext>
            </a:extLst>
          </p:cNvPr>
          <p:cNvSpPr txBox="1">
            <a:spLocks/>
          </p:cNvSpPr>
          <p:nvPr/>
        </p:nvSpPr>
        <p:spPr>
          <a:xfrm>
            <a:off x="4587077" y="4018456"/>
            <a:ext cx="1990185" cy="389112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kern="1200" spc="-38" baseline="0" dirty="0">
                <a:solidFill>
                  <a:srgbClr val="002060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Filled Map </a:t>
            </a:r>
            <a:endParaRPr lang="en-US" sz="2400" dirty="0">
              <a:solidFill>
                <a:srgbClr val="FFC000"/>
              </a:solidFill>
            </a:endParaRPr>
          </a:p>
        </p:txBody>
      </p:sp>
      <p:pic>
        <p:nvPicPr>
          <p:cNvPr id="4" name="Picture 3" descr="Introduction to ArcGIS for Power BI—ArcGIS for Power BI | Documentation">
            <a:extLst>
              <a:ext uri="{FF2B5EF4-FFF2-40B4-BE49-F238E27FC236}">
                <a16:creationId xmlns:a16="http://schemas.microsoft.com/office/drawing/2014/main" id="{74D7FB2A-B6C3-1660-F4FE-767371E32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851" y="4624136"/>
            <a:ext cx="4132950" cy="209263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6DEDA93-5485-B71D-DB91-3E10A13685BA}"/>
              </a:ext>
            </a:extLst>
          </p:cNvPr>
          <p:cNvSpPr txBox="1">
            <a:spLocks/>
          </p:cNvSpPr>
          <p:nvPr/>
        </p:nvSpPr>
        <p:spPr>
          <a:xfrm>
            <a:off x="2596892" y="5825963"/>
            <a:ext cx="1990185" cy="389112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kern="1200" spc="-38" baseline="0" dirty="0">
                <a:solidFill>
                  <a:srgbClr val="002060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ArcGIS Map </a:t>
            </a:r>
            <a:endParaRPr lang="en-US" sz="24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26531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4668C-72E6-1C4E-11D9-B1D169236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F793F-65BD-0CD1-4DE6-AD5BCEE00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921" y="616107"/>
            <a:ext cx="9393848" cy="712765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Enable Map Charts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9219F-CF56-15CE-BDB2-13ACD215C3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29136" y="1507958"/>
            <a:ext cx="5662863" cy="5205663"/>
          </a:xfrm>
        </p:spPr>
        <p:txBody>
          <a:bodyPr>
            <a:normAutofit fontScale="92500"/>
          </a:bodyPr>
          <a:lstStyle/>
          <a:p>
            <a:pPr>
              <a:buBlip>
                <a:blip r:embed="rId2"/>
              </a:buBlip>
            </a:pPr>
            <a:r>
              <a:rPr lang="en-US" sz="3200" dirty="0"/>
              <a:t>  Map Visuals are </a:t>
            </a:r>
            <a:r>
              <a:rPr lang="en-US" sz="3200" b="1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NOT</a:t>
            </a:r>
            <a:r>
              <a:rPr lang="en-US" sz="3200" dirty="0"/>
              <a:t> enabled by default in Power BI.</a:t>
            </a:r>
          </a:p>
          <a:p>
            <a:pPr marL="0" indent="0">
              <a:buNone/>
            </a:pPr>
            <a:r>
              <a:rPr lang="en-US" sz="2800" b="1" dirty="0"/>
              <a:t>✅ How to Enable Map Charts</a:t>
            </a:r>
          </a:p>
          <a:p>
            <a:r>
              <a:rPr lang="en-US" sz="2800" dirty="0"/>
              <a:t>Open Power BI Desktop </a:t>
            </a:r>
          </a:p>
          <a:p>
            <a:r>
              <a:rPr lang="en-US" sz="2800" dirty="0"/>
              <a:t>Go to </a:t>
            </a:r>
            <a:r>
              <a:rPr lang="en-US" sz="2800" b="1" dirty="0"/>
              <a:t>File</a:t>
            </a:r>
            <a:r>
              <a:rPr lang="en-US" sz="2800" dirty="0"/>
              <a:t> → </a:t>
            </a:r>
            <a:r>
              <a:rPr lang="en-US" sz="2800" b="1" dirty="0"/>
              <a:t>Options and Settings</a:t>
            </a:r>
            <a:r>
              <a:rPr lang="en-US" sz="2800" dirty="0"/>
              <a:t> → </a:t>
            </a:r>
            <a:r>
              <a:rPr lang="en-US" sz="2800" b="1" dirty="0"/>
              <a:t>Options</a:t>
            </a:r>
            <a:r>
              <a:rPr lang="en-US" sz="2800" dirty="0"/>
              <a:t> </a:t>
            </a:r>
          </a:p>
          <a:p>
            <a:r>
              <a:rPr lang="en-US" sz="2800" dirty="0"/>
              <a:t>Select </a:t>
            </a:r>
            <a:r>
              <a:rPr lang="en-US" sz="2800" b="1" dirty="0"/>
              <a:t>Security</a:t>
            </a:r>
            <a:r>
              <a:rPr lang="en-US" sz="2800" dirty="0"/>
              <a:t> (or </a:t>
            </a:r>
            <a:r>
              <a:rPr lang="en-US" sz="2800" b="1" dirty="0"/>
              <a:t>Global → Security</a:t>
            </a:r>
            <a:r>
              <a:rPr lang="en-US" sz="2800" dirty="0"/>
              <a:t>) </a:t>
            </a:r>
          </a:p>
          <a:p>
            <a:r>
              <a:rPr lang="en-US" sz="2800" dirty="0"/>
              <a:t>Enable: </a:t>
            </a:r>
          </a:p>
          <a:p>
            <a:pPr lvl="1"/>
            <a:r>
              <a:rPr lang="en-US" sz="1400" dirty="0"/>
              <a:t>✔ </a:t>
            </a:r>
            <a:r>
              <a:rPr lang="en-US" sz="1400" i="1" dirty="0"/>
              <a:t>Use Map and Filled Map visuals</a:t>
            </a:r>
            <a:r>
              <a:rPr lang="en-US" sz="1400" dirty="0"/>
              <a:t> </a:t>
            </a:r>
          </a:p>
          <a:p>
            <a:pPr lvl="1"/>
            <a:r>
              <a:rPr lang="en-US" sz="1400" dirty="0"/>
              <a:t> ✔ Use ArcGIS for Power BI</a:t>
            </a:r>
          </a:p>
          <a:p>
            <a:r>
              <a:rPr lang="en-US" sz="2800" dirty="0"/>
              <a:t>Click </a:t>
            </a:r>
            <a:r>
              <a:rPr lang="en-US" sz="2800" b="1" dirty="0"/>
              <a:t>OK</a:t>
            </a:r>
            <a:r>
              <a:rPr lang="en-US" sz="2800" dirty="0"/>
              <a:t> and restart Power BI if needed</a:t>
            </a:r>
          </a:p>
          <a:p>
            <a:pPr marL="0" indent="0">
              <a:buNone/>
            </a:pP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EB7EE0-E826-4E50-8040-38DBDA4CB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8820" y="1328872"/>
            <a:ext cx="3930315" cy="23287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ACE828-AF29-6A3E-CBA6-7A53F1F9D4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07" y="2933162"/>
            <a:ext cx="3930315" cy="3780459"/>
          </a:xfrm>
          <a:prstGeom prst="rect">
            <a:avLst/>
          </a:prstGeom>
        </p:spPr>
      </p:pic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131ADACA-F488-5B72-D617-798BD7443280}"/>
              </a:ext>
            </a:extLst>
          </p:cNvPr>
          <p:cNvCxnSpPr/>
          <p:nvPr/>
        </p:nvCxnSpPr>
        <p:spPr>
          <a:xfrm rot="10800000" flipV="1">
            <a:off x="2103564" y="1796716"/>
            <a:ext cx="495256" cy="304800"/>
          </a:xfrm>
          <a:prstGeom prst="curvedConnector3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0E35AB78-E84F-98E4-DF65-2C50C8FB4D75}"/>
              </a:ext>
            </a:extLst>
          </p:cNvPr>
          <p:cNvSpPr txBox="1">
            <a:spLocks/>
          </p:cNvSpPr>
          <p:nvPr/>
        </p:nvSpPr>
        <p:spPr>
          <a:xfrm>
            <a:off x="882778" y="1652525"/>
            <a:ext cx="1990185" cy="389112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kern="1200" spc="-38" baseline="0" dirty="0">
                <a:solidFill>
                  <a:srgbClr val="002060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NOT enabled warning</a:t>
            </a:r>
            <a:endParaRPr lang="en-US" sz="2400" dirty="0">
              <a:solidFill>
                <a:srgbClr val="FF0000"/>
              </a:solidFill>
            </a:endParaRPr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38BBD0F6-5531-B8F6-B33A-5BBD1E94144A}"/>
              </a:ext>
            </a:extLst>
          </p:cNvPr>
          <p:cNvCxnSpPr>
            <a:stCxn id="6" idx="3"/>
          </p:cNvCxnSpPr>
          <p:nvPr/>
        </p:nvCxnSpPr>
        <p:spPr>
          <a:xfrm>
            <a:off x="4068722" y="4823392"/>
            <a:ext cx="495255" cy="438498"/>
          </a:xfrm>
          <a:prstGeom prst="curvedConnector3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112B5E8A-42C9-2001-F28B-3D765C0F745F}"/>
              </a:ext>
            </a:extLst>
          </p:cNvPr>
          <p:cNvSpPr txBox="1">
            <a:spLocks/>
          </p:cNvSpPr>
          <p:nvPr/>
        </p:nvSpPr>
        <p:spPr>
          <a:xfrm>
            <a:off x="4667772" y="5067334"/>
            <a:ext cx="1990185" cy="389112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kern="1200" spc="-38" baseline="0" dirty="0">
                <a:solidFill>
                  <a:srgbClr val="002060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00B0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ENABLE in the settings</a:t>
            </a:r>
            <a:endParaRPr lang="en-US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4617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935</TotalTime>
  <Words>1195</Words>
  <Application>Microsoft Office PowerPoint</Application>
  <PresentationFormat>Widescreen</PresentationFormat>
  <Paragraphs>205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ADLaM Display</vt:lpstr>
      <vt:lpstr>Calibri</vt:lpstr>
      <vt:lpstr>Wingdings</vt:lpstr>
      <vt:lpstr>YESHUAH</vt:lpstr>
      <vt:lpstr>RetrospectVTI</vt:lpstr>
      <vt:lpstr>Microsoft SharePoint</vt:lpstr>
      <vt:lpstr>PowerPoint Presentation</vt:lpstr>
      <vt:lpstr>What is Visualization in Power BI?</vt:lpstr>
      <vt:lpstr>Benefits of Visualization in Power BI</vt:lpstr>
      <vt:lpstr>Bar Charts</vt:lpstr>
      <vt:lpstr>Column Charts</vt:lpstr>
      <vt:lpstr>Column Chart Vs Bar Chart</vt:lpstr>
      <vt:lpstr>Line Charts</vt:lpstr>
      <vt:lpstr>Line &amp; Stacked Column Charts</vt:lpstr>
      <vt:lpstr>… Comparison with Other Charts</vt:lpstr>
      <vt:lpstr>Area Charts</vt:lpstr>
      <vt:lpstr>Area Chart Vs Line Chart</vt:lpstr>
      <vt:lpstr>Pie Chart</vt:lpstr>
      <vt:lpstr>Donut Chart</vt:lpstr>
      <vt:lpstr>Pie Chart Vs Donut Chart</vt:lpstr>
      <vt:lpstr>Tree Map</vt:lpstr>
      <vt:lpstr>Scatter Plot</vt:lpstr>
      <vt:lpstr>Map Charts</vt:lpstr>
      <vt:lpstr>… Types of Maps in Power BI</vt:lpstr>
      <vt:lpstr>… Enable Map Charts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Mintesnot Iwunete</cp:lastModifiedBy>
  <cp:revision>123</cp:revision>
  <dcterms:created xsi:type="dcterms:W3CDTF">2020-02-06T00:04:00Z</dcterms:created>
  <dcterms:modified xsi:type="dcterms:W3CDTF">2026-05-16T18:39:35Z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1033-11.2.0.9937</vt:lpwstr>
  </property>
</Properties>
</file>