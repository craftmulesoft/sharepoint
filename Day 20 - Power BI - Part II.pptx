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handoutMasterIdLst>
    <p:handoutMasterId r:id="rId55"/>
  </p:handoutMasterIdLst>
  <p:sldIdLst>
    <p:sldId id="411" r:id="rId2"/>
    <p:sldId id="410" r:id="rId3"/>
    <p:sldId id="458" r:id="rId4"/>
    <p:sldId id="448" r:id="rId5"/>
    <p:sldId id="449" r:id="rId6"/>
    <p:sldId id="459" r:id="rId7"/>
    <p:sldId id="461" r:id="rId8"/>
    <p:sldId id="460" r:id="rId9"/>
    <p:sldId id="468" r:id="rId10"/>
    <p:sldId id="470" r:id="rId11"/>
    <p:sldId id="471" r:id="rId12"/>
    <p:sldId id="472" r:id="rId13"/>
    <p:sldId id="469" r:id="rId14"/>
    <p:sldId id="450" r:id="rId15"/>
    <p:sldId id="451" r:id="rId16"/>
    <p:sldId id="452" r:id="rId17"/>
    <p:sldId id="453" r:id="rId18"/>
    <p:sldId id="454" r:id="rId19"/>
    <p:sldId id="455" r:id="rId20"/>
    <p:sldId id="456" r:id="rId21"/>
    <p:sldId id="473" r:id="rId22"/>
    <p:sldId id="457" r:id="rId23"/>
    <p:sldId id="474" r:id="rId24"/>
    <p:sldId id="465" r:id="rId25"/>
    <p:sldId id="466" r:id="rId26"/>
    <p:sldId id="467" r:id="rId27"/>
    <p:sldId id="462" r:id="rId28"/>
    <p:sldId id="463" r:id="rId29"/>
    <p:sldId id="464" r:id="rId30"/>
    <p:sldId id="494" r:id="rId31"/>
    <p:sldId id="495" r:id="rId32"/>
    <p:sldId id="496" r:id="rId33"/>
    <p:sldId id="479" r:id="rId34"/>
    <p:sldId id="488" r:id="rId35"/>
    <p:sldId id="487" r:id="rId36"/>
    <p:sldId id="482" r:id="rId37"/>
    <p:sldId id="478" r:id="rId38"/>
    <p:sldId id="475" r:id="rId39"/>
    <p:sldId id="491" r:id="rId40"/>
    <p:sldId id="476" r:id="rId41"/>
    <p:sldId id="477" r:id="rId42"/>
    <p:sldId id="481" r:id="rId43"/>
    <p:sldId id="480" r:id="rId44"/>
    <p:sldId id="483" r:id="rId45"/>
    <p:sldId id="486" r:id="rId46"/>
    <p:sldId id="484" r:id="rId47"/>
    <p:sldId id="485" r:id="rId48"/>
    <p:sldId id="490" r:id="rId49"/>
    <p:sldId id="489" r:id="rId50"/>
    <p:sldId id="492" r:id="rId51"/>
    <p:sldId id="493" r:id="rId52"/>
    <p:sldId id="260"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C70"/>
    <a:srgbClr val="37C6D0"/>
    <a:srgbClr val="0072C6"/>
    <a:srgbClr val="00A4EF"/>
    <a:srgbClr val="3333FF"/>
    <a:srgbClr val="FFDF00"/>
    <a:srgbClr val="75CDEA"/>
    <a:srgbClr val="ABE2F5"/>
    <a:srgbClr val="E7F7FE"/>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36F72C-57AD-4C0C-B413-44A67FA7CD9B}" v="95" dt="2024-03-18T15:51:55.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32" autoAdjust="0"/>
    <p:restoredTop sz="94639" autoAdjust="0"/>
  </p:normalViewPr>
  <p:slideViewPr>
    <p:cSldViewPr snapToGrid="0">
      <p:cViewPr varScale="1">
        <p:scale>
          <a:sx n="63" d="100"/>
          <a:sy n="63" d="100"/>
        </p:scale>
        <p:origin x="740" y="3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48E1AF-6343-46AA-8AEF-4C12F4118850}" type="datetimeFigureOut">
              <a:rPr lang="en-US" smtClean="0"/>
              <a:t>6/13/2026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2858E0-3D38-47B7-97D4-4FE08D90D359}"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D2517-63AA-420A-887D-BE60360A8F4D}" type="datetimeFigureOut">
              <a:rPr lang="en-US" noProof="0" smtClean="0"/>
              <a:t>6/13/2026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CAD9-32EE-4091-BDA5-6BD15ACC5E58}"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4_Content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ECC495-5FEF-4C9C-502D-7281AA9BC4CE}"/>
              </a:ext>
            </a:extLst>
          </p:cNvPr>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Title 1"/>
          <p:cNvSpPr txBox="1"/>
          <p:nvPr userDrawn="1"/>
        </p:nvSpPr>
        <p:spPr>
          <a:xfrm>
            <a:off x="-1707114" y="2422578"/>
            <a:ext cx="6145764" cy="1109758"/>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endParaRPr lang="en-US" sz="2400" dirty="0"/>
          </a:p>
        </p:txBody>
      </p:sp>
      <p:sp>
        <p:nvSpPr>
          <p:cNvPr id="18" name="Title 1"/>
          <p:cNvSpPr>
            <a:spLocks noGrp="1"/>
          </p:cNvSpPr>
          <p:nvPr>
            <p:ph type="title" hasCustomPrompt="1"/>
          </p:nvPr>
        </p:nvSpPr>
        <p:spPr>
          <a:xfrm>
            <a:off x="509750" y="2338493"/>
            <a:ext cx="3531146" cy="1450757"/>
          </a:xfrm>
          <a:prstGeom prst="rect">
            <a:avLst/>
          </a:prstGeom>
        </p:spPr>
        <p:txBody>
          <a:bodyPr>
            <a:normAutofit/>
          </a:bodyPr>
          <a:lstStyle>
            <a:lvl1pPr>
              <a:defRPr sz="4400" b="1" baseline="0">
                <a:solidFill>
                  <a:schemeClr val="bg1"/>
                </a:solidFill>
                <a:latin typeface="YESHUAH" panose="02000500000000000000" pitchFamily="2" charset="0"/>
              </a:defRPr>
            </a:lvl1pPr>
          </a:lstStyle>
          <a:p>
            <a:r>
              <a:rPr lang="en-US" dirty="0"/>
              <a:t>{ subject }</a:t>
            </a:r>
          </a:p>
        </p:txBody>
      </p:sp>
      <p:sp>
        <p:nvSpPr>
          <p:cNvPr id="19" name="Content Placeholder 8"/>
          <p:cNvSpPr>
            <a:spLocks noGrp="1"/>
          </p:cNvSpPr>
          <p:nvPr>
            <p:ph sz="quarter" idx="13" hasCustomPrompt="1"/>
          </p:nvPr>
        </p:nvSpPr>
        <p:spPr>
          <a:xfrm>
            <a:off x="7647842" y="6136265"/>
            <a:ext cx="4090199" cy="453130"/>
          </a:xfrm>
          <a:prstGeom prst="rect">
            <a:avLst/>
          </a:prstGeom>
        </p:spPr>
        <p:txBody>
          <a:bodyPr>
            <a:normAutofit/>
          </a:bodyPr>
          <a:lstStyle>
            <a:lvl1pPr marL="0" indent="0" algn="r">
              <a:buNone/>
              <a:defRPr sz="2400" baseline="0">
                <a:solidFill>
                  <a:srgbClr val="25677D"/>
                </a:solidFill>
                <a:latin typeface="YESHUAH" panose="02000500000000000000" pitchFamily="2" charset="0"/>
              </a:defRPr>
            </a:lvl1pPr>
          </a:lstStyle>
          <a:p>
            <a:pPr lvl="0"/>
            <a:r>
              <a:rPr lang="en-US" dirty="0"/>
              <a:t> { write presenter name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Content with Caption">
    <p:spTree>
      <p:nvGrpSpPr>
        <p:cNvPr id="1" name=""/>
        <p:cNvGrpSpPr/>
        <p:nvPr/>
      </p:nvGrpSpPr>
      <p:grpSpPr>
        <a:xfrm>
          <a:off x="0" y="0"/>
          <a:ext cx="0" cy="0"/>
          <a:chOff x="0" y="0"/>
          <a:chExt cx="0" cy="0"/>
        </a:xfrm>
      </p:grpSpPr>
      <p:sp>
        <p:nvSpPr>
          <p:cNvPr id="23" name="Rectangle 22"/>
          <p:cNvSpPr/>
          <p:nvPr userDrawn="1"/>
        </p:nvSpPr>
        <p:spPr>
          <a:xfrm>
            <a:off x="-64008" y="0"/>
            <a:ext cx="4723782" cy="68580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9" name="Group 18" descr="Info"/>
          <p:cNvGrpSpPr/>
          <p:nvPr userDrawn="1"/>
        </p:nvGrpSpPr>
        <p:grpSpPr>
          <a:xfrm>
            <a:off x="4642801" y="3133724"/>
            <a:ext cx="567374" cy="550865"/>
            <a:chOff x="4914764" y="3319462"/>
            <a:chExt cx="619125" cy="619125"/>
          </a:xfrm>
          <a:solidFill>
            <a:schemeClr val="bg1"/>
          </a:solidFill>
        </p:grpSpPr>
        <p:sp>
          <p:nvSpPr>
            <p:cNvPr id="20" name="Freeform: Shape 19"/>
            <p:cNvSpPr/>
            <p:nvPr/>
          </p:nvSpPr>
          <p:spPr>
            <a:xfrm>
              <a:off x="4914764" y="3319462"/>
              <a:ext cx="619125" cy="619125"/>
            </a:xfrm>
            <a:custGeom>
              <a:avLst/>
              <a:gdLst>
                <a:gd name="connsiteX0" fmla="*/ 309563 w 619125"/>
                <a:gd name="connsiteY0" fmla="*/ 0 h 619125"/>
                <a:gd name="connsiteX1" fmla="*/ 0 w 619125"/>
                <a:gd name="connsiteY1" fmla="*/ 309563 h 619125"/>
                <a:gd name="connsiteX2" fmla="*/ 309563 w 619125"/>
                <a:gd name="connsiteY2" fmla="*/ 619125 h 619125"/>
                <a:gd name="connsiteX3" fmla="*/ 619125 w 619125"/>
                <a:gd name="connsiteY3" fmla="*/ 309563 h 619125"/>
                <a:gd name="connsiteX4" fmla="*/ 309563 w 619125"/>
                <a:gd name="connsiteY4" fmla="*/ 0 h 619125"/>
                <a:gd name="connsiteX5" fmla="*/ 309563 w 619125"/>
                <a:gd name="connsiteY5" fmla="*/ 581025 h 619125"/>
                <a:gd name="connsiteX6" fmla="*/ 38100 w 619125"/>
                <a:gd name="connsiteY6" fmla="*/ 309563 h 619125"/>
                <a:gd name="connsiteX7" fmla="*/ 309563 w 619125"/>
                <a:gd name="connsiteY7" fmla="*/ 38100 h 619125"/>
                <a:gd name="connsiteX8" fmla="*/ 581025 w 619125"/>
                <a:gd name="connsiteY8" fmla="*/ 309563 h 619125"/>
                <a:gd name="connsiteX9" fmla="*/ 309563 w 619125"/>
                <a:gd name="connsiteY9" fmla="*/ 581025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125" h="619125">
                  <a:moveTo>
                    <a:pt x="309563" y="0"/>
                  </a:moveTo>
                  <a:cubicBezTo>
                    <a:pt x="138875" y="0"/>
                    <a:pt x="0" y="138865"/>
                    <a:pt x="0" y="309563"/>
                  </a:cubicBezTo>
                  <a:cubicBezTo>
                    <a:pt x="0" y="480260"/>
                    <a:pt x="138875" y="619125"/>
                    <a:pt x="309563" y="619125"/>
                  </a:cubicBezTo>
                  <a:cubicBezTo>
                    <a:pt x="480250" y="619125"/>
                    <a:pt x="619125" y="480260"/>
                    <a:pt x="619125" y="309563"/>
                  </a:cubicBezTo>
                  <a:cubicBezTo>
                    <a:pt x="619125" y="138865"/>
                    <a:pt x="480250" y="0"/>
                    <a:pt x="309563" y="0"/>
                  </a:cubicBezTo>
                  <a:close/>
                  <a:moveTo>
                    <a:pt x="309563" y="581025"/>
                  </a:moveTo>
                  <a:cubicBezTo>
                    <a:pt x="159877" y="581025"/>
                    <a:pt x="38100" y="459248"/>
                    <a:pt x="38100" y="309563"/>
                  </a:cubicBezTo>
                  <a:cubicBezTo>
                    <a:pt x="38100" y="159877"/>
                    <a:pt x="159877" y="38100"/>
                    <a:pt x="309563" y="38100"/>
                  </a:cubicBezTo>
                  <a:cubicBezTo>
                    <a:pt x="459248" y="38100"/>
                    <a:pt x="581025" y="159877"/>
                    <a:pt x="581025" y="309563"/>
                  </a:cubicBezTo>
                  <a:cubicBezTo>
                    <a:pt x="581025" y="459248"/>
                    <a:pt x="459248" y="581025"/>
                    <a:pt x="309563" y="581025"/>
                  </a:cubicBezTo>
                  <a:close/>
                </a:path>
              </a:pathLst>
            </a:custGeom>
            <a:grpFill/>
            <a:ln w="9525" cap="flat">
              <a:noFill/>
              <a:prstDash val="solid"/>
              <a:miter/>
            </a:ln>
          </p:spPr>
          <p:txBody>
            <a:bodyPr rtlCol="0" anchor="ctr"/>
            <a:lstStyle/>
            <a:p>
              <a:endParaRPr lang="en-US" sz="1350" dirty="0"/>
            </a:p>
          </p:txBody>
        </p:sp>
        <p:sp>
          <p:nvSpPr>
            <p:cNvPr id="21" name="Freeform: Shape 20"/>
            <p:cNvSpPr/>
            <p:nvPr/>
          </p:nvSpPr>
          <p:spPr>
            <a:xfrm>
              <a:off x="5195751" y="3473729"/>
              <a:ext cx="57150" cy="57150"/>
            </a:xfrm>
            <a:custGeom>
              <a:avLst/>
              <a:gdLst>
                <a:gd name="connsiteX0" fmla="*/ 63722 w 57150"/>
                <a:gd name="connsiteY0" fmla="*/ 31861 h 57150"/>
                <a:gd name="connsiteX1" fmla="*/ 31861 w 57150"/>
                <a:gd name="connsiteY1" fmla="*/ 63722 h 57150"/>
                <a:gd name="connsiteX2" fmla="*/ 0 w 57150"/>
                <a:gd name="connsiteY2" fmla="*/ 31861 h 57150"/>
                <a:gd name="connsiteX3" fmla="*/ 31861 w 57150"/>
                <a:gd name="connsiteY3" fmla="*/ 0 h 57150"/>
                <a:gd name="connsiteX4" fmla="*/ 63722 w 57150"/>
                <a:gd name="connsiteY4" fmla="*/ 3186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3722" y="31861"/>
                  </a:moveTo>
                  <a:cubicBezTo>
                    <a:pt x="63722" y="49458"/>
                    <a:pt x="49458" y="63722"/>
                    <a:pt x="31861" y="63722"/>
                  </a:cubicBezTo>
                  <a:cubicBezTo>
                    <a:pt x="14265" y="63722"/>
                    <a:pt x="0" y="49458"/>
                    <a:pt x="0" y="31861"/>
                  </a:cubicBezTo>
                  <a:cubicBezTo>
                    <a:pt x="0" y="14265"/>
                    <a:pt x="14265" y="0"/>
                    <a:pt x="31861" y="0"/>
                  </a:cubicBezTo>
                  <a:cubicBezTo>
                    <a:pt x="49458" y="0"/>
                    <a:pt x="63722" y="14265"/>
                    <a:pt x="63722" y="31861"/>
                  </a:cubicBezTo>
                  <a:close/>
                </a:path>
              </a:pathLst>
            </a:custGeom>
            <a:grpFill/>
            <a:ln w="9525" cap="flat">
              <a:noFill/>
              <a:prstDash val="solid"/>
              <a:miter/>
            </a:ln>
          </p:spPr>
          <p:txBody>
            <a:bodyPr rtlCol="0" anchor="ctr"/>
            <a:lstStyle/>
            <a:p>
              <a:endParaRPr lang="en-US" sz="1350" dirty="0"/>
            </a:p>
          </p:txBody>
        </p:sp>
        <p:sp>
          <p:nvSpPr>
            <p:cNvPr id="22" name="Freeform: Shape 21"/>
            <p:cNvSpPr/>
            <p:nvPr/>
          </p:nvSpPr>
          <p:spPr>
            <a:xfrm>
              <a:off x="5205276" y="3589420"/>
              <a:ext cx="38100" cy="200025"/>
            </a:xfrm>
            <a:custGeom>
              <a:avLst/>
              <a:gdLst>
                <a:gd name="connsiteX0" fmla="*/ 19050 w 38100"/>
                <a:gd name="connsiteY0" fmla="*/ 0 h 200025"/>
                <a:gd name="connsiteX1" fmla="*/ 0 w 38100"/>
                <a:gd name="connsiteY1" fmla="*/ 19050 h 200025"/>
                <a:gd name="connsiteX2" fmla="*/ 0 w 38100"/>
                <a:gd name="connsiteY2" fmla="*/ 180975 h 200025"/>
                <a:gd name="connsiteX3" fmla="*/ 19050 w 38100"/>
                <a:gd name="connsiteY3" fmla="*/ 200025 h 200025"/>
                <a:gd name="connsiteX4" fmla="*/ 38100 w 38100"/>
                <a:gd name="connsiteY4" fmla="*/ 180975 h 200025"/>
                <a:gd name="connsiteX5" fmla="*/ 38100 w 38100"/>
                <a:gd name="connsiteY5" fmla="*/ 19050 h 200025"/>
                <a:gd name="connsiteX6" fmla="*/ 19050 w 38100"/>
                <a:gd name="connsiteY6"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00025">
                  <a:moveTo>
                    <a:pt x="19050" y="0"/>
                  </a:moveTo>
                  <a:cubicBezTo>
                    <a:pt x="8534" y="0"/>
                    <a:pt x="0" y="8534"/>
                    <a:pt x="0" y="19050"/>
                  </a:cubicBezTo>
                  <a:lnTo>
                    <a:pt x="0" y="180975"/>
                  </a:lnTo>
                  <a:cubicBezTo>
                    <a:pt x="0" y="191491"/>
                    <a:pt x="8534" y="200025"/>
                    <a:pt x="19050" y="200025"/>
                  </a:cubicBezTo>
                  <a:cubicBezTo>
                    <a:pt x="29566" y="200025"/>
                    <a:pt x="38100" y="191491"/>
                    <a:pt x="38100" y="180975"/>
                  </a:cubicBezTo>
                  <a:lnTo>
                    <a:pt x="38100" y="19050"/>
                  </a:lnTo>
                  <a:cubicBezTo>
                    <a:pt x="38100" y="8525"/>
                    <a:pt x="29566" y="0"/>
                    <a:pt x="19050" y="0"/>
                  </a:cubicBezTo>
                  <a:close/>
                </a:path>
              </a:pathLst>
            </a:custGeom>
            <a:grpFill/>
            <a:ln w="9525" cap="flat">
              <a:noFill/>
              <a:prstDash val="solid"/>
              <a:miter/>
            </a:ln>
          </p:spPr>
          <p:txBody>
            <a:bodyPr rtlCol="0" anchor="ctr"/>
            <a:lstStyle/>
            <a:p>
              <a:endParaRPr lang="en-US" sz="1350" dirty="0"/>
            </a:p>
          </p:txBody>
        </p:sp>
      </p:grpSp>
      <p:sp>
        <p:nvSpPr>
          <p:cNvPr id="16" name="Title 1"/>
          <p:cNvSpPr txBox="1"/>
          <p:nvPr userDrawn="1"/>
        </p:nvSpPr>
        <p:spPr>
          <a:xfrm>
            <a:off x="474130" y="2639243"/>
            <a:ext cx="3334512" cy="1080110"/>
          </a:xfrm>
          <a:prstGeom prst="rect">
            <a:avLst/>
          </a:prstGeom>
        </p:spPr>
        <p:txBody>
          <a:bodyPr vert="horz" lIns="91440" tIns="45720" rIns="91440" bIns="45720" rtlCol="0" anchor="b">
            <a:normAutofit fontScale="92500"/>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6000" b="1" dirty="0">
                <a:solidFill>
                  <a:schemeClr val="bg1"/>
                </a:solidFill>
                <a:latin typeface="YESHUAH" panose="02000500000000000000" pitchFamily="2" charset="0"/>
                <a:ea typeface="ADLaM Display" panose="02010000000000000000" pitchFamily="2" charset="0"/>
                <a:cs typeface="ADLaM Display" panose="02010000000000000000" pitchFamily="2" charset="0"/>
              </a:rPr>
              <a:t>Objectives</a:t>
            </a:r>
            <a:endParaRPr lang="en-US" sz="3200" b="1" dirty="0">
              <a:solidFill>
                <a:schemeClr val="bg1"/>
              </a:solidFill>
              <a:latin typeface="YESHUAH" panose="02000500000000000000" pitchFamily="2" charset="0"/>
              <a:ea typeface="ADLaM Display" panose="02010000000000000000" pitchFamily="2" charset="0"/>
              <a:cs typeface="ADLaM Display" panose="02010000000000000000" pitchFamily="2" charset="0"/>
            </a:endParaRPr>
          </a:p>
        </p:txBody>
      </p:sp>
      <p:sp>
        <p:nvSpPr>
          <p:cNvPr id="11" name="Text Placeholder 10"/>
          <p:cNvSpPr>
            <a:spLocks noGrp="1"/>
          </p:cNvSpPr>
          <p:nvPr>
            <p:ph type="body" sz="quarter" idx="14" hasCustomPrompt="1"/>
          </p:nvPr>
        </p:nvSpPr>
        <p:spPr>
          <a:xfrm>
            <a:off x="5908431" y="1603717"/>
            <a:ext cx="5524060" cy="3151163"/>
          </a:xfrm>
          <a:prstGeom prst="rect">
            <a:avLst/>
          </a:prstGeom>
        </p:spPr>
        <p:txBody>
          <a:bodyPr>
            <a:normAutofit/>
          </a:bodyPr>
          <a:lstStyle>
            <a:lvl1pPr>
              <a:spcBef>
                <a:spcPts val="0"/>
              </a:spcBef>
              <a:spcAft>
                <a:spcPts val="600"/>
              </a:spcAft>
              <a:defRPr sz="3200">
                <a:solidFill>
                  <a:srgbClr val="002060"/>
                </a:solidFill>
              </a:defRPr>
            </a:lvl1pPr>
          </a:lstStyle>
          <a:p>
            <a:pPr lvl="0"/>
            <a:r>
              <a:rPr lang="en-US" dirty="0"/>
              <a:t> { write your objectives}</a:t>
            </a:r>
          </a:p>
          <a:p>
            <a:pPr lvl="0"/>
            <a:endParaRPr lang="en-US" dirty="0"/>
          </a:p>
        </p:txBody>
      </p:sp>
      <p:pic>
        <p:nvPicPr>
          <p:cNvPr id="3" name="Picture 2">
            <a:extLst>
              <a:ext uri="{FF2B5EF4-FFF2-40B4-BE49-F238E27FC236}">
                <a16:creationId xmlns:a16="http://schemas.microsoft.com/office/drawing/2014/main" id="{43EF92EB-1689-2416-7533-E53DBC8933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81400" y="2348890"/>
            <a:ext cx="2160220" cy="21602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56921" y="618977"/>
            <a:ext cx="9393848" cy="712765"/>
          </a:xfrm>
          <a:prstGeom prst="rect">
            <a:avLst/>
          </a:prstGeom>
        </p:spPr>
        <p:txBody>
          <a:bodyPr/>
          <a:lstStyle>
            <a:lvl1pPr>
              <a:defRPr lang="en-US" sz="3600" b="1" kern="1200" spc="-38" baseline="0" dirty="0">
                <a:solidFill>
                  <a:srgbClr val="002060"/>
                </a:solidFill>
                <a:latin typeface="+mn-lt"/>
                <a:ea typeface="+mj-ea"/>
                <a:cs typeface="+mj-cs"/>
              </a:defRPr>
            </a:lvl1pPr>
          </a:lstStyle>
          <a:p>
            <a:r>
              <a:rPr lang="en-US" dirty="0"/>
              <a:t>{ Title }</a:t>
            </a:r>
          </a:p>
        </p:txBody>
      </p:sp>
      <p:sp>
        <p:nvSpPr>
          <p:cNvPr id="6" name="Text Placeholder 10"/>
          <p:cNvSpPr>
            <a:spLocks noGrp="1"/>
          </p:cNvSpPr>
          <p:nvPr>
            <p:ph type="body" sz="quarter" idx="14" hasCustomPrompt="1"/>
          </p:nvPr>
        </p:nvSpPr>
        <p:spPr>
          <a:xfrm>
            <a:off x="1156921" y="1603717"/>
            <a:ext cx="10275570" cy="4705350"/>
          </a:xfrm>
          <a:prstGeom prst="rect">
            <a:avLst/>
          </a:prstGeom>
        </p:spPr>
        <p:txBody>
          <a:bodyPr>
            <a:normAutofit/>
          </a:bodyPr>
          <a:lstStyle>
            <a:lvl1pPr>
              <a:spcBef>
                <a:spcPts val="0"/>
              </a:spcBef>
              <a:spcAft>
                <a:spcPts val="600"/>
              </a:spcAft>
              <a:defRPr sz="2400">
                <a:solidFill>
                  <a:srgbClr val="002060"/>
                </a:solidFill>
              </a:defRPr>
            </a:lvl1pPr>
          </a:lstStyle>
          <a:p>
            <a:pPr lvl="0"/>
            <a:r>
              <a:rPr lang="en-US" dirty="0"/>
              <a:t>{write your bullet point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Title 1"/>
          <p:cNvSpPr txBox="1"/>
          <p:nvPr userDrawn="1"/>
        </p:nvSpPr>
        <p:spPr>
          <a:xfrm>
            <a:off x="1325880" y="638175"/>
            <a:ext cx="9942195" cy="666750"/>
          </a:xfrm>
          <a:prstGeom prst="rect">
            <a:avLst/>
          </a:prstGeom>
        </p:spPr>
        <p:txBody>
          <a:bodyPr vert="horz" lIns="91440" tIns="45720" rIns="91440" bIns="45720" rtlCol="0" anchor="b">
            <a:noAutofit/>
          </a:bodyPr>
          <a:lst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a:lstStyle>
          <a:p>
            <a:r>
              <a:rPr lang="en-US" sz="3200" b="1" dirty="0">
                <a:solidFill>
                  <a:srgbClr val="002060"/>
                </a:solidFill>
                <a:latin typeface="+mn-lt"/>
                <a:ea typeface="Cambria" panose="02040503050406030204" pitchFamily="18" charset="0"/>
              </a:rPr>
              <a:t>References</a:t>
            </a:r>
          </a:p>
        </p:txBody>
      </p:sp>
      <p:sp>
        <p:nvSpPr>
          <p:cNvPr id="15" name="Text Placeholder 10"/>
          <p:cNvSpPr>
            <a:spLocks noGrp="1"/>
          </p:cNvSpPr>
          <p:nvPr>
            <p:ph type="body" sz="quarter" idx="14" hasCustomPrompt="1"/>
          </p:nvPr>
        </p:nvSpPr>
        <p:spPr>
          <a:xfrm>
            <a:off x="1325880" y="1524000"/>
            <a:ext cx="9681949" cy="3958659"/>
          </a:xfrm>
          <a:prstGeom prst="rect">
            <a:avLst/>
          </a:prstGeom>
        </p:spPr>
        <p:txBody>
          <a:bodyPr>
            <a:normAutofit/>
          </a:bodyPr>
          <a:lstStyle>
            <a:lvl1pPr marL="91440">
              <a:spcBef>
                <a:spcPts val="0"/>
              </a:spcBef>
              <a:defRPr sz="2400">
                <a:solidFill>
                  <a:srgbClr val="002060"/>
                </a:solidFill>
              </a:defRPr>
            </a:lvl1pPr>
          </a:lstStyle>
          <a:p>
            <a:pPr lvl="0"/>
            <a:r>
              <a:rPr lang="en-US" dirty="0"/>
              <a:t>{ link to reference1, example: http://app.icraftsoft.net }</a:t>
            </a:r>
          </a:p>
          <a:p>
            <a:pPr lvl="0"/>
            <a:r>
              <a:rPr lang="en-US" dirty="0"/>
              <a:t>{ link to reference1, example: http://app.icraftsoft.net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84E36F-A443-7521-D49B-753C50A8A8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25952" y="973836"/>
            <a:ext cx="4910328" cy="49103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8621" y="625480"/>
            <a:ext cx="1036320" cy="685800"/>
          </a:xfrm>
          <a:prstGeom prst="rect">
            <a:avLst/>
          </a:prstGeom>
          <a:solidFill>
            <a:srgbClr val="2567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p:cNvSpPr>
            <a:spLocks noGrp="1"/>
          </p:cNvSpPr>
          <p:nvPr>
            <p:ph type="sldNum" sz="quarter" idx="4"/>
          </p:nvPr>
        </p:nvSpPr>
        <p:spPr>
          <a:xfrm>
            <a:off x="8610600" y="6181726"/>
            <a:ext cx="2743200" cy="539750"/>
          </a:xfrm>
          <a:prstGeom prst="rect">
            <a:avLst/>
          </a:prstGeom>
        </p:spPr>
        <p:txBody>
          <a:bodyPr vert="horz" lIns="91440" tIns="45720" rIns="91440" bIns="45720" rtlCol="0" anchor="ctr"/>
          <a:lstStyle>
            <a:lvl1pPr algn="r">
              <a:defRPr sz="1200">
                <a:solidFill>
                  <a:schemeClr val="tx1">
                    <a:tint val="75000"/>
                  </a:schemeClr>
                </a:solidFill>
              </a:defRPr>
            </a:lvl1pPr>
          </a:lstStyle>
          <a:p>
            <a:fld id="{2D836B06-9FB6-4AA1-A097-666DD28834F7}" type="slidenum">
              <a:rPr lang="en-US" smtClean="0"/>
              <a:t>‹#›</a:t>
            </a:fld>
            <a:endParaRPr lang="en-US" dirty="0"/>
          </a:p>
        </p:txBody>
      </p:sp>
      <p:pic>
        <p:nvPicPr>
          <p:cNvPr id="3" name="Picture 2"/>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11073852" y="205990"/>
            <a:ext cx="944645" cy="9446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l" defTabSz="685800" rtl="0" eaLnBrk="1" latinLnBrk="0" hangingPunct="1">
        <a:lnSpc>
          <a:spcPct val="90000"/>
        </a:lnSpc>
        <a:spcBef>
          <a:spcPct val="0"/>
        </a:spcBef>
        <a:buNone/>
        <a:defRPr sz="3600" b="1" kern="1200" spc="-38" baseline="0">
          <a:solidFill>
            <a:schemeClr val="tx1">
              <a:lumMod val="75000"/>
              <a:lumOff val="25000"/>
            </a:schemeClr>
          </a:solidFill>
          <a:latin typeface="+mn-lt"/>
          <a:ea typeface="+mj-ea"/>
          <a:cs typeface="+mj-cs"/>
        </a:defRPr>
      </a:lvl1pPr>
    </p:titleStyle>
    <p:bodyStyle>
      <a:lvl1pPr marL="200025" indent="-200025" algn="l" defTabSz="685800" rtl="0" eaLnBrk="1" latinLnBrk="0" hangingPunct="1">
        <a:lnSpc>
          <a:spcPct val="100000"/>
        </a:lnSpc>
        <a:spcBef>
          <a:spcPts val="900"/>
        </a:spcBef>
        <a:spcAft>
          <a:spcPts val="150"/>
        </a:spcAft>
        <a:buClr>
          <a:schemeClr val="accent1"/>
        </a:buClr>
        <a:buSzPct val="100000"/>
        <a:buFont typeface="Wingdings" panose="05000000000000000000" pitchFamily="2" charset="2"/>
        <a:buChar char="§"/>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CDAC-6AB4-4A7B-90D7-87428ABE7A96}"/>
              </a:ext>
            </a:extLst>
          </p:cNvPr>
          <p:cNvSpPr>
            <a:spLocks noGrp="1"/>
          </p:cNvSpPr>
          <p:nvPr>
            <p:ph type="title"/>
          </p:nvPr>
        </p:nvSpPr>
        <p:spPr>
          <a:xfrm>
            <a:off x="246888" y="2402501"/>
            <a:ext cx="4335272" cy="1450757"/>
          </a:xfrm>
        </p:spPr>
        <p:txBody>
          <a:bodyPr>
            <a:noAutofit/>
          </a:bodyPr>
          <a:lstStyle/>
          <a:p>
            <a:r>
              <a:rPr lang="en-US" sz="5400" dirty="0">
                <a:latin typeface="ADLaM Display" panose="02010000000000000000" pitchFamily="2" charset="0"/>
                <a:ea typeface="ADLaM Display" panose="02010000000000000000" pitchFamily="2" charset="0"/>
                <a:cs typeface="ADLaM Display" panose="02010000000000000000" pitchFamily="2" charset="0"/>
              </a:rPr>
              <a:t>Power BI</a:t>
            </a:r>
            <a:br>
              <a:rPr lang="en-US" sz="5400" dirty="0">
                <a:latin typeface="ADLaM Display" panose="02010000000000000000" pitchFamily="2" charset="0"/>
                <a:ea typeface="ADLaM Display" panose="02010000000000000000" pitchFamily="2" charset="0"/>
                <a:cs typeface="ADLaM Display" panose="02010000000000000000" pitchFamily="2" charset="0"/>
              </a:rPr>
            </a:br>
            <a:r>
              <a:rPr lang="en-US" sz="2800" dirty="0">
                <a:latin typeface="ADLaM Display" panose="02010000000000000000" pitchFamily="2" charset="0"/>
                <a:ea typeface="ADLaM Display" panose="02010000000000000000" pitchFamily="2" charset="0"/>
                <a:cs typeface="ADLaM Display" panose="02010000000000000000" pitchFamily="2" charset="0"/>
              </a:rPr>
              <a:t>-</a:t>
            </a:r>
            <a:r>
              <a:rPr lang="en-US" sz="2800"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Part II</a:t>
            </a:r>
            <a:endParaRPr lang="en-US" sz="66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ontent Placeholder 2">
            <a:extLst>
              <a:ext uri="{FF2B5EF4-FFF2-40B4-BE49-F238E27FC236}">
                <a16:creationId xmlns:a16="http://schemas.microsoft.com/office/drawing/2014/main" id="{28E0905C-A1AA-3986-D28A-042DCEF7892F}"/>
              </a:ext>
            </a:extLst>
          </p:cNvPr>
          <p:cNvSpPr>
            <a:spLocks noGrp="1"/>
          </p:cNvSpPr>
          <p:nvPr>
            <p:ph sz="quarter" idx="13"/>
          </p:nvPr>
        </p:nvSpPr>
        <p:spPr/>
        <p:txBody>
          <a:bodyPr>
            <a:normAutofit lnSpcReduction="10000"/>
          </a:bodyPr>
          <a:lstStyle/>
          <a:p>
            <a:r>
              <a:rPr lang="en-US" dirty="0"/>
              <a:t>mintesnot</a:t>
            </a:r>
          </a:p>
        </p:txBody>
      </p:sp>
      <p:pic>
        <p:nvPicPr>
          <p:cNvPr id="6" name="Picture 5">
            <a:extLst>
              <a:ext uri="{FF2B5EF4-FFF2-40B4-BE49-F238E27FC236}">
                <a16:creationId xmlns:a16="http://schemas.microsoft.com/office/drawing/2014/main" id="{29CEBC9E-4311-34A9-0C78-FA3EC39303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14544" y="1447038"/>
            <a:ext cx="6830568" cy="4553712"/>
          </a:xfrm>
          <a:prstGeom prst="rect">
            <a:avLst/>
          </a:prstGeom>
        </p:spPr>
      </p:pic>
      <p:pic>
        <p:nvPicPr>
          <p:cNvPr id="4" name="Picture 3">
            <a:extLst>
              <a:ext uri="{FF2B5EF4-FFF2-40B4-BE49-F238E27FC236}">
                <a16:creationId xmlns:a16="http://schemas.microsoft.com/office/drawing/2014/main" id="{7C8DF0FF-6AA6-8F05-F79C-09A2F411E50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46888" y="2802805"/>
            <a:ext cx="6296152" cy="4197435"/>
          </a:xfrm>
          <a:prstGeom prst="rect">
            <a:avLst/>
          </a:prstGeom>
        </p:spPr>
      </p:pic>
    </p:spTree>
    <p:extLst>
      <p:ext uri="{BB962C8B-B14F-4D97-AF65-F5344CB8AC3E}">
        <p14:creationId xmlns:p14="http://schemas.microsoft.com/office/powerpoint/2010/main" val="1919913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A5F557-19C5-3E57-5E7C-602DF20CAEE8}"/>
              </a:ext>
            </a:extLst>
          </p:cNvPr>
          <p:cNvSpPr>
            <a:spLocks noGrp="1"/>
          </p:cNvSpPr>
          <p:nvPr>
            <p:ph type="body" sz="quarter" idx="14"/>
          </p:nvPr>
        </p:nvSpPr>
        <p:spPr>
          <a:xfrm>
            <a:off x="5442033" y="736119"/>
            <a:ext cx="6460032" cy="6440905"/>
          </a:xfrm>
        </p:spPr>
        <p:txBody>
          <a:bodyPr>
            <a:normAutofit/>
          </a:bodyPr>
          <a:lstStyle/>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DAX</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DAX Formula</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DAX Functions</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Row Context</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Filter Context</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Calculated Column</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Measures</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Publishing Power BI Report</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Power BI Workspace</a:t>
            </a:r>
          </a:p>
          <a:p>
            <a:pPr>
              <a:buBlip>
                <a:blip r:embed="rId2"/>
              </a:buBlip>
            </a:pPr>
            <a:r>
              <a:rPr lang="en-US" dirty="0">
                <a:solidFill>
                  <a:schemeClr val="tx2"/>
                </a:solidFill>
                <a:latin typeface="ADLaM Display" panose="02010000000000000000" pitchFamily="2" charset="0"/>
                <a:ea typeface="ADLaM Display" panose="02010000000000000000" pitchFamily="2" charset="0"/>
                <a:cs typeface="ADLaM Display" panose="02010000000000000000" pitchFamily="2" charset="0"/>
              </a:rPr>
              <a:t> Power BI Dashboard</a:t>
            </a:r>
          </a:p>
        </p:txBody>
      </p:sp>
    </p:spTree>
    <p:extLst>
      <p:ext uri="{BB962C8B-B14F-4D97-AF65-F5344CB8AC3E}">
        <p14:creationId xmlns:p14="http://schemas.microsoft.com/office/powerpoint/2010/main" val="16648801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0ED19-19E7-A940-E18B-121C996BD990}"/>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DAX</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ata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nalysis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xpressions</a:t>
            </a:r>
          </a:p>
        </p:txBody>
      </p:sp>
      <p:sp>
        <p:nvSpPr>
          <p:cNvPr id="3" name="Text Placeholder 2">
            <a:extLst>
              <a:ext uri="{FF2B5EF4-FFF2-40B4-BE49-F238E27FC236}">
                <a16:creationId xmlns:a16="http://schemas.microsoft.com/office/drawing/2014/main" id="{B16DE0F4-F9EE-05EA-A7A5-F595B0063A3A}"/>
              </a:ext>
            </a:extLst>
          </p:cNvPr>
          <p:cNvSpPr>
            <a:spLocks noGrp="1"/>
          </p:cNvSpPr>
          <p:nvPr>
            <p:ph type="body" sz="quarter" idx="14"/>
          </p:nvPr>
        </p:nvSpPr>
        <p:spPr>
          <a:xfrm>
            <a:off x="5935851" y="1208868"/>
            <a:ext cx="5811864" cy="5377911"/>
          </a:xfrm>
        </p:spPr>
        <p:txBody>
          <a:bodyPr/>
          <a:lstStyle/>
          <a:p>
            <a:r>
              <a:rPr lang="en-US" dirty="0"/>
              <a:t> Data Analysis Expression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DAX</a:t>
            </a:r>
            <a:r>
              <a:rPr lang="en-US" dirty="0"/>
              <a:t>) is a useful formula and query language used to perform advanced calculations on tabular data models.</a:t>
            </a:r>
          </a:p>
          <a:p>
            <a:r>
              <a:rPr lang="en-US" dirty="0"/>
              <a:t> It enables dynamic, context-aware analysis that goes beyond traditional spreadsheet formulas.</a:t>
            </a:r>
          </a:p>
          <a:p>
            <a:r>
              <a:rPr lang="en-US" dirty="0"/>
              <a:t> Used to create custom measures, calculated columns &amp; tables.</a:t>
            </a:r>
          </a:p>
          <a:p>
            <a:r>
              <a:rPr lang="en-US" dirty="0"/>
              <a:t> Supports complex calculations with row and filter context.</a:t>
            </a:r>
          </a:p>
          <a:p>
            <a:r>
              <a:rPr lang="en-US" dirty="0"/>
              <a:t> Provides advanced functions not available in standard Excel formulas.</a:t>
            </a:r>
          </a:p>
        </p:txBody>
      </p:sp>
      <p:pic>
        <p:nvPicPr>
          <p:cNvPr id="7" name="Picture 6">
            <a:extLst>
              <a:ext uri="{FF2B5EF4-FFF2-40B4-BE49-F238E27FC236}">
                <a16:creationId xmlns:a16="http://schemas.microsoft.com/office/drawing/2014/main" id="{20819E73-66FB-EE18-B67E-8123094AB37E}"/>
              </a:ext>
            </a:extLst>
          </p:cNvPr>
          <p:cNvPicPr>
            <a:picLocks noChangeAspect="1"/>
          </p:cNvPicPr>
          <p:nvPr/>
        </p:nvPicPr>
        <p:blipFill>
          <a:blip r:embed="rId2"/>
          <a:stretch>
            <a:fillRect/>
          </a:stretch>
        </p:blipFill>
        <p:spPr>
          <a:xfrm>
            <a:off x="222795" y="2021237"/>
            <a:ext cx="5713056" cy="2856528"/>
          </a:xfrm>
          <a:prstGeom prst="rect">
            <a:avLst/>
          </a:prstGeom>
        </p:spPr>
      </p:pic>
    </p:spTree>
    <p:extLst>
      <p:ext uri="{BB962C8B-B14F-4D97-AF65-F5344CB8AC3E}">
        <p14:creationId xmlns:p14="http://schemas.microsoft.com/office/powerpoint/2010/main" val="398957451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72E73-2669-D045-A0BE-EC9F66B9CE64}"/>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DAX</a:t>
            </a:r>
            <a:r>
              <a:rPr lang="en-US" dirty="0">
                <a:latin typeface="ADLaM Display" panose="02010000000000000000" pitchFamily="2" charset="0"/>
                <a:ea typeface="ADLaM Display" panose="02010000000000000000" pitchFamily="2" charset="0"/>
                <a:cs typeface="ADLaM Display" panose="02010000000000000000" pitchFamily="2" charset="0"/>
              </a:rPr>
              <a:t> Formula</a:t>
            </a:r>
          </a:p>
        </p:txBody>
      </p:sp>
      <p:sp>
        <p:nvSpPr>
          <p:cNvPr id="3" name="Text Placeholder 2">
            <a:extLst>
              <a:ext uri="{FF2B5EF4-FFF2-40B4-BE49-F238E27FC236}">
                <a16:creationId xmlns:a16="http://schemas.microsoft.com/office/drawing/2014/main" id="{EC59FA23-6B94-A3F2-CB87-90913BFEF4BB}"/>
              </a:ext>
            </a:extLst>
          </p:cNvPr>
          <p:cNvSpPr>
            <a:spLocks noGrp="1"/>
          </p:cNvSpPr>
          <p:nvPr>
            <p:ph type="body" sz="quarter" idx="14"/>
          </p:nvPr>
        </p:nvSpPr>
        <p:spPr>
          <a:xfrm>
            <a:off x="6096000" y="975359"/>
            <a:ext cx="5855367" cy="5655335"/>
          </a:xfrm>
        </p:spPr>
        <p:txBody>
          <a:bodyPr>
            <a:normAutofit/>
          </a:bodyPr>
          <a:lstStyle/>
          <a:p>
            <a:r>
              <a:rPr lang="en-US" dirty="0"/>
              <a:t> DAX formulas are made up of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3</a:t>
            </a:r>
            <a:r>
              <a:rPr lang="en-US" dirty="0"/>
              <a:t> core components.</a:t>
            </a:r>
          </a:p>
          <a:p>
            <a:pPr marL="457200" indent="-457200">
              <a:buFont typeface="+mj-lt"/>
              <a:buAutoNum type="arabicPeriod"/>
            </a:pPr>
            <a:r>
              <a:rPr lang="en-US" b="1" dirty="0">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latin typeface="ADLaM Display" panose="02010000000000000000" pitchFamily="2" charset="0"/>
                <a:ea typeface="ADLaM Display" panose="02010000000000000000" pitchFamily="2" charset="0"/>
                <a:cs typeface="ADLaM Display" panose="02010000000000000000" pitchFamily="2" charset="0"/>
              </a:rPr>
              <a:t> </a:t>
            </a:r>
            <a:r>
              <a:rPr lang="en-US" dirty="0"/>
              <a:t>– Proper DAX syntax is made up of a variety of elements, some of which are common to all formulas.</a:t>
            </a:r>
          </a:p>
          <a:p>
            <a:pPr marL="457200" indent="-457200">
              <a:buFont typeface="+mj-lt"/>
              <a:buAutoNum type="arabicPeriod"/>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Functions</a:t>
            </a:r>
            <a:r>
              <a:rPr lang="en-US" dirty="0"/>
              <a:t> – DAX functions are predefined formulas that take some parameters and perform a specific calculation.</a:t>
            </a:r>
          </a:p>
          <a:p>
            <a:pPr marL="457200" indent="-457200">
              <a:buFont typeface="+mj-lt"/>
              <a:buAutoNum type="arabicPeriod"/>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Context</a:t>
            </a:r>
            <a:r>
              <a:rPr lang="en-US" dirty="0"/>
              <a:t> – DAX uses context to determine which rows should be used to perform a calculation.</a:t>
            </a:r>
          </a:p>
        </p:txBody>
      </p:sp>
      <p:pic>
        <p:nvPicPr>
          <p:cNvPr id="7" name="Picture 6">
            <a:extLst>
              <a:ext uri="{FF2B5EF4-FFF2-40B4-BE49-F238E27FC236}">
                <a16:creationId xmlns:a16="http://schemas.microsoft.com/office/drawing/2014/main" id="{5BD650B0-13EB-D527-8684-65E33212E18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86589" y="2079300"/>
            <a:ext cx="5855366" cy="3903578"/>
          </a:xfrm>
          <a:prstGeom prst="rect">
            <a:avLst/>
          </a:prstGeom>
        </p:spPr>
      </p:pic>
    </p:spTree>
    <p:extLst>
      <p:ext uri="{BB962C8B-B14F-4D97-AF65-F5344CB8AC3E}">
        <p14:creationId xmlns:p14="http://schemas.microsoft.com/office/powerpoint/2010/main" val="2448395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2BC1-1DFE-A828-76BD-DA5E481AA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42E95-3629-1304-5F7D-FAA1329B036C}"/>
              </a:ext>
            </a:extLst>
          </p:cNvPr>
          <p:cNvSpPr>
            <a:spLocks noGrp="1"/>
          </p:cNvSpPr>
          <p:nvPr>
            <p:ph type="title"/>
          </p:nvPr>
        </p:nvSpPr>
        <p:spPr/>
        <p:txBody>
          <a:bodyPr/>
          <a:lstStyle/>
          <a:p>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Text Placeholder 2">
            <a:extLst>
              <a:ext uri="{FF2B5EF4-FFF2-40B4-BE49-F238E27FC236}">
                <a16:creationId xmlns:a16="http://schemas.microsoft.com/office/drawing/2014/main" id="{B1372224-C4B4-65E9-ACB3-21EA5FC704AA}"/>
              </a:ext>
            </a:extLst>
          </p:cNvPr>
          <p:cNvSpPr>
            <a:spLocks noGrp="1"/>
          </p:cNvSpPr>
          <p:nvPr>
            <p:ph type="body" sz="quarter" idx="14"/>
          </p:nvPr>
        </p:nvSpPr>
        <p:spPr>
          <a:xfrm>
            <a:off x="5492375" y="805434"/>
            <a:ext cx="6458993" cy="6052566"/>
          </a:xfrm>
        </p:spPr>
        <p:txBody>
          <a:bodyPr>
            <a:normAutofit/>
          </a:bodyPr>
          <a:lstStyle/>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a:t>
            </a:r>
            <a:r>
              <a:rPr lang="en-US" dirty="0"/>
              <a:t>: The measure name,  Total Sales.</a:t>
            </a:r>
          </a:p>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B</a:t>
            </a:r>
            <a:r>
              <a:rPr lang="en-US" dirty="0"/>
              <a:t>: The equals sign operator (=), which indicates the beginning of the formula. When calculated, it will return a result.</a:t>
            </a:r>
          </a:p>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a:t>
            </a:r>
            <a:r>
              <a:rPr lang="en-US" dirty="0"/>
              <a:t>: The DAX function SUM,  which adds up all of the numbers in the Sales[SalesAmount] column. </a:t>
            </a:r>
          </a:p>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t>
            </a:r>
            <a:r>
              <a:rPr lang="en-US" dirty="0"/>
              <a:t>: Parenthesis (), which surround an expression that contains one or more arguments. Most functions require at least one argument. An argument passes a value to a function.</a:t>
            </a:r>
          </a:p>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a:t>
            </a:r>
            <a:r>
              <a:rPr lang="en-US" dirty="0"/>
              <a:t>: The referenced tables, Sales.</a:t>
            </a:r>
          </a:p>
          <a:p>
            <a:pPr>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a:t>
            </a:r>
            <a:r>
              <a:rPr lang="en-US" dirty="0"/>
              <a:t>: The referenced column, [SalesAmount], in the Sales table. With this argument, the SUM function knows on which column to aggregate a SUM.</a:t>
            </a:r>
          </a:p>
        </p:txBody>
      </p:sp>
      <p:pic>
        <p:nvPicPr>
          <p:cNvPr id="7" name="Picture 6">
            <a:extLst>
              <a:ext uri="{FF2B5EF4-FFF2-40B4-BE49-F238E27FC236}">
                <a16:creationId xmlns:a16="http://schemas.microsoft.com/office/drawing/2014/main" id="{225548A5-3C18-7E1D-7901-AAC4AE1657C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336" y="1440730"/>
            <a:ext cx="5364039" cy="1988270"/>
          </a:xfrm>
          <a:prstGeom prst="rect">
            <a:avLst/>
          </a:prstGeom>
        </p:spPr>
      </p:pic>
    </p:spTree>
    <p:extLst>
      <p:ext uri="{BB962C8B-B14F-4D97-AF65-F5344CB8AC3E}">
        <p14:creationId xmlns:p14="http://schemas.microsoft.com/office/powerpoint/2010/main" val="2795679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AC47-4F0B-B44F-CA8A-622C283F4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DE09E-15C5-81ED-59BE-65E51C58E3F3}"/>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Row Context &amp; Filter Context</a:t>
            </a:r>
          </a:p>
        </p:txBody>
      </p:sp>
      <p:sp>
        <p:nvSpPr>
          <p:cNvPr id="3" name="Text Placeholder 2">
            <a:extLst>
              <a:ext uri="{FF2B5EF4-FFF2-40B4-BE49-F238E27FC236}">
                <a16:creationId xmlns:a16="http://schemas.microsoft.com/office/drawing/2014/main" id="{4EB4E388-7FF1-C765-6160-57801D22F0CB}"/>
              </a:ext>
            </a:extLst>
          </p:cNvPr>
          <p:cNvSpPr>
            <a:spLocks noGrp="1"/>
          </p:cNvSpPr>
          <p:nvPr>
            <p:ph type="body" sz="quarter" idx="14"/>
          </p:nvPr>
        </p:nvSpPr>
        <p:spPr>
          <a:xfrm>
            <a:off x="5855366" y="1331742"/>
            <a:ext cx="6336634" cy="5655335"/>
          </a:xfrm>
        </p:spPr>
        <p:txBody>
          <a:bodyPr>
            <a:normAutofit/>
          </a:bodyPr>
          <a:lstStyle/>
          <a:p>
            <a:pPr marL="457200" indent="-457200">
              <a:buFont typeface="+mj-lt"/>
              <a:buAutoNum type="arabicPeriod"/>
            </a:pP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Row Context</a:t>
            </a:r>
            <a:r>
              <a:rPr lang="en-US" dirty="0"/>
              <a:t>: </a:t>
            </a:r>
          </a:p>
          <a:p>
            <a:pPr>
              <a:buFont typeface="Courier New" panose="02070309020205020404" pitchFamily="49" charset="0"/>
              <a:buChar char="o"/>
            </a:pPr>
            <a:r>
              <a:rPr lang="en-US" dirty="0"/>
              <a:t> It is when  Power BI  looks one row at a time in a table while doing a calculation. </a:t>
            </a:r>
          </a:p>
          <a:p>
            <a:pPr>
              <a:buFont typeface="Courier New" panose="02070309020205020404" pitchFamily="49" charset="0"/>
              <a:buChar char="o"/>
            </a:pPr>
            <a:r>
              <a:rPr lang="en-US" dirty="0"/>
              <a:t> It automatically happens when you’re working with calculated columns or functions that go through each row, like SUMX, AVERAGEX, MINX, MAXX, FILTER, etc.</a:t>
            </a:r>
          </a:p>
          <a:p>
            <a:pPr>
              <a:buFont typeface="Courier New" panose="02070309020205020404" pitchFamily="49" charset="0"/>
              <a:buChar char="o"/>
            </a:pPr>
            <a:r>
              <a:rPr lang="en-US" dirty="0"/>
              <a:t> Row context refers to the situation where Power BI evaluates an expression one row at a time within a table – but does so for each row.</a:t>
            </a:r>
          </a:p>
          <a:p>
            <a:pPr>
              <a:buFont typeface="Courier New" panose="02070309020205020404" pitchFamily="49" charset="0"/>
              <a:buChar char="o"/>
            </a:pPr>
            <a:r>
              <a:rPr lang="en-US" dirty="0"/>
              <a:t> While each row is processed individually, the calculation ultimately includes all rows (one by one).</a:t>
            </a:r>
          </a:p>
        </p:txBody>
      </p:sp>
      <p:pic>
        <p:nvPicPr>
          <p:cNvPr id="4" name="Picture 3" descr="Spreadsheet displaying sales data. Columns include Country, Product, QtySold, Year_of_Sales, SalesDate, GrossSale, NetSales, and Profit. Formula: Profit = Sales[GrossSale] - Sales[NetSales].">
            <a:extLst>
              <a:ext uri="{FF2B5EF4-FFF2-40B4-BE49-F238E27FC236}">
                <a16:creationId xmlns:a16="http://schemas.microsoft.com/office/drawing/2014/main" id="{ABC9B46B-DC23-12D0-CD5F-FACE93A0D228}"/>
              </a:ext>
            </a:extLst>
          </p:cNvPr>
          <p:cNvPicPr>
            <a:picLocks noChangeAspect="1"/>
          </p:cNvPicPr>
          <p:nvPr/>
        </p:nvPicPr>
        <p:blipFill>
          <a:blip r:embed="rId2"/>
          <a:stretch>
            <a:fillRect/>
          </a:stretch>
        </p:blipFill>
        <p:spPr>
          <a:xfrm>
            <a:off x="99207" y="2213811"/>
            <a:ext cx="5754638" cy="2854115"/>
          </a:xfrm>
          <a:prstGeom prst="rect">
            <a:avLst/>
          </a:prstGeom>
        </p:spPr>
      </p:pic>
    </p:spTree>
    <p:extLst>
      <p:ext uri="{BB962C8B-B14F-4D97-AF65-F5344CB8AC3E}">
        <p14:creationId xmlns:p14="http://schemas.microsoft.com/office/powerpoint/2010/main" val="939044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794B5-E28D-7FFC-E89F-06EF2D3E7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9A731-785E-ED09-6DAA-1B26D390AE9E}"/>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Row Context &amp; Filter Context</a:t>
            </a:r>
          </a:p>
        </p:txBody>
      </p:sp>
      <p:sp>
        <p:nvSpPr>
          <p:cNvPr id="3" name="Text Placeholder 2">
            <a:extLst>
              <a:ext uri="{FF2B5EF4-FFF2-40B4-BE49-F238E27FC236}">
                <a16:creationId xmlns:a16="http://schemas.microsoft.com/office/drawing/2014/main" id="{07625032-4833-50CD-B8C2-79BD98B6931A}"/>
              </a:ext>
            </a:extLst>
          </p:cNvPr>
          <p:cNvSpPr>
            <a:spLocks noGrp="1"/>
          </p:cNvSpPr>
          <p:nvPr>
            <p:ph type="body" sz="quarter" idx="14"/>
          </p:nvPr>
        </p:nvSpPr>
        <p:spPr>
          <a:xfrm>
            <a:off x="5855366" y="1331742"/>
            <a:ext cx="6336634" cy="5655335"/>
          </a:xfrm>
        </p:spPr>
        <p:txBody>
          <a:bodyPr>
            <a:normAutofit/>
          </a:bodyPr>
          <a:lstStyle/>
          <a:p>
            <a:pPr marL="457200" indent="-457200">
              <a:buFont typeface="+mj-lt"/>
              <a:buAutoNum type="arabicPeriod" startAt="2"/>
            </a:pPr>
            <a:r>
              <a:rPr lang="en-US" sz="2700"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sz="27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Filter Context</a:t>
            </a:r>
            <a:r>
              <a:rPr lang="en-US" sz="2700" dirty="0"/>
              <a:t>: </a:t>
            </a:r>
          </a:p>
          <a:p>
            <a:pPr>
              <a:buFont typeface="Courier New" panose="02070309020205020404" pitchFamily="49" charset="0"/>
              <a:buChar char="o"/>
            </a:pPr>
            <a:r>
              <a:rPr lang="en-US" sz="2700" dirty="0"/>
              <a:t> Filter context refers to the set of filters applied to a calculation before evaluation.</a:t>
            </a:r>
          </a:p>
          <a:p>
            <a:pPr>
              <a:buFont typeface="Courier New" panose="02070309020205020404" pitchFamily="49" charset="0"/>
              <a:buChar char="o"/>
            </a:pPr>
            <a:r>
              <a:rPr lang="en-US" sz="2700" dirty="0"/>
              <a:t> It is influenced by slicers, filters, and relationships in the data model.</a:t>
            </a:r>
          </a:p>
          <a:p>
            <a:pPr>
              <a:buFont typeface="Courier New" panose="02070309020205020404" pitchFamily="49" charset="0"/>
              <a:buChar char="o"/>
            </a:pPr>
            <a:r>
              <a:rPr lang="en-US" sz="2700" dirty="0"/>
              <a:t> It determines which rows of data are considered when calculating a measure.</a:t>
            </a:r>
          </a:p>
          <a:p>
            <a:pPr>
              <a:buFont typeface="Courier New" panose="02070309020205020404" pitchFamily="49" charset="0"/>
              <a:buChar char="o"/>
            </a:pPr>
            <a:r>
              <a:rPr lang="en-US" sz="2700" dirty="0"/>
              <a:t> It decides which data should be included in a calculation based on filters, slicers, visuals, and relationships in your data model.</a:t>
            </a:r>
          </a:p>
        </p:txBody>
      </p:sp>
      <p:pic>
        <p:nvPicPr>
          <p:cNvPr id="4" name="Picture 3">
            <a:extLst>
              <a:ext uri="{FF2B5EF4-FFF2-40B4-BE49-F238E27FC236}">
                <a16:creationId xmlns:a16="http://schemas.microsoft.com/office/drawing/2014/main" id="{033EE452-0CE6-E009-0FE1-5C73518EBA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9207" y="2828722"/>
            <a:ext cx="5754638" cy="1624292"/>
          </a:xfrm>
          <a:prstGeom prst="rect">
            <a:avLst/>
          </a:prstGeom>
        </p:spPr>
      </p:pic>
    </p:spTree>
    <p:extLst>
      <p:ext uri="{BB962C8B-B14F-4D97-AF65-F5344CB8AC3E}">
        <p14:creationId xmlns:p14="http://schemas.microsoft.com/office/powerpoint/2010/main" val="1548843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FEB28-F268-F5FE-DA91-FF8C6BD4F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4FB6C-5031-22DA-1176-0FBC38DDDAC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Row Context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Filter Context</a:t>
            </a:r>
          </a:p>
        </p:txBody>
      </p:sp>
      <p:graphicFrame>
        <p:nvGraphicFramePr>
          <p:cNvPr id="6" name="Table 5">
            <a:extLst>
              <a:ext uri="{FF2B5EF4-FFF2-40B4-BE49-F238E27FC236}">
                <a16:creationId xmlns:a16="http://schemas.microsoft.com/office/drawing/2014/main" id="{EF3ED3C2-62A9-7B68-E146-95CDA16558F5}"/>
              </a:ext>
            </a:extLst>
          </p:cNvPr>
          <p:cNvGraphicFramePr>
            <a:graphicFrameLocks noGrp="1"/>
          </p:cNvGraphicFramePr>
          <p:nvPr>
            <p:extLst>
              <p:ext uri="{D42A27DB-BD31-4B8C-83A1-F6EECF244321}">
                <p14:modId xmlns:p14="http://schemas.microsoft.com/office/powerpoint/2010/main" val="3807908786"/>
              </p:ext>
            </p:extLst>
          </p:nvPr>
        </p:nvGraphicFramePr>
        <p:xfrm>
          <a:off x="971491" y="1537813"/>
          <a:ext cx="10707162" cy="4272298"/>
        </p:xfrm>
        <a:graphic>
          <a:graphicData uri="http://schemas.openxmlformats.org/drawingml/2006/table">
            <a:tbl>
              <a:tblPr firstRow="1" bandRow="1">
                <a:tableStyleId>{3B4B98B0-60AC-42C2-AFA5-B58CD77FA1E5}</a:tableStyleId>
              </a:tblPr>
              <a:tblGrid>
                <a:gridCol w="3569054">
                  <a:extLst>
                    <a:ext uri="{9D8B030D-6E8A-4147-A177-3AD203B41FA5}">
                      <a16:colId xmlns:a16="http://schemas.microsoft.com/office/drawing/2014/main" val="3269044928"/>
                    </a:ext>
                  </a:extLst>
                </a:gridCol>
                <a:gridCol w="3569054">
                  <a:extLst>
                    <a:ext uri="{9D8B030D-6E8A-4147-A177-3AD203B41FA5}">
                      <a16:colId xmlns:a16="http://schemas.microsoft.com/office/drawing/2014/main" val="3219526527"/>
                    </a:ext>
                  </a:extLst>
                </a:gridCol>
                <a:gridCol w="3569054">
                  <a:extLst>
                    <a:ext uri="{9D8B030D-6E8A-4147-A177-3AD203B41FA5}">
                      <a16:colId xmlns:a16="http://schemas.microsoft.com/office/drawing/2014/main" val="3271271356"/>
                    </a:ext>
                  </a:extLst>
                </a:gridCol>
              </a:tblGrid>
              <a:tr h="617558">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Feature</a:t>
                      </a:r>
                    </a:p>
                  </a:txBody>
                  <a:tcPr/>
                </a:tc>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Row Context</a:t>
                      </a:r>
                    </a:p>
                  </a:txBody>
                  <a:tcPr/>
                </a:tc>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Filter Context</a:t>
                      </a:r>
                    </a:p>
                  </a:txBody>
                  <a:tcPr/>
                </a:tc>
                <a:extLst>
                  <a:ext uri="{0D108BD9-81ED-4DB2-BD59-A6C34878D82A}">
                    <a16:rowId xmlns:a16="http://schemas.microsoft.com/office/drawing/2014/main" val="2203329010"/>
                  </a:ext>
                </a:extLst>
              </a:tr>
              <a:tr h="882490">
                <a:tc>
                  <a:txBody>
                    <a:bodyPr/>
                    <a:lstStyle/>
                    <a:p>
                      <a:r>
                        <a:rPr lang="en-US" sz="2800" b="0" dirty="0"/>
                        <a:t>Applied to </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Individual rows</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Filtered data set</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50240387"/>
                  </a:ext>
                </a:extLst>
              </a:tr>
              <a:tr h="882490">
                <a:tc>
                  <a:txBody>
                    <a:bodyPr/>
                    <a:lstStyle/>
                    <a:p>
                      <a:r>
                        <a:rPr lang="en-US" sz="2800" b="0" dirty="0"/>
                        <a:t>Created by</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Iterative functions (X functions)</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Slicers, filters, relationships</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3123296180"/>
                  </a:ext>
                </a:extLst>
              </a:tr>
              <a:tr h="882490">
                <a:tc>
                  <a:txBody>
                    <a:bodyPr/>
                    <a:lstStyle/>
                    <a:p>
                      <a:r>
                        <a:rPr lang="en-US" sz="2800" b="0" dirty="0"/>
                        <a:t>Example Function</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SUMX, FILTER</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CALCULATE, ALL</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583076643"/>
                  </a:ext>
                </a:extLst>
              </a:tr>
              <a:tr h="882490">
                <a:tc>
                  <a:txBody>
                    <a:bodyPr/>
                    <a:lstStyle/>
                    <a:p>
                      <a:r>
                        <a:rPr lang="en-US" sz="2800" b="0" dirty="0"/>
                        <a:t>Can Modify?</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No, unless used inside CALCULATE</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Yes, using CALCULATE and filter functions</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074667662"/>
                  </a:ext>
                </a:extLst>
              </a:tr>
            </a:tbl>
          </a:graphicData>
        </a:graphic>
      </p:graphicFrame>
    </p:spTree>
    <p:extLst>
      <p:ext uri="{BB962C8B-B14F-4D97-AF65-F5344CB8AC3E}">
        <p14:creationId xmlns:p14="http://schemas.microsoft.com/office/powerpoint/2010/main" val="1446517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3A54-6C3E-5262-9306-580011E638CE}"/>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Calculated Columns</a:t>
            </a:r>
          </a:p>
        </p:txBody>
      </p:sp>
      <p:sp>
        <p:nvSpPr>
          <p:cNvPr id="3" name="Text Placeholder 2">
            <a:extLst>
              <a:ext uri="{FF2B5EF4-FFF2-40B4-BE49-F238E27FC236}">
                <a16:creationId xmlns:a16="http://schemas.microsoft.com/office/drawing/2014/main" id="{C95FC740-C3FB-4978-93A9-4BD6A3CBB8C1}"/>
              </a:ext>
            </a:extLst>
          </p:cNvPr>
          <p:cNvSpPr>
            <a:spLocks noGrp="1"/>
          </p:cNvSpPr>
          <p:nvPr>
            <p:ph type="body" sz="quarter" idx="14"/>
          </p:nvPr>
        </p:nvSpPr>
        <p:spPr>
          <a:xfrm>
            <a:off x="6069185" y="1443297"/>
            <a:ext cx="5930049" cy="5422726"/>
          </a:xfrm>
        </p:spPr>
        <p:txBody>
          <a:bodyPr>
            <a:normAutofit/>
          </a:bodyPr>
          <a:lstStyle/>
          <a:p>
            <a:r>
              <a:rPr lang="en-US" dirty="0"/>
              <a:t> A calculated column is a column you create using DAX.</a:t>
            </a:r>
          </a:p>
          <a:p>
            <a:r>
              <a:rPr lang="en-US" dirty="0"/>
              <a:t> It is computed row by row and stored in the data model.</a:t>
            </a:r>
          </a:p>
          <a:p>
            <a:r>
              <a:rPr lang="en-US" dirty="0"/>
              <a:t> Each row gets its own calculated value.</a:t>
            </a:r>
          </a:p>
          <a:p>
            <a:r>
              <a:rPr lang="en-US" dirty="0"/>
              <a:t> Perform row-level calculations.</a:t>
            </a:r>
          </a:p>
          <a:p>
            <a:r>
              <a:rPr lang="en-US" dirty="0"/>
              <a:t> It is used to prepare data for filtering, grouping &amp; relationships.</a:t>
            </a:r>
          </a:p>
          <a:p>
            <a:r>
              <a:rPr lang="en-US" dirty="0"/>
              <a:t> These are new columns added to a table in the data model. </a:t>
            </a:r>
          </a:p>
          <a:p>
            <a:r>
              <a:rPr lang="en-US" dirty="0"/>
              <a:t> The value of a calculated column is computed row by row, and the results are stored in the model.</a:t>
            </a:r>
          </a:p>
        </p:txBody>
      </p:sp>
      <p:pic>
        <p:nvPicPr>
          <p:cNvPr id="5" name="Picture 4">
            <a:extLst>
              <a:ext uri="{FF2B5EF4-FFF2-40B4-BE49-F238E27FC236}">
                <a16:creationId xmlns:a16="http://schemas.microsoft.com/office/drawing/2014/main" id="{38634F2E-9C4D-2195-5D4C-2FB5649776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766" y="1874920"/>
            <a:ext cx="5657852" cy="3771901"/>
          </a:xfrm>
          <a:prstGeom prst="rect">
            <a:avLst/>
          </a:prstGeom>
        </p:spPr>
      </p:pic>
    </p:spTree>
    <p:extLst>
      <p:ext uri="{BB962C8B-B14F-4D97-AF65-F5344CB8AC3E}">
        <p14:creationId xmlns:p14="http://schemas.microsoft.com/office/powerpoint/2010/main" val="948828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F7F4E-489A-03D4-D9F0-6CC3DD980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34516-E2FD-7143-1142-6B7B8DC36CAC}"/>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Measure</a:t>
            </a:r>
          </a:p>
        </p:txBody>
      </p:sp>
      <p:sp>
        <p:nvSpPr>
          <p:cNvPr id="3" name="Text Placeholder 2">
            <a:extLst>
              <a:ext uri="{FF2B5EF4-FFF2-40B4-BE49-F238E27FC236}">
                <a16:creationId xmlns:a16="http://schemas.microsoft.com/office/drawing/2014/main" id="{067A283F-379C-6C2F-D848-90D956D25F9E}"/>
              </a:ext>
            </a:extLst>
          </p:cNvPr>
          <p:cNvSpPr>
            <a:spLocks noGrp="1"/>
          </p:cNvSpPr>
          <p:nvPr>
            <p:ph type="body" sz="quarter" idx="14"/>
          </p:nvPr>
        </p:nvSpPr>
        <p:spPr>
          <a:xfrm>
            <a:off x="6069185" y="1443297"/>
            <a:ext cx="5930049" cy="5422726"/>
          </a:xfrm>
        </p:spPr>
        <p:txBody>
          <a:bodyPr>
            <a:normAutofit/>
          </a:bodyPr>
          <a:lstStyle/>
          <a:p>
            <a:r>
              <a:rPr lang="en-US" dirty="0"/>
              <a:t> A calculated column is a column you create using DAX.</a:t>
            </a:r>
          </a:p>
          <a:p>
            <a:r>
              <a:rPr lang="en-US" dirty="0"/>
              <a:t> It is computed row by row and stored in the data model.</a:t>
            </a:r>
          </a:p>
          <a:p>
            <a:r>
              <a:rPr lang="en-US" dirty="0"/>
              <a:t> Each row gets its own calculated value.</a:t>
            </a:r>
          </a:p>
          <a:p>
            <a:r>
              <a:rPr lang="en-US" dirty="0"/>
              <a:t> Perform row-level calculations.</a:t>
            </a:r>
          </a:p>
          <a:p>
            <a:r>
              <a:rPr lang="en-US" dirty="0"/>
              <a:t> It is used to prepare data for filtering, grouping &amp; relationships.</a:t>
            </a:r>
          </a:p>
          <a:p>
            <a:r>
              <a:rPr lang="en-US" dirty="0"/>
              <a:t> These are new columns added to a table in the data model. </a:t>
            </a:r>
          </a:p>
          <a:p>
            <a:r>
              <a:rPr lang="en-US" dirty="0"/>
              <a:t> The value of a calculated column is computed row by row, and the results are stored in the model.</a:t>
            </a:r>
          </a:p>
        </p:txBody>
      </p:sp>
      <p:pic>
        <p:nvPicPr>
          <p:cNvPr id="5" name="Picture 4">
            <a:extLst>
              <a:ext uri="{FF2B5EF4-FFF2-40B4-BE49-F238E27FC236}">
                <a16:creationId xmlns:a16="http://schemas.microsoft.com/office/drawing/2014/main" id="{9CA37A7C-09CE-9DDC-9B46-C7127F54A44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92766" y="1874920"/>
            <a:ext cx="5874419" cy="3916280"/>
          </a:xfrm>
          <a:prstGeom prst="rect">
            <a:avLst/>
          </a:prstGeom>
        </p:spPr>
      </p:pic>
    </p:spTree>
    <p:extLst>
      <p:ext uri="{BB962C8B-B14F-4D97-AF65-F5344CB8AC3E}">
        <p14:creationId xmlns:p14="http://schemas.microsoft.com/office/powerpoint/2010/main" val="2052497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BF7E-80B6-F7DD-3218-A4AF653374BF}"/>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latin typeface="ADLaM Display" panose="02010000000000000000" pitchFamily="2" charset="0"/>
                <a:ea typeface="ADLaM Display" panose="02010000000000000000" pitchFamily="2" charset="0"/>
                <a:cs typeface="ADLaM Display" panose="02010000000000000000" pitchFamily="2" charset="0"/>
              </a:rPr>
              <a:t> Context</a:t>
            </a:r>
          </a:p>
        </p:txBody>
      </p:sp>
      <p:sp>
        <p:nvSpPr>
          <p:cNvPr id="3" name="Text Placeholder 2">
            <a:extLst>
              <a:ext uri="{FF2B5EF4-FFF2-40B4-BE49-F238E27FC236}">
                <a16:creationId xmlns:a16="http://schemas.microsoft.com/office/drawing/2014/main" id="{AE3FF64D-A3D3-0E15-E8C6-727E4D4F12F5}"/>
              </a:ext>
            </a:extLst>
          </p:cNvPr>
          <p:cNvSpPr>
            <a:spLocks noGrp="1"/>
          </p:cNvSpPr>
          <p:nvPr>
            <p:ph type="body" sz="quarter" idx="14"/>
          </p:nvPr>
        </p:nvSpPr>
        <p:spPr/>
        <p:txBody>
          <a:bodyPr/>
          <a:lstStyle/>
          <a:p>
            <a:pPr marL="457200" indent="-457200">
              <a:buFont typeface="+mj-lt"/>
              <a:buAutoNum type="arabicPeriod"/>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Context</a:t>
            </a:r>
          </a:p>
          <a:p>
            <a:r>
              <a:rPr lang="en-US" dirty="0"/>
              <a:t> </a:t>
            </a:r>
            <a:r>
              <a:rPr lang="en-US" b="1" dirty="0"/>
              <a:t>Calculated Columns </a:t>
            </a:r>
            <a:r>
              <a:rPr lang="en-US" dirty="0"/>
              <a:t>– Evaluated in a row context. Each row is processed individually to compute the value.</a:t>
            </a:r>
          </a:p>
          <a:p>
            <a:r>
              <a:rPr lang="en-US" dirty="0"/>
              <a:t> Example: Total Price = Sales[Quantity] * Sales[Price]</a:t>
            </a:r>
          </a:p>
          <a:p>
            <a:endParaRPr lang="en-US" dirty="0"/>
          </a:p>
          <a:p>
            <a:r>
              <a:rPr lang="en-US" b="1" dirty="0"/>
              <a:t> Measures </a:t>
            </a:r>
            <a:r>
              <a:rPr lang="en-US" dirty="0"/>
              <a:t>– Evaluated in a filter context, which means their results can change based on user interactions.</a:t>
            </a:r>
          </a:p>
          <a:p>
            <a:r>
              <a:rPr lang="en-US" dirty="0"/>
              <a:t> Example: Total Sales SUM(Sales[Total Price])</a:t>
            </a:r>
          </a:p>
          <a:p>
            <a:endParaRPr lang="en-US" dirty="0"/>
          </a:p>
          <a:p>
            <a:pPr marL="0" indent="0">
              <a:buNone/>
            </a:pPr>
            <a:r>
              <a:rPr lang="en-US" dirty="0"/>
              <a:t>  </a:t>
            </a:r>
          </a:p>
        </p:txBody>
      </p:sp>
    </p:spTree>
    <p:extLst>
      <p:ext uri="{BB962C8B-B14F-4D97-AF65-F5344CB8AC3E}">
        <p14:creationId xmlns:p14="http://schemas.microsoft.com/office/powerpoint/2010/main" val="168209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9B67-39E5-9472-4F05-0ADF1E65C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FC2B9-8CF0-C6AC-8E0E-44359E7A3ABB}"/>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latin typeface="ADLaM Display" panose="02010000000000000000" pitchFamily="2" charset="0"/>
                <a:ea typeface="ADLaM Display" panose="02010000000000000000" pitchFamily="2" charset="0"/>
                <a:cs typeface="ADLaM Display" panose="02010000000000000000" pitchFamily="2" charset="0"/>
              </a:rPr>
              <a:t> Storage</a:t>
            </a:r>
          </a:p>
        </p:txBody>
      </p:sp>
      <p:sp>
        <p:nvSpPr>
          <p:cNvPr id="3" name="Text Placeholder 2">
            <a:extLst>
              <a:ext uri="{FF2B5EF4-FFF2-40B4-BE49-F238E27FC236}">
                <a16:creationId xmlns:a16="http://schemas.microsoft.com/office/drawing/2014/main" id="{26F4F0FC-CBCC-27E5-A248-577DAC9D6E33}"/>
              </a:ext>
            </a:extLst>
          </p:cNvPr>
          <p:cNvSpPr>
            <a:spLocks noGrp="1"/>
          </p:cNvSpPr>
          <p:nvPr>
            <p:ph type="body" sz="quarter" idx="14"/>
          </p:nvPr>
        </p:nvSpPr>
        <p:spPr/>
        <p:txBody>
          <a:bodyPr/>
          <a:lstStyle/>
          <a:p>
            <a:pPr marL="457200" indent="-457200">
              <a:buFont typeface="+mj-lt"/>
              <a:buAutoNum type="arabicPeriod" startAt="2"/>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Storage</a:t>
            </a:r>
          </a:p>
          <a:p>
            <a:r>
              <a:rPr lang="en-US" dirty="0"/>
              <a:t> </a:t>
            </a:r>
            <a:r>
              <a:rPr lang="en-US" b="1" dirty="0"/>
              <a:t>Calculated Columns </a:t>
            </a:r>
            <a:r>
              <a:rPr lang="en-US" dirty="0"/>
              <a:t>– The results are stored in the data model, which can increase the size of the model. </a:t>
            </a:r>
          </a:p>
          <a:p>
            <a:r>
              <a:rPr lang="en-US" dirty="0"/>
              <a:t> Once calculated, the values are fixed until the data is refreshed.</a:t>
            </a:r>
          </a:p>
          <a:p>
            <a:endParaRPr lang="en-US" dirty="0"/>
          </a:p>
          <a:p>
            <a:r>
              <a:rPr lang="en-US" dirty="0"/>
              <a:t> </a:t>
            </a:r>
            <a:r>
              <a:rPr lang="en-US" b="1" dirty="0"/>
              <a:t>Measures</a:t>
            </a:r>
            <a:r>
              <a:rPr lang="en-US" dirty="0"/>
              <a:t> – Not stored in the model. The calculation is performed each time the measure is referenced in a report.</a:t>
            </a:r>
          </a:p>
          <a:p>
            <a:r>
              <a:rPr lang="en-US" dirty="0"/>
              <a:t> More efficient in terms of memory usage, especially for large datasets.</a:t>
            </a:r>
          </a:p>
          <a:p>
            <a:pPr marL="0" indent="0">
              <a:buNone/>
            </a:pPr>
            <a:r>
              <a:rPr lang="en-US" dirty="0"/>
              <a:t>  </a:t>
            </a:r>
          </a:p>
        </p:txBody>
      </p:sp>
    </p:spTree>
    <p:extLst>
      <p:ext uri="{BB962C8B-B14F-4D97-AF65-F5344CB8AC3E}">
        <p14:creationId xmlns:p14="http://schemas.microsoft.com/office/powerpoint/2010/main" val="2980702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EE217-2F71-FE25-78BE-E3969D8A0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C87B2-9ABE-EA97-07A8-E1BCBC2F921D}"/>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Calculated Columns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Vs. </a:t>
            </a:r>
            <a:r>
              <a:rPr lang="en-US" dirty="0">
                <a:latin typeface="ADLaM Display" panose="02010000000000000000" pitchFamily="2" charset="0"/>
                <a:ea typeface="ADLaM Display" panose="02010000000000000000" pitchFamily="2" charset="0"/>
                <a:cs typeface="ADLaM Display" panose="02010000000000000000" pitchFamily="2" charset="0"/>
              </a:rPr>
              <a:t>Measure</a:t>
            </a:r>
          </a:p>
        </p:txBody>
      </p:sp>
      <p:graphicFrame>
        <p:nvGraphicFramePr>
          <p:cNvPr id="7" name="Table 6">
            <a:extLst>
              <a:ext uri="{FF2B5EF4-FFF2-40B4-BE49-F238E27FC236}">
                <a16:creationId xmlns:a16="http://schemas.microsoft.com/office/drawing/2014/main" id="{239F6D95-0B87-896F-6391-EA62FAF136E4}"/>
              </a:ext>
            </a:extLst>
          </p:cNvPr>
          <p:cNvGraphicFramePr>
            <a:graphicFrameLocks noGrp="1"/>
          </p:cNvGraphicFramePr>
          <p:nvPr>
            <p:extLst>
              <p:ext uri="{D42A27DB-BD31-4B8C-83A1-F6EECF244321}">
                <p14:modId xmlns:p14="http://schemas.microsoft.com/office/powerpoint/2010/main" val="2656267440"/>
              </p:ext>
            </p:extLst>
          </p:nvPr>
        </p:nvGraphicFramePr>
        <p:xfrm>
          <a:off x="971491" y="1537813"/>
          <a:ext cx="10707162" cy="4180176"/>
        </p:xfrm>
        <a:graphic>
          <a:graphicData uri="http://schemas.openxmlformats.org/drawingml/2006/table">
            <a:tbl>
              <a:tblPr firstRow="1" bandRow="1">
                <a:tableStyleId>{3B4B98B0-60AC-42C2-AFA5-B58CD77FA1E5}</a:tableStyleId>
              </a:tblPr>
              <a:tblGrid>
                <a:gridCol w="3569054">
                  <a:extLst>
                    <a:ext uri="{9D8B030D-6E8A-4147-A177-3AD203B41FA5}">
                      <a16:colId xmlns:a16="http://schemas.microsoft.com/office/drawing/2014/main" val="3269044928"/>
                    </a:ext>
                  </a:extLst>
                </a:gridCol>
                <a:gridCol w="3569054">
                  <a:extLst>
                    <a:ext uri="{9D8B030D-6E8A-4147-A177-3AD203B41FA5}">
                      <a16:colId xmlns:a16="http://schemas.microsoft.com/office/drawing/2014/main" val="3219526527"/>
                    </a:ext>
                  </a:extLst>
                </a:gridCol>
                <a:gridCol w="3569054">
                  <a:extLst>
                    <a:ext uri="{9D8B030D-6E8A-4147-A177-3AD203B41FA5}">
                      <a16:colId xmlns:a16="http://schemas.microsoft.com/office/drawing/2014/main" val="3271271356"/>
                    </a:ext>
                  </a:extLst>
                </a:gridCol>
              </a:tblGrid>
              <a:tr h="650216">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Feature</a:t>
                      </a:r>
                    </a:p>
                  </a:txBody>
                  <a:tcPr/>
                </a:tc>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Calculated Column</a:t>
                      </a:r>
                    </a:p>
                  </a:txBody>
                  <a:tcPr/>
                </a:tc>
                <a:tc>
                  <a:txBody>
                    <a:bodyPr/>
                    <a:lstStyle/>
                    <a:p>
                      <a:pPr algn="ctr"/>
                      <a:r>
                        <a:rPr lang="en-US" sz="2800" b="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Measure</a:t>
                      </a:r>
                    </a:p>
                  </a:txBody>
                  <a:tcPr/>
                </a:tc>
                <a:extLst>
                  <a:ext uri="{0D108BD9-81ED-4DB2-BD59-A6C34878D82A}">
                    <a16:rowId xmlns:a16="http://schemas.microsoft.com/office/drawing/2014/main" val="2203329010"/>
                  </a:ext>
                </a:extLst>
              </a:tr>
              <a:tr h="882490">
                <a:tc>
                  <a:txBody>
                    <a:bodyPr/>
                    <a:lstStyle/>
                    <a:p>
                      <a:r>
                        <a:rPr lang="en-US" sz="2800" b="0" dirty="0"/>
                        <a:t>Calculation</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Row-by-row</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Aggregated</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50240387"/>
                  </a:ext>
                </a:extLst>
              </a:tr>
              <a:tr h="882490">
                <a:tc>
                  <a:txBody>
                    <a:bodyPr/>
                    <a:lstStyle/>
                    <a:p>
                      <a:r>
                        <a:rPr lang="en-US" sz="2800" b="0" dirty="0"/>
                        <a:t>Storage</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Stored in table</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Not stored</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3123296180"/>
                  </a:ext>
                </a:extLst>
              </a:tr>
              <a:tr h="882490">
                <a:tc>
                  <a:txBody>
                    <a:bodyPr/>
                    <a:lstStyle/>
                    <a:p>
                      <a:r>
                        <a:rPr lang="en-US" sz="2800" b="0" dirty="0"/>
                        <a:t>Context</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Row context</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Filter context</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583076643"/>
                  </a:ext>
                </a:extLst>
              </a:tr>
              <a:tr h="882490">
                <a:tc>
                  <a:txBody>
                    <a:bodyPr/>
                    <a:lstStyle/>
                    <a:p>
                      <a:r>
                        <a:rPr lang="en-US" sz="2800" b="0" dirty="0"/>
                        <a:t>Performance</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Slower with large data</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800" b="0" dirty="0"/>
                        <a:t>More efficient</a:t>
                      </a:r>
                      <a:endParaRPr lang="en-US" sz="2800" b="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074667662"/>
                  </a:ext>
                </a:extLst>
              </a:tr>
            </a:tbl>
          </a:graphicData>
        </a:graphic>
      </p:graphicFrame>
    </p:spTree>
    <p:extLst>
      <p:ext uri="{BB962C8B-B14F-4D97-AF65-F5344CB8AC3E}">
        <p14:creationId xmlns:p14="http://schemas.microsoft.com/office/powerpoint/2010/main" val="3923765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C0AD2-03B4-1FD2-1693-24B50A6EF194}"/>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COUNT</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AB09A63E-D8D9-F5DC-840C-C67097313410}"/>
              </a:ext>
            </a:extLst>
          </p:cNvPr>
          <p:cNvSpPr>
            <a:spLocks noGrp="1"/>
          </p:cNvSpPr>
          <p:nvPr>
            <p:ph type="body" sz="quarter" idx="14"/>
          </p:nvPr>
        </p:nvSpPr>
        <p:spPr>
          <a:xfrm>
            <a:off x="643573" y="1533672"/>
            <a:ext cx="11067163"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COUNT</a:t>
            </a:r>
            <a:r>
              <a:rPr lang="en-US" dirty="0"/>
              <a:t>: It returns the total number of items in the column.</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COUNTROWS</a:t>
            </a:r>
            <a:r>
              <a:rPr lang="en-US" dirty="0"/>
              <a:t>: It returns the number of rows in the table.</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DISTINCTCOUNT</a:t>
            </a:r>
            <a:r>
              <a:rPr lang="en-US" dirty="0"/>
              <a:t>: It returns the number of distinct values in the values column.</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COUNTA</a:t>
            </a:r>
            <a:r>
              <a:rPr lang="en-US" dirty="0"/>
              <a:t>: It counts the number of items in a column, that is not empty i.e. occupied.</a:t>
            </a:r>
          </a:p>
          <a:p>
            <a:pPr marL="0" indent="0">
              <a:buNone/>
            </a:pPr>
            <a:endParaRPr lang="en-US" dirty="0"/>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COUNTBLANK</a:t>
            </a:r>
            <a:r>
              <a:rPr lang="en-US" dirty="0"/>
              <a:t>: It counts blank cells in a single column.</a:t>
            </a:r>
          </a:p>
        </p:txBody>
      </p:sp>
      <p:sp>
        <p:nvSpPr>
          <p:cNvPr id="14" name="Rectangle: Rounded Corners 13">
            <a:extLst>
              <a:ext uri="{FF2B5EF4-FFF2-40B4-BE49-F238E27FC236}">
                <a16:creationId xmlns:a16="http://schemas.microsoft.com/office/drawing/2014/main" id="{32CA4891-5C1B-3FE1-F8C6-9A43611AA69A}"/>
              </a:ext>
            </a:extLst>
          </p:cNvPr>
          <p:cNvSpPr/>
          <p:nvPr/>
        </p:nvSpPr>
        <p:spPr>
          <a:xfrm>
            <a:off x="1156921" y="198922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COUNT(&lt;column name&gt;)</a:t>
            </a:r>
          </a:p>
        </p:txBody>
      </p:sp>
      <p:sp>
        <p:nvSpPr>
          <p:cNvPr id="15" name="Rectangle: Rounded Corners 14">
            <a:extLst>
              <a:ext uri="{FF2B5EF4-FFF2-40B4-BE49-F238E27FC236}">
                <a16:creationId xmlns:a16="http://schemas.microsoft.com/office/drawing/2014/main" id="{DFAB94EA-A486-755E-0335-C55F9CD096E2}"/>
              </a:ext>
            </a:extLst>
          </p:cNvPr>
          <p:cNvSpPr/>
          <p:nvPr/>
        </p:nvSpPr>
        <p:spPr>
          <a:xfrm>
            <a:off x="1156921" y="2877907"/>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COUNTROWS(&lt;table name&gt;)</a:t>
            </a:r>
          </a:p>
        </p:txBody>
      </p:sp>
      <p:sp>
        <p:nvSpPr>
          <p:cNvPr id="16" name="Rectangle: Rounded Corners 15">
            <a:extLst>
              <a:ext uri="{FF2B5EF4-FFF2-40B4-BE49-F238E27FC236}">
                <a16:creationId xmlns:a16="http://schemas.microsoft.com/office/drawing/2014/main" id="{73192342-DD71-5BB9-01D3-6DB439B117CF}"/>
              </a:ext>
            </a:extLst>
          </p:cNvPr>
          <p:cNvSpPr/>
          <p:nvPr/>
        </p:nvSpPr>
        <p:spPr>
          <a:xfrm>
            <a:off x="1156921" y="3762698"/>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DISTINCTCOUNT(&lt;column name&gt;)</a:t>
            </a:r>
          </a:p>
        </p:txBody>
      </p:sp>
      <p:sp>
        <p:nvSpPr>
          <p:cNvPr id="17" name="Rectangle: Rounded Corners 16">
            <a:extLst>
              <a:ext uri="{FF2B5EF4-FFF2-40B4-BE49-F238E27FC236}">
                <a16:creationId xmlns:a16="http://schemas.microsoft.com/office/drawing/2014/main" id="{AB231A18-0ABD-8B72-A298-0650BF5BF260}"/>
              </a:ext>
            </a:extLst>
          </p:cNvPr>
          <p:cNvSpPr/>
          <p:nvPr/>
        </p:nvSpPr>
        <p:spPr>
          <a:xfrm>
            <a:off x="1156921" y="4813866"/>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COUNTA(&lt;column name&gt;)</a:t>
            </a:r>
          </a:p>
        </p:txBody>
      </p:sp>
      <p:sp>
        <p:nvSpPr>
          <p:cNvPr id="18" name="Rectangle: Rounded Corners 17">
            <a:extLst>
              <a:ext uri="{FF2B5EF4-FFF2-40B4-BE49-F238E27FC236}">
                <a16:creationId xmlns:a16="http://schemas.microsoft.com/office/drawing/2014/main" id="{20E431A4-EBB7-0D69-2C84-A9E6A53F8472}"/>
              </a:ext>
            </a:extLst>
          </p:cNvPr>
          <p:cNvSpPr/>
          <p:nvPr/>
        </p:nvSpPr>
        <p:spPr>
          <a:xfrm>
            <a:off x="1156921" y="6152025"/>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COUNTBLANK(&lt;column name&gt;)</a:t>
            </a:r>
          </a:p>
        </p:txBody>
      </p:sp>
    </p:spTree>
    <p:extLst>
      <p:ext uri="{BB962C8B-B14F-4D97-AF65-F5344CB8AC3E}">
        <p14:creationId xmlns:p14="http://schemas.microsoft.com/office/powerpoint/2010/main" val="3942619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52912-B48D-7835-48AC-852E82057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1CDA7-6AEC-D2D7-65E8-C161C930203E}"/>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DATETIME</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7F32AAC4-9602-0DE4-ED19-8E78576B7752}"/>
              </a:ext>
            </a:extLst>
          </p:cNvPr>
          <p:cNvSpPr>
            <a:spLocks noGrp="1"/>
          </p:cNvSpPr>
          <p:nvPr>
            <p:ph type="body" sz="quarter" idx="14"/>
          </p:nvPr>
        </p:nvSpPr>
        <p:spPr>
          <a:xfrm>
            <a:off x="675657" y="1331742"/>
            <a:ext cx="11067163"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DATE</a:t>
            </a:r>
            <a:r>
              <a:rPr lang="en-US" dirty="0"/>
              <a:t>: Returns a date value from year, month and day.</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HOUR</a:t>
            </a:r>
            <a:r>
              <a:rPr lang="en-US" dirty="0"/>
              <a:t>: Returns the hour as a number from 0 to 23.</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TODAY</a:t>
            </a:r>
            <a:r>
              <a:rPr lang="en-US" dirty="0"/>
              <a:t>: It returns today’s date.</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WEEKDAY</a:t>
            </a:r>
            <a:r>
              <a:rPr lang="en-US" dirty="0"/>
              <a:t>: It returns values between 1-7 where according to the day number in a week where 1 refers to Sunday and 7 is Saturday..</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NOW</a:t>
            </a:r>
            <a:r>
              <a:rPr lang="en-US" dirty="0"/>
              <a:t>: It returns the current date and time in datetime format.</a:t>
            </a:r>
          </a:p>
        </p:txBody>
      </p:sp>
      <p:sp>
        <p:nvSpPr>
          <p:cNvPr id="14" name="Rectangle: Rounded Corners 13">
            <a:extLst>
              <a:ext uri="{FF2B5EF4-FFF2-40B4-BE49-F238E27FC236}">
                <a16:creationId xmlns:a16="http://schemas.microsoft.com/office/drawing/2014/main" id="{B6EEB5EA-CEA0-D552-209D-5D51AA725375}"/>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DATE(&lt;year&gt;, &lt;month&gt;, &lt;day&gt;)</a:t>
            </a:r>
          </a:p>
        </p:txBody>
      </p:sp>
      <p:sp>
        <p:nvSpPr>
          <p:cNvPr id="15" name="Rectangle: Rounded Corners 14">
            <a:extLst>
              <a:ext uri="{FF2B5EF4-FFF2-40B4-BE49-F238E27FC236}">
                <a16:creationId xmlns:a16="http://schemas.microsoft.com/office/drawing/2014/main" id="{59CC3490-4516-3AC8-995F-7A88658CD09A}"/>
              </a:ext>
            </a:extLst>
          </p:cNvPr>
          <p:cNvSpPr/>
          <p:nvPr/>
        </p:nvSpPr>
        <p:spPr>
          <a:xfrm>
            <a:off x="1156919" y="265703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HOUR(&lt;datetime&gt;)</a:t>
            </a:r>
          </a:p>
        </p:txBody>
      </p:sp>
      <p:sp>
        <p:nvSpPr>
          <p:cNvPr id="16" name="Rectangle: Rounded Corners 15">
            <a:extLst>
              <a:ext uri="{FF2B5EF4-FFF2-40B4-BE49-F238E27FC236}">
                <a16:creationId xmlns:a16="http://schemas.microsoft.com/office/drawing/2014/main" id="{62732847-C93B-AA8D-ADA6-234218C37F31}"/>
              </a:ext>
            </a:extLst>
          </p:cNvPr>
          <p:cNvSpPr/>
          <p:nvPr/>
        </p:nvSpPr>
        <p:spPr>
          <a:xfrm>
            <a:off x="1156919" y="355126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TODAY()</a:t>
            </a:r>
          </a:p>
        </p:txBody>
      </p:sp>
      <p:sp>
        <p:nvSpPr>
          <p:cNvPr id="17" name="Rectangle: Rounded Corners 16">
            <a:extLst>
              <a:ext uri="{FF2B5EF4-FFF2-40B4-BE49-F238E27FC236}">
                <a16:creationId xmlns:a16="http://schemas.microsoft.com/office/drawing/2014/main" id="{8624A218-29B3-B8B5-78D4-ED6C726943C3}"/>
              </a:ext>
            </a:extLst>
          </p:cNvPr>
          <p:cNvSpPr/>
          <p:nvPr/>
        </p:nvSpPr>
        <p:spPr>
          <a:xfrm>
            <a:off x="1156919" y="477149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WEEKDAY(&lt;date&gt;, &lt;</a:t>
            </a:r>
            <a:r>
              <a:rPr lang="en-US" b="1" dirty="0" err="1">
                <a:solidFill>
                  <a:schemeClr val="tx1"/>
                </a:solidFill>
              </a:rPr>
              <a:t>return_type</a:t>
            </a:r>
            <a:r>
              <a:rPr lang="en-US" b="1" dirty="0">
                <a:solidFill>
                  <a:schemeClr val="tx1"/>
                </a:solidFill>
              </a:rPr>
              <a:t>&gt;)</a:t>
            </a:r>
          </a:p>
        </p:txBody>
      </p:sp>
      <p:sp>
        <p:nvSpPr>
          <p:cNvPr id="18" name="Rectangle: Rounded Corners 17">
            <a:extLst>
              <a:ext uri="{FF2B5EF4-FFF2-40B4-BE49-F238E27FC236}">
                <a16:creationId xmlns:a16="http://schemas.microsoft.com/office/drawing/2014/main" id="{8523B761-B281-BA84-2259-1110D7E71BF1}"/>
              </a:ext>
            </a:extLst>
          </p:cNvPr>
          <p:cNvSpPr/>
          <p:nvPr/>
        </p:nvSpPr>
        <p:spPr>
          <a:xfrm>
            <a:off x="1156918" y="5917396"/>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NOW()</a:t>
            </a:r>
          </a:p>
        </p:txBody>
      </p:sp>
    </p:spTree>
    <p:extLst>
      <p:ext uri="{BB962C8B-B14F-4D97-AF65-F5344CB8AC3E}">
        <p14:creationId xmlns:p14="http://schemas.microsoft.com/office/powerpoint/2010/main" val="2557209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19439-7349-844D-FA28-5063638A7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FBAE7-A12B-1881-DF10-0BF34313B7E4}"/>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AGGREGATE</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039EB433-7EC6-DA4D-CCC9-13256F20C16C}"/>
              </a:ext>
            </a:extLst>
          </p:cNvPr>
          <p:cNvSpPr>
            <a:spLocks noGrp="1"/>
          </p:cNvSpPr>
          <p:nvPr>
            <p:ph type="body" sz="quarter" idx="14"/>
          </p:nvPr>
        </p:nvSpPr>
        <p:spPr>
          <a:xfrm>
            <a:off x="675657" y="1331742"/>
            <a:ext cx="11067163"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MIN</a:t>
            </a:r>
            <a:r>
              <a:rPr lang="en-US" dirty="0"/>
              <a:t>: Finds the minimum value in a given column or between two expressions.</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MAX</a:t>
            </a:r>
            <a:r>
              <a:rPr lang="en-US" dirty="0"/>
              <a:t>: Returns the maximum value in a given column or between two expressions.</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SUM</a:t>
            </a:r>
            <a:r>
              <a:rPr lang="en-US" dirty="0"/>
              <a:t>: The formula adds the values in a column to product a total.</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AVERAGE</a:t>
            </a:r>
            <a:r>
              <a:rPr lang="en-US" dirty="0"/>
              <a:t>: It takes columns of data and returns the average.</a:t>
            </a:r>
          </a:p>
          <a:p>
            <a:pPr marL="0" indent="0">
              <a:buNone/>
            </a:pPr>
            <a:endParaRPr lang="en-US" dirty="0"/>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MINX</a:t>
            </a:r>
            <a:r>
              <a:rPr lang="en-US" dirty="0"/>
              <a:t>: Calculates the minimum value after evaluating each row expression in a table.</a:t>
            </a:r>
          </a:p>
        </p:txBody>
      </p:sp>
      <p:sp>
        <p:nvSpPr>
          <p:cNvPr id="14" name="Rectangle: Rounded Corners 13">
            <a:extLst>
              <a:ext uri="{FF2B5EF4-FFF2-40B4-BE49-F238E27FC236}">
                <a16:creationId xmlns:a16="http://schemas.microsoft.com/office/drawing/2014/main" id="{16254480-F1C9-BBBA-8F78-A9CD895DCA5D}"/>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MIN(&lt;column&gt;) or MIN(&lt;exp1&gt;,&lt;exp2&gt;)</a:t>
            </a:r>
          </a:p>
        </p:txBody>
      </p:sp>
      <p:sp>
        <p:nvSpPr>
          <p:cNvPr id="15" name="Rectangle: Rounded Corners 14">
            <a:extLst>
              <a:ext uri="{FF2B5EF4-FFF2-40B4-BE49-F238E27FC236}">
                <a16:creationId xmlns:a16="http://schemas.microsoft.com/office/drawing/2014/main" id="{24D1A6A0-997E-0DAB-7C16-CDB00FA1387F}"/>
              </a:ext>
            </a:extLst>
          </p:cNvPr>
          <p:cNvSpPr/>
          <p:nvPr/>
        </p:nvSpPr>
        <p:spPr>
          <a:xfrm>
            <a:off x="1156919" y="265703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MAX(&lt;column&gt;) or MAX(&lt;exp1&gt;, &lt;exp2&gt;)</a:t>
            </a:r>
          </a:p>
        </p:txBody>
      </p:sp>
      <p:sp>
        <p:nvSpPr>
          <p:cNvPr id="16" name="Rectangle: Rounded Corners 15">
            <a:extLst>
              <a:ext uri="{FF2B5EF4-FFF2-40B4-BE49-F238E27FC236}">
                <a16:creationId xmlns:a16="http://schemas.microsoft.com/office/drawing/2014/main" id="{BD0E0A17-AEF8-C1F8-1637-2A2056E85137}"/>
              </a:ext>
            </a:extLst>
          </p:cNvPr>
          <p:cNvSpPr/>
          <p:nvPr/>
        </p:nvSpPr>
        <p:spPr>
          <a:xfrm>
            <a:off x="1156919" y="355126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SUM(Sales[Amount])</a:t>
            </a:r>
          </a:p>
        </p:txBody>
      </p:sp>
      <p:sp>
        <p:nvSpPr>
          <p:cNvPr id="17" name="Rectangle: Rounded Corners 16">
            <a:extLst>
              <a:ext uri="{FF2B5EF4-FFF2-40B4-BE49-F238E27FC236}">
                <a16:creationId xmlns:a16="http://schemas.microsoft.com/office/drawing/2014/main" id="{83AFDB18-9FD2-9DEB-3213-9C3753558E2C}"/>
              </a:ext>
            </a:extLst>
          </p:cNvPr>
          <p:cNvSpPr/>
          <p:nvPr/>
        </p:nvSpPr>
        <p:spPr>
          <a:xfrm>
            <a:off x="1156918" y="4670529"/>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AVERAGE(Sales[Amount])</a:t>
            </a:r>
          </a:p>
        </p:txBody>
      </p:sp>
      <p:sp>
        <p:nvSpPr>
          <p:cNvPr id="18" name="Rectangle: Rounded Corners 17">
            <a:extLst>
              <a:ext uri="{FF2B5EF4-FFF2-40B4-BE49-F238E27FC236}">
                <a16:creationId xmlns:a16="http://schemas.microsoft.com/office/drawing/2014/main" id="{2B53505F-2BFB-3D47-31FC-4BF17B5CB0A0}"/>
              </a:ext>
            </a:extLst>
          </p:cNvPr>
          <p:cNvSpPr/>
          <p:nvPr/>
        </p:nvSpPr>
        <p:spPr>
          <a:xfrm>
            <a:off x="1156918" y="5917396"/>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MINX(&lt;table&gt;, &lt;expression&gt;)</a:t>
            </a:r>
          </a:p>
        </p:txBody>
      </p:sp>
    </p:spTree>
    <p:extLst>
      <p:ext uri="{BB962C8B-B14F-4D97-AF65-F5344CB8AC3E}">
        <p14:creationId xmlns:p14="http://schemas.microsoft.com/office/powerpoint/2010/main" val="657325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F8DAC-2CA3-0E6C-EF23-69F827EEA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89CE9-D56B-EE49-8BE3-359BCDC1B595}"/>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Logical</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D94C665F-28CA-840D-7180-99811AE3DEBB}"/>
              </a:ext>
            </a:extLst>
          </p:cNvPr>
          <p:cNvSpPr>
            <a:spLocks noGrp="1"/>
          </p:cNvSpPr>
          <p:nvPr>
            <p:ph type="body" sz="quarter" idx="14"/>
          </p:nvPr>
        </p:nvSpPr>
        <p:spPr>
          <a:xfrm>
            <a:off x="675657" y="1331742"/>
            <a:ext cx="11067163"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AND</a:t>
            </a:r>
            <a:r>
              <a:rPr lang="en-US" dirty="0"/>
              <a:t>: Combines 2 expressions logically.</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OR</a:t>
            </a:r>
            <a:r>
              <a:rPr lang="en-US" dirty="0"/>
              <a:t>: This function performs the logical disjunction on 2 expressions.</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NOT</a:t>
            </a:r>
            <a:r>
              <a:rPr lang="en-US" dirty="0"/>
              <a:t>: Negates the given expression logically.</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IF</a:t>
            </a:r>
            <a:r>
              <a:rPr lang="en-US" dirty="0"/>
              <a:t>: It checks IF a criterion is true and returns one value if it is and another value if it is not.</a:t>
            </a:r>
          </a:p>
          <a:p>
            <a:pPr marL="0" indent="0">
              <a:buNone/>
            </a:pPr>
            <a:endParaRPr lang="en-US" dirty="0"/>
          </a:p>
        </p:txBody>
      </p:sp>
      <p:sp>
        <p:nvSpPr>
          <p:cNvPr id="14" name="Rectangle: Rounded Corners 13">
            <a:extLst>
              <a:ext uri="{FF2B5EF4-FFF2-40B4-BE49-F238E27FC236}">
                <a16:creationId xmlns:a16="http://schemas.microsoft.com/office/drawing/2014/main" id="{F3607471-93D7-1106-447C-1BB500157475}"/>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AND(&lt;logical1&gt;, &lt;logical2&gt;)</a:t>
            </a:r>
          </a:p>
        </p:txBody>
      </p:sp>
      <p:sp>
        <p:nvSpPr>
          <p:cNvPr id="15" name="Rectangle: Rounded Corners 14">
            <a:extLst>
              <a:ext uri="{FF2B5EF4-FFF2-40B4-BE49-F238E27FC236}">
                <a16:creationId xmlns:a16="http://schemas.microsoft.com/office/drawing/2014/main" id="{478C6484-52BC-8F0D-B8DC-FE28E7096500}"/>
              </a:ext>
            </a:extLst>
          </p:cNvPr>
          <p:cNvSpPr/>
          <p:nvPr/>
        </p:nvSpPr>
        <p:spPr>
          <a:xfrm>
            <a:off x="1156919" y="265703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OR(&lt;logical1&gt;, &lt;logical2&gt;)</a:t>
            </a:r>
          </a:p>
        </p:txBody>
      </p:sp>
      <p:sp>
        <p:nvSpPr>
          <p:cNvPr id="16" name="Rectangle: Rounded Corners 15">
            <a:extLst>
              <a:ext uri="{FF2B5EF4-FFF2-40B4-BE49-F238E27FC236}">
                <a16:creationId xmlns:a16="http://schemas.microsoft.com/office/drawing/2014/main" id="{D204E66F-26A6-93D4-9CCF-CF4B9250F7BC}"/>
              </a:ext>
            </a:extLst>
          </p:cNvPr>
          <p:cNvSpPr/>
          <p:nvPr/>
        </p:nvSpPr>
        <p:spPr>
          <a:xfrm>
            <a:off x="1156919" y="355126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NOT(&lt;logic&gt;)</a:t>
            </a:r>
          </a:p>
        </p:txBody>
      </p:sp>
      <p:sp>
        <p:nvSpPr>
          <p:cNvPr id="17" name="Rectangle: Rounded Corners 16">
            <a:extLst>
              <a:ext uri="{FF2B5EF4-FFF2-40B4-BE49-F238E27FC236}">
                <a16:creationId xmlns:a16="http://schemas.microsoft.com/office/drawing/2014/main" id="{40AD6DC5-32E5-C824-E878-F66247B70BD4}"/>
              </a:ext>
            </a:extLst>
          </p:cNvPr>
          <p:cNvSpPr/>
          <p:nvPr/>
        </p:nvSpPr>
        <p:spPr>
          <a:xfrm>
            <a:off x="1156918" y="4802882"/>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IF(&lt;</a:t>
            </a:r>
            <a:r>
              <a:rPr lang="en-US" b="1" dirty="0" err="1">
                <a:solidFill>
                  <a:schemeClr val="tx1"/>
                </a:solidFill>
              </a:rPr>
              <a:t>logical_test</a:t>
            </a:r>
            <a:r>
              <a:rPr lang="en-US" b="1" dirty="0">
                <a:solidFill>
                  <a:schemeClr val="tx1"/>
                </a:solidFill>
              </a:rPr>
              <a:t>&gt;, &lt;</a:t>
            </a:r>
            <a:r>
              <a:rPr lang="en-US" b="1" dirty="0" err="1">
                <a:solidFill>
                  <a:schemeClr val="tx1"/>
                </a:solidFill>
              </a:rPr>
              <a:t>value_if_true</a:t>
            </a:r>
            <a:r>
              <a:rPr lang="en-US" b="1" dirty="0">
                <a:solidFill>
                  <a:schemeClr val="tx1"/>
                </a:solidFill>
              </a:rPr>
              <a:t>&gt;, </a:t>
            </a:r>
            <a:r>
              <a:rPr lang="en-US" b="1" dirty="0" err="1">
                <a:solidFill>
                  <a:schemeClr val="tx1"/>
                </a:solidFill>
              </a:rPr>
              <a:t>value_if_false</a:t>
            </a:r>
            <a:r>
              <a:rPr lang="en-US" b="1" dirty="0">
                <a:solidFill>
                  <a:schemeClr val="tx1"/>
                </a:solidFill>
              </a:rPr>
              <a:t>)</a:t>
            </a:r>
          </a:p>
        </p:txBody>
      </p:sp>
    </p:spTree>
    <p:extLst>
      <p:ext uri="{BB962C8B-B14F-4D97-AF65-F5344CB8AC3E}">
        <p14:creationId xmlns:p14="http://schemas.microsoft.com/office/powerpoint/2010/main" val="1771596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5689-F3E3-22FB-A787-4B30F5EBF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CF1DE-7535-4B16-90AA-1D813DE94283}"/>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MATH</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8C5AD277-F51E-EAF2-F243-7433801E2BBB}"/>
              </a:ext>
            </a:extLst>
          </p:cNvPr>
          <p:cNvSpPr>
            <a:spLocks noGrp="1"/>
          </p:cNvSpPr>
          <p:nvPr>
            <p:ph type="body" sz="quarter" idx="14"/>
          </p:nvPr>
        </p:nvSpPr>
        <p:spPr>
          <a:xfrm>
            <a:off x="675657" y="1331742"/>
            <a:ext cx="11067163"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ABS</a:t>
            </a:r>
            <a:r>
              <a:rPr lang="en-US" dirty="0"/>
              <a:t>: Returns the absolute value.</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FACT</a:t>
            </a:r>
            <a:r>
              <a:rPr lang="en-US" dirty="0"/>
              <a:t>: Returns the factorial of the number.</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EXP</a:t>
            </a:r>
            <a:r>
              <a:rPr lang="en-US" dirty="0"/>
              <a:t>: Calculates the exponential value of a number.</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ROUND</a:t>
            </a:r>
            <a:r>
              <a:rPr lang="en-US" dirty="0"/>
              <a:t>:  Rounds a number to a specified number of decimal.</a:t>
            </a:r>
          </a:p>
          <a:p>
            <a:pPr marL="0" indent="0">
              <a:buNone/>
            </a:pPr>
            <a:endParaRPr lang="en-US" dirty="0"/>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a:t>
            </a:r>
            <a:r>
              <a:rPr lang="en-US" dirty="0"/>
              <a:t>: Raises a number to a specified power.</a:t>
            </a:r>
          </a:p>
        </p:txBody>
      </p:sp>
      <p:sp>
        <p:nvSpPr>
          <p:cNvPr id="14" name="Rectangle: Rounded Corners 13">
            <a:extLst>
              <a:ext uri="{FF2B5EF4-FFF2-40B4-BE49-F238E27FC236}">
                <a16:creationId xmlns:a16="http://schemas.microsoft.com/office/drawing/2014/main" id="{D6CD5750-C428-CA2F-2A60-8321527452A1}"/>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ABS([number])</a:t>
            </a:r>
          </a:p>
        </p:txBody>
      </p:sp>
      <p:sp>
        <p:nvSpPr>
          <p:cNvPr id="15" name="Rectangle: Rounded Corners 14">
            <a:extLst>
              <a:ext uri="{FF2B5EF4-FFF2-40B4-BE49-F238E27FC236}">
                <a16:creationId xmlns:a16="http://schemas.microsoft.com/office/drawing/2014/main" id="{B08AC9C6-9641-F151-7F90-2EFF5DC115FD}"/>
              </a:ext>
            </a:extLst>
          </p:cNvPr>
          <p:cNvSpPr/>
          <p:nvPr/>
        </p:nvSpPr>
        <p:spPr>
          <a:xfrm>
            <a:off x="1156919" y="265703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FACT([number])</a:t>
            </a:r>
          </a:p>
        </p:txBody>
      </p:sp>
      <p:sp>
        <p:nvSpPr>
          <p:cNvPr id="16" name="Rectangle: Rounded Corners 15">
            <a:extLst>
              <a:ext uri="{FF2B5EF4-FFF2-40B4-BE49-F238E27FC236}">
                <a16:creationId xmlns:a16="http://schemas.microsoft.com/office/drawing/2014/main" id="{5728EEC4-A9A9-FD7A-90DB-1B48B9ACDAD7}"/>
              </a:ext>
            </a:extLst>
          </p:cNvPr>
          <p:cNvSpPr/>
          <p:nvPr/>
        </p:nvSpPr>
        <p:spPr>
          <a:xfrm>
            <a:off x="1156919" y="355126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EXP([Number])</a:t>
            </a:r>
          </a:p>
        </p:txBody>
      </p:sp>
      <p:sp>
        <p:nvSpPr>
          <p:cNvPr id="17" name="Rectangle: Rounded Corners 16">
            <a:extLst>
              <a:ext uri="{FF2B5EF4-FFF2-40B4-BE49-F238E27FC236}">
                <a16:creationId xmlns:a16="http://schemas.microsoft.com/office/drawing/2014/main" id="{3C041956-E6E5-B6F5-2952-822D637D147D}"/>
              </a:ext>
            </a:extLst>
          </p:cNvPr>
          <p:cNvSpPr/>
          <p:nvPr/>
        </p:nvSpPr>
        <p:spPr>
          <a:xfrm>
            <a:off x="1156918" y="4445497"/>
            <a:ext cx="6206405" cy="76818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ROUND([Number], [</a:t>
            </a:r>
            <a:r>
              <a:rPr lang="en-US" sz="2000" b="1" dirty="0" err="1">
                <a:solidFill>
                  <a:schemeClr val="tx1"/>
                </a:solidFill>
              </a:rPr>
              <a:t>NumDigitsAfterDecimal</a:t>
            </a:r>
            <a:r>
              <a:rPr lang="en-US" sz="2000" b="1" dirty="0">
                <a:solidFill>
                  <a:schemeClr val="tx1"/>
                </a:solidFill>
              </a:rPr>
              <a:t>])</a:t>
            </a:r>
          </a:p>
        </p:txBody>
      </p:sp>
      <p:sp>
        <p:nvSpPr>
          <p:cNvPr id="18" name="Rectangle: Rounded Corners 17">
            <a:extLst>
              <a:ext uri="{FF2B5EF4-FFF2-40B4-BE49-F238E27FC236}">
                <a16:creationId xmlns:a16="http://schemas.microsoft.com/office/drawing/2014/main" id="{A931992F-81D0-D0BE-6011-6D4B57D8852A}"/>
              </a:ext>
            </a:extLst>
          </p:cNvPr>
          <p:cNvSpPr/>
          <p:nvPr/>
        </p:nvSpPr>
        <p:spPr>
          <a:xfrm>
            <a:off x="1156918" y="5917396"/>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POWER([Number], [POWER])</a:t>
            </a:r>
          </a:p>
        </p:txBody>
      </p:sp>
    </p:spTree>
    <p:extLst>
      <p:ext uri="{BB962C8B-B14F-4D97-AF65-F5344CB8AC3E}">
        <p14:creationId xmlns:p14="http://schemas.microsoft.com/office/powerpoint/2010/main" val="2647156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EBCF4-6449-78A2-551F-5AFE4A1F6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B7D15-9E05-033B-FA3C-EB7FA32B129F}"/>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597B17F3-020A-F7B2-7410-A947857B5318}"/>
              </a:ext>
            </a:extLst>
          </p:cNvPr>
          <p:cNvSpPr>
            <a:spLocks noGrp="1"/>
          </p:cNvSpPr>
          <p:nvPr>
            <p:ph type="body" sz="quarter" idx="14"/>
          </p:nvPr>
        </p:nvSpPr>
        <p:spPr>
          <a:xfrm>
            <a:off x="675657" y="1331742"/>
            <a:ext cx="11067163" cy="5324327"/>
          </a:xfrm>
        </p:spPr>
        <p:txBody>
          <a:bodyPr/>
          <a:lstStyle/>
          <a:p>
            <a:pPr>
              <a:buFont typeface="Wingdings" panose="05000000000000000000" pitchFamily="2" charset="2"/>
              <a:buChar char="Ø"/>
            </a:pPr>
            <a:r>
              <a:rPr lang="en-US" dirty="0"/>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LOG</a:t>
            </a:r>
            <a:r>
              <a:rPr lang="en-US" dirty="0"/>
              <a:t>: Calculates the logarithm of a number to a specified base.</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SQRT</a:t>
            </a:r>
            <a:r>
              <a:rPr lang="en-US" dirty="0"/>
              <a:t>: Calculates the square root of a number.</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MOD</a:t>
            </a:r>
            <a:r>
              <a:rPr lang="en-US" dirty="0"/>
              <a:t>: Returns the remainder of a division operation.</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SIN, COS, TAN</a:t>
            </a:r>
            <a:r>
              <a:rPr lang="en-US" dirty="0"/>
              <a:t>:  Calculates the trigonometric sine, cosine and  tangent of an angle, respectively.</a:t>
            </a:r>
          </a:p>
          <a:p>
            <a:pPr marL="0" indent="0">
              <a:buNone/>
            </a:pPr>
            <a:endParaRPr lang="en-US" dirty="0"/>
          </a:p>
        </p:txBody>
      </p:sp>
      <p:sp>
        <p:nvSpPr>
          <p:cNvPr id="14" name="Rectangle: Rounded Corners 13">
            <a:extLst>
              <a:ext uri="{FF2B5EF4-FFF2-40B4-BE49-F238E27FC236}">
                <a16:creationId xmlns:a16="http://schemas.microsoft.com/office/drawing/2014/main" id="{CB5BCCCE-BF8F-FC63-7C3A-BB6882A77D5C}"/>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LOG([Number], [Base])</a:t>
            </a:r>
          </a:p>
        </p:txBody>
      </p:sp>
      <p:sp>
        <p:nvSpPr>
          <p:cNvPr id="15" name="Rectangle: Rounded Corners 14">
            <a:extLst>
              <a:ext uri="{FF2B5EF4-FFF2-40B4-BE49-F238E27FC236}">
                <a16:creationId xmlns:a16="http://schemas.microsoft.com/office/drawing/2014/main" id="{84D8ECA8-96C3-28FD-CC74-19E35A0782D3}"/>
              </a:ext>
            </a:extLst>
          </p:cNvPr>
          <p:cNvSpPr/>
          <p:nvPr/>
        </p:nvSpPr>
        <p:spPr>
          <a:xfrm>
            <a:off x="1156919" y="2657031"/>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SQRT([Number])</a:t>
            </a:r>
          </a:p>
        </p:txBody>
      </p:sp>
      <p:sp>
        <p:nvSpPr>
          <p:cNvPr id="16" name="Rectangle: Rounded Corners 15">
            <a:extLst>
              <a:ext uri="{FF2B5EF4-FFF2-40B4-BE49-F238E27FC236}">
                <a16:creationId xmlns:a16="http://schemas.microsoft.com/office/drawing/2014/main" id="{838181CE-AEFE-4FC9-2483-9C51699A8821}"/>
              </a:ext>
            </a:extLst>
          </p:cNvPr>
          <p:cNvSpPr/>
          <p:nvPr/>
        </p:nvSpPr>
        <p:spPr>
          <a:xfrm>
            <a:off x="1156919" y="3551264"/>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MOD([Dividend], [Divisor])</a:t>
            </a:r>
          </a:p>
        </p:txBody>
      </p:sp>
      <p:sp>
        <p:nvSpPr>
          <p:cNvPr id="17" name="Rectangle: Rounded Corners 16">
            <a:extLst>
              <a:ext uri="{FF2B5EF4-FFF2-40B4-BE49-F238E27FC236}">
                <a16:creationId xmlns:a16="http://schemas.microsoft.com/office/drawing/2014/main" id="{1014305B-C51A-0AB2-5BDD-C05CC812CC68}"/>
              </a:ext>
            </a:extLst>
          </p:cNvPr>
          <p:cNvSpPr/>
          <p:nvPr/>
        </p:nvSpPr>
        <p:spPr>
          <a:xfrm>
            <a:off x="1156918" y="4936141"/>
            <a:ext cx="6206405" cy="76818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SIN([Angle]), COS([Angle]), TAN([Angle])</a:t>
            </a:r>
          </a:p>
        </p:txBody>
      </p:sp>
    </p:spTree>
    <p:extLst>
      <p:ext uri="{BB962C8B-B14F-4D97-AF65-F5344CB8AC3E}">
        <p14:creationId xmlns:p14="http://schemas.microsoft.com/office/powerpoint/2010/main" val="3303975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719C1-0C93-5517-7CF7-9D8C310CC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1BEB5-86B4-4852-F2BE-C0CF6BC5F6E7}"/>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TEXT</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6971E266-54E5-E8EF-B278-361EA904021C}"/>
              </a:ext>
            </a:extLst>
          </p:cNvPr>
          <p:cNvSpPr>
            <a:spLocks noGrp="1"/>
          </p:cNvSpPr>
          <p:nvPr>
            <p:ph type="body" sz="quarter" idx="14"/>
          </p:nvPr>
        </p:nvSpPr>
        <p:spPr>
          <a:xfrm>
            <a:off x="247837" y="1322237"/>
            <a:ext cx="11696325"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CONCATENATE</a:t>
            </a:r>
            <a:r>
              <a:rPr lang="en-US" dirty="0"/>
              <a:t>: Joins two strings together.</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FIXED</a:t>
            </a:r>
            <a:r>
              <a:rPr lang="en-US" dirty="0"/>
              <a:t>: Rounds off numbers to a given decimal.</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REPLACE</a:t>
            </a:r>
            <a:r>
              <a:rPr lang="en-US" dirty="0"/>
              <a:t>: Replace the characters with part of a string.</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UPPER</a:t>
            </a:r>
            <a:r>
              <a:rPr lang="en-US" dirty="0"/>
              <a:t>:  Converts a text string to all uppercase letters.</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LOWER</a:t>
            </a:r>
            <a:r>
              <a:rPr lang="en-US" dirty="0"/>
              <a:t>: Converts a text string to all lowercase letters.</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SEARCH</a:t>
            </a:r>
            <a:r>
              <a:rPr lang="en-US" dirty="0"/>
              <a:t>: Returns the number of the character at which a searched character or text string is first appeared.</a:t>
            </a:r>
          </a:p>
        </p:txBody>
      </p:sp>
      <p:sp>
        <p:nvSpPr>
          <p:cNvPr id="14" name="Rectangle: Rounded Corners 13">
            <a:extLst>
              <a:ext uri="{FF2B5EF4-FFF2-40B4-BE49-F238E27FC236}">
                <a16:creationId xmlns:a16="http://schemas.microsoft.com/office/drawing/2014/main" id="{ED8E25F4-0418-1373-0BE8-9C8BE22847D3}"/>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CONCATENATE(&lt;text_1&gt;, &lt;text_2&gt;)</a:t>
            </a:r>
          </a:p>
        </p:txBody>
      </p:sp>
      <p:sp>
        <p:nvSpPr>
          <p:cNvPr id="15" name="Rectangle: Rounded Corners 14">
            <a:extLst>
              <a:ext uri="{FF2B5EF4-FFF2-40B4-BE49-F238E27FC236}">
                <a16:creationId xmlns:a16="http://schemas.microsoft.com/office/drawing/2014/main" id="{78710AB4-F8D7-C2C9-5C62-42D2B997A9B1}"/>
              </a:ext>
            </a:extLst>
          </p:cNvPr>
          <p:cNvSpPr/>
          <p:nvPr/>
        </p:nvSpPr>
        <p:spPr>
          <a:xfrm>
            <a:off x="1156919" y="2657031"/>
            <a:ext cx="8564597"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FIXED([Number], [</a:t>
            </a:r>
            <a:r>
              <a:rPr lang="en-US" b="1" dirty="0" err="1">
                <a:solidFill>
                  <a:schemeClr val="tx1"/>
                </a:solidFill>
              </a:rPr>
              <a:t>NumDigitsAfterDecimal</a:t>
            </a:r>
            <a:r>
              <a:rPr lang="en-US" b="1" dirty="0">
                <a:solidFill>
                  <a:schemeClr val="tx1"/>
                </a:solidFill>
              </a:rPr>
              <a:t>], [</a:t>
            </a:r>
            <a:r>
              <a:rPr lang="en-US" b="1" dirty="0" err="1">
                <a:solidFill>
                  <a:schemeClr val="tx1"/>
                </a:solidFill>
              </a:rPr>
              <a:t>IncludeLeadingZeroes</a:t>
            </a:r>
            <a:r>
              <a:rPr lang="en-US" b="1" dirty="0">
                <a:solidFill>
                  <a:schemeClr val="tx1"/>
                </a:solidFill>
              </a:rPr>
              <a:t>])</a:t>
            </a:r>
          </a:p>
        </p:txBody>
      </p:sp>
      <p:sp>
        <p:nvSpPr>
          <p:cNvPr id="16" name="Rectangle: Rounded Corners 15">
            <a:extLst>
              <a:ext uri="{FF2B5EF4-FFF2-40B4-BE49-F238E27FC236}">
                <a16:creationId xmlns:a16="http://schemas.microsoft.com/office/drawing/2014/main" id="{B6FB1279-1615-85E9-BE5D-36EC6B872C24}"/>
              </a:ext>
            </a:extLst>
          </p:cNvPr>
          <p:cNvSpPr/>
          <p:nvPr/>
        </p:nvSpPr>
        <p:spPr>
          <a:xfrm>
            <a:off x="1156919" y="3551264"/>
            <a:ext cx="7460139"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REPLACE(&lt;</a:t>
            </a:r>
            <a:r>
              <a:rPr lang="en-US" b="1" dirty="0" err="1">
                <a:solidFill>
                  <a:schemeClr val="tx1"/>
                </a:solidFill>
              </a:rPr>
              <a:t>old_text</a:t>
            </a:r>
            <a:r>
              <a:rPr lang="en-US" b="1" dirty="0">
                <a:solidFill>
                  <a:schemeClr val="tx1"/>
                </a:solidFill>
              </a:rPr>
              <a:t>&gt;, &lt;</a:t>
            </a:r>
            <a:r>
              <a:rPr lang="en-US" b="1" dirty="0" err="1">
                <a:solidFill>
                  <a:schemeClr val="tx1"/>
                </a:solidFill>
              </a:rPr>
              <a:t>start_num</a:t>
            </a:r>
            <a:r>
              <a:rPr lang="en-US" b="1" dirty="0">
                <a:solidFill>
                  <a:schemeClr val="tx1"/>
                </a:solidFill>
              </a:rPr>
              <a:t>&gt;, &lt;</a:t>
            </a:r>
            <a:r>
              <a:rPr lang="en-US" b="1" dirty="0" err="1">
                <a:solidFill>
                  <a:schemeClr val="tx1"/>
                </a:solidFill>
              </a:rPr>
              <a:t>num_chars</a:t>
            </a:r>
            <a:r>
              <a:rPr lang="en-US" b="1" dirty="0">
                <a:solidFill>
                  <a:schemeClr val="tx1"/>
                </a:solidFill>
              </a:rPr>
              <a:t>&gt;, &lt;</a:t>
            </a:r>
            <a:r>
              <a:rPr lang="en-US" b="1" dirty="0" err="1">
                <a:solidFill>
                  <a:schemeClr val="tx1"/>
                </a:solidFill>
              </a:rPr>
              <a:t>new_text</a:t>
            </a:r>
            <a:r>
              <a:rPr lang="en-US" b="1" dirty="0">
                <a:solidFill>
                  <a:schemeClr val="tx1"/>
                </a:solidFill>
              </a:rPr>
              <a:t>&gt;)</a:t>
            </a:r>
          </a:p>
        </p:txBody>
      </p:sp>
      <p:sp>
        <p:nvSpPr>
          <p:cNvPr id="17" name="Rectangle: Rounded Corners 16">
            <a:extLst>
              <a:ext uri="{FF2B5EF4-FFF2-40B4-BE49-F238E27FC236}">
                <a16:creationId xmlns:a16="http://schemas.microsoft.com/office/drawing/2014/main" id="{AA8CE7EA-816A-3995-595E-34C93147119E}"/>
              </a:ext>
            </a:extLst>
          </p:cNvPr>
          <p:cNvSpPr/>
          <p:nvPr/>
        </p:nvSpPr>
        <p:spPr>
          <a:xfrm>
            <a:off x="1156918" y="4445498"/>
            <a:ext cx="6206405" cy="39860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UPPER(&lt;text&gt;)</a:t>
            </a:r>
          </a:p>
        </p:txBody>
      </p:sp>
      <p:sp>
        <p:nvSpPr>
          <p:cNvPr id="18" name="Rectangle: Rounded Corners 17">
            <a:extLst>
              <a:ext uri="{FF2B5EF4-FFF2-40B4-BE49-F238E27FC236}">
                <a16:creationId xmlns:a16="http://schemas.microsoft.com/office/drawing/2014/main" id="{1F902DE4-49A6-3A71-1B08-0B39AA17987A}"/>
              </a:ext>
            </a:extLst>
          </p:cNvPr>
          <p:cNvSpPr/>
          <p:nvPr/>
        </p:nvSpPr>
        <p:spPr>
          <a:xfrm>
            <a:off x="3636647" y="6236033"/>
            <a:ext cx="8080072"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SEARCH(&lt;</a:t>
            </a:r>
            <a:r>
              <a:rPr lang="en-US" b="1" dirty="0" err="1">
                <a:solidFill>
                  <a:schemeClr val="tx1"/>
                </a:solidFill>
              </a:rPr>
              <a:t>find_text</a:t>
            </a:r>
            <a:r>
              <a:rPr lang="en-US" b="1" dirty="0">
                <a:solidFill>
                  <a:schemeClr val="tx1"/>
                </a:solidFill>
              </a:rPr>
              <a:t>&gt;, &lt;</a:t>
            </a:r>
            <a:r>
              <a:rPr lang="en-US" b="1" dirty="0" err="1">
                <a:solidFill>
                  <a:schemeClr val="tx1"/>
                </a:solidFill>
              </a:rPr>
              <a:t>within_text</a:t>
            </a:r>
            <a:r>
              <a:rPr lang="en-US" b="1" dirty="0">
                <a:solidFill>
                  <a:schemeClr val="tx1"/>
                </a:solidFill>
              </a:rPr>
              <a:t>&gt;[, [&lt;</a:t>
            </a:r>
            <a:r>
              <a:rPr lang="en-US" b="1" dirty="0" err="1">
                <a:solidFill>
                  <a:schemeClr val="tx1"/>
                </a:solidFill>
              </a:rPr>
              <a:t>start_num</a:t>
            </a:r>
            <a:r>
              <a:rPr lang="en-US" b="1" dirty="0">
                <a:solidFill>
                  <a:schemeClr val="tx1"/>
                </a:solidFill>
              </a:rPr>
              <a:t>&gt;][,&lt;</a:t>
            </a:r>
            <a:r>
              <a:rPr lang="en-US" b="1" dirty="0" err="1">
                <a:solidFill>
                  <a:schemeClr val="tx1"/>
                </a:solidFill>
              </a:rPr>
              <a:t>NotFoundValue</a:t>
            </a:r>
            <a:r>
              <a:rPr lang="en-US" b="1" dirty="0">
                <a:solidFill>
                  <a:schemeClr val="tx1"/>
                </a:solidFill>
              </a:rPr>
              <a:t>&gt;]])</a:t>
            </a:r>
          </a:p>
        </p:txBody>
      </p:sp>
      <p:sp>
        <p:nvSpPr>
          <p:cNvPr id="4" name="Rectangle: Rounded Corners 3">
            <a:extLst>
              <a:ext uri="{FF2B5EF4-FFF2-40B4-BE49-F238E27FC236}">
                <a16:creationId xmlns:a16="http://schemas.microsoft.com/office/drawing/2014/main" id="{C5CC8EEC-8E3A-18C9-F809-5F60B9BDE1E6}"/>
              </a:ext>
            </a:extLst>
          </p:cNvPr>
          <p:cNvSpPr/>
          <p:nvPr/>
        </p:nvSpPr>
        <p:spPr>
          <a:xfrm>
            <a:off x="1156917" y="5288322"/>
            <a:ext cx="6206405" cy="43313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UPPER(&lt;text&gt;)</a:t>
            </a:r>
          </a:p>
        </p:txBody>
      </p:sp>
    </p:spTree>
    <p:extLst>
      <p:ext uri="{BB962C8B-B14F-4D97-AF65-F5344CB8AC3E}">
        <p14:creationId xmlns:p14="http://schemas.microsoft.com/office/powerpoint/2010/main" val="3971395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FDCEB-2511-C091-851E-3DF2ECE6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0FA56-3703-25A3-CD57-E8C77C275D98}"/>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774D2247-7C7F-F2B9-A994-A6017FC25FAE}"/>
              </a:ext>
            </a:extLst>
          </p:cNvPr>
          <p:cNvSpPr>
            <a:spLocks noGrp="1"/>
          </p:cNvSpPr>
          <p:nvPr>
            <p:ph type="body" sz="quarter" idx="14"/>
          </p:nvPr>
        </p:nvSpPr>
        <p:spPr>
          <a:xfrm>
            <a:off x="247837" y="1322237"/>
            <a:ext cx="11696325"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CONCATENATE</a:t>
            </a:r>
            <a:r>
              <a:rPr lang="en-US" dirty="0"/>
              <a:t>: Joins two strings together.</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FIXED</a:t>
            </a:r>
            <a:r>
              <a:rPr lang="en-US" dirty="0"/>
              <a:t>: Rounds off numbers to a given decimal.</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REPLACE</a:t>
            </a:r>
            <a:r>
              <a:rPr lang="en-US" dirty="0"/>
              <a:t>: Replace the characters with part of a string.</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UPPER</a:t>
            </a:r>
            <a:r>
              <a:rPr lang="en-US" dirty="0"/>
              <a:t>:  Converts a text string to all uppercase letters.</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LOWER</a:t>
            </a:r>
            <a:r>
              <a:rPr lang="en-US" dirty="0"/>
              <a:t>: Converts a text string to all lowercase letters.</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SEARCH</a:t>
            </a:r>
            <a:r>
              <a:rPr lang="en-US" dirty="0"/>
              <a:t>: Returns the number of the character at which a searched character or text string is first appeared.</a:t>
            </a:r>
          </a:p>
        </p:txBody>
      </p:sp>
      <p:sp>
        <p:nvSpPr>
          <p:cNvPr id="14" name="Rectangle: Rounded Corners 13">
            <a:extLst>
              <a:ext uri="{FF2B5EF4-FFF2-40B4-BE49-F238E27FC236}">
                <a16:creationId xmlns:a16="http://schemas.microsoft.com/office/drawing/2014/main" id="{78FBB3DD-3ED7-67A4-F03D-EA10181C85A6}"/>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CONCATENATE(&lt;text_1&gt;, &lt;text_2&gt;)</a:t>
            </a:r>
          </a:p>
        </p:txBody>
      </p:sp>
      <p:sp>
        <p:nvSpPr>
          <p:cNvPr id="15" name="Rectangle: Rounded Corners 14">
            <a:extLst>
              <a:ext uri="{FF2B5EF4-FFF2-40B4-BE49-F238E27FC236}">
                <a16:creationId xmlns:a16="http://schemas.microsoft.com/office/drawing/2014/main" id="{474C2DAE-EFA8-82CE-CC48-F25E51781727}"/>
              </a:ext>
            </a:extLst>
          </p:cNvPr>
          <p:cNvSpPr/>
          <p:nvPr/>
        </p:nvSpPr>
        <p:spPr>
          <a:xfrm>
            <a:off x="1156919" y="2657031"/>
            <a:ext cx="8564597"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FIXED([Number], [</a:t>
            </a:r>
            <a:r>
              <a:rPr lang="en-US" b="1" dirty="0" err="1">
                <a:solidFill>
                  <a:schemeClr val="tx1"/>
                </a:solidFill>
              </a:rPr>
              <a:t>NumDigitsAfterDecimal</a:t>
            </a:r>
            <a:r>
              <a:rPr lang="en-US" b="1" dirty="0">
                <a:solidFill>
                  <a:schemeClr val="tx1"/>
                </a:solidFill>
              </a:rPr>
              <a:t>], [</a:t>
            </a:r>
            <a:r>
              <a:rPr lang="en-US" b="1" dirty="0" err="1">
                <a:solidFill>
                  <a:schemeClr val="tx1"/>
                </a:solidFill>
              </a:rPr>
              <a:t>IncludeLeadingZeroes</a:t>
            </a:r>
            <a:r>
              <a:rPr lang="en-US" b="1" dirty="0">
                <a:solidFill>
                  <a:schemeClr val="tx1"/>
                </a:solidFill>
              </a:rPr>
              <a:t>])</a:t>
            </a:r>
          </a:p>
        </p:txBody>
      </p:sp>
      <p:sp>
        <p:nvSpPr>
          <p:cNvPr id="16" name="Rectangle: Rounded Corners 15">
            <a:extLst>
              <a:ext uri="{FF2B5EF4-FFF2-40B4-BE49-F238E27FC236}">
                <a16:creationId xmlns:a16="http://schemas.microsoft.com/office/drawing/2014/main" id="{F8F48085-BC51-485E-14A5-ABFDB972DC31}"/>
              </a:ext>
            </a:extLst>
          </p:cNvPr>
          <p:cNvSpPr/>
          <p:nvPr/>
        </p:nvSpPr>
        <p:spPr>
          <a:xfrm>
            <a:off x="1156919" y="3551264"/>
            <a:ext cx="7460139"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REPLACE(&lt;</a:t>
            </a:r>
            <a:r>
              <a:rPr lang="en-US" b="1" dirty="0" err="1">
                <a:solidFill>
                  <a:schemeClr val="tx1"/>
                </a:solidFill>
              </a:rPr>
              <a:t>old_text</a:t>
            </a:r>
            <a:r>
              <a:rPr lang="en-US" b="1" dirty="0">
                <a:solidFill>
                  <a:schemeClr val="tx1"/>
                </a:solidFill>
              </a:rPr>
              <a:t>&gt;, &lt;</a:t>
            </a:r>
            <a:r>
              <a:rPr lang="en-US" b="1" dirty="0" err="1">
                <a:solidFill>
                  <a:schemeClr val="tx1"/>
                </a:solidFill>
              </a:rPr>
              <a:t>start_num</a:t>
            </a:r>
            <a:r>
              <a:rPr lang="en-US" b="1" dirty="0">
                <a:solidFill>
                  <a:schemeClr val="tx1"/>
                </a:solidFill>
              </a:rPr>
              <a:t>&gt;, &lt;</a:t>
            </a:r>
            <a:r>
              <a:rPr lang="en-US" b="1" dirty="0" err="1">
                <a:solidFill>
                  <a:schemeClr val="tx1"/>
                </a:solidFill>
              </a:rPr>
              <a:t>num_chars</a:t>
            </a:r>
            <a:r>
              <a:rPr lang="en-US" b="1" dirty="0">
                <a:solidFill>
                  <a:schemeClr val="tx1"/>
                </a:solidFill>
              </a:rPr>
              <a:t>&gt;, &lt;</a:t>
            </a:r>
            <a:r>
              <a:rPr lang="en-US" b="1" dirty="0" err="1">
                <a:solidFill>
                  <a:schemeClr val="tx1"/>
                </a:solidFill>
              </a:rPr>
              <a:t>new_text</a:t>
            </a:r>
            <a:r>
              <a:rPr lang="en-US" b="1" dirty="0">
                <a:solidFill>
                  <a:schemeClr val="tx1"/>
                </a:solidFill>
              </a:rPr>
              <a:t>&gt;)</a:t>
            </a:r>
          </a:p>
        </p:txBody>
      </p:sp>
      <p:sp>
        <p:nvSpPr>
          <p:cNvPr id="17" name="Rectangle: Rounded Corners 16">
            <a:extLst>
              <a:ext uri="{FF2B5EF4-FFF2-40B4-BE49-F238E27FC236}">
                <a16:creationId xmlns:a16="http://schemas.microsoft.com/office/drawing/2014/main" id="{8C21F623-6A2E-E4BF-E5FE-F7E495DDCA7A}"/>
              </a:ext>
            </a:extLst>
          </p:cNvPr>
          <p:cNvSpPr/>
          <p:nvPr/>
        </p:nvSpPr>
        <p:spPr>
          <a:xfrm>
            <a:off x="1156918" y="4445498"/>
            <a:ext cx="6206405" cy="39860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UPPER(&lt;text&gt;)</a:t>
            </a:r>
          </a:p>
        </p:txBody>
      </p:sp>
      <p:sp>
        <p:nvSpPr>
          <p:cNvPr id="18" name="Rectangle: Rounded Corners 17">
            <a:extLst>
              <a:ext uri="{FF2B5EF4-FFF2-40B4-BE49-F238E27FC236}">
                <a16:creationId xmlns:a16="http://schemas.microsoft.com/office/drawing/2014/main" id="{65A2F54A-C970-9995-2510-74AAB3BE3E7C}"/>
              </a:ext>
            </a:extLst>
          </p:cNvPr>
          <p:cNvSpPr/>
          <p:nvPr/>
        </p:nvSpPr>
        <p:spPr>
          <a:xfrm>
            <a:off x="3636647" y="6236033"/>
            <a:ext cx="8080072"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SEARCH(&lt;</a:t>
            </a:r>
            <a:r>
              <a:rPr lang="en-US" b="1" dirty="0" err="1">
                <a:solidFill>
                  <a:schemeClr val="tx1"/>
                </a:solidFill>
              </a:rPr>
              <a:t>find_text</a:t>
            </a:r>
            <a:r>
              <a:rPr lang="en-US" b="1" dirty="0">
                <a:solidFill>
                  <a:schemeClr val="tx1"/>
                </a:solidFill>
              </a:rPr>
              <a:t>&gt;, &lt;</a:t>
            </a:r>
            <a:r>
              <a:rPr lang="en-US" b="1" dirty="0" err="1">
                <a:solidFill>
                  <a:schemeClr val="tx1"/>
                </a:solidFill>
              </a:rPr>
              <a:t>within_text</a:t>
            </a:r>
            <a:r>
              <a:rPr lang="en-US" b="1" dirty="0">
                <a:solidFill>
                  <a:schemeClr val="tx1"/>
                </a:solidFill>
              </a:rPr>
              <a:t>&gt;[, [&lt;</a:t>
            </a:r>
            <a:r>
              <a:rPr lang="en-US" b="1" dirty="0" err="1">
                <a:solidFill>
                  <a:schemeClr val="tx1"/>
                </a:solidFill>
              </a:rPr>
              <a:t>start_num</a:t>
            </a:r>
            <a:r>
              <a:rPr lang="en-US" b="1" dirty="0">
                <a:solidFill>
                  <a:schemeClr val="tx1"/>
                </a:solidFill>
              </a:rPr>
              <a:t>&gt;][,&lt;</a:t>
            </a:r>
            <a:r>
              <a:rPr lang="en-US" b="1" dirty="0" err="1">
                <a:solidFill>
                  <a:schemeClr val="tx1"/>
                </a:solidFill>
              </a:rPr>
              <a:t>NotFoundValue</a:t>
            </a:r>
            <a:r>
              <a:rPr lang="en-US" b="1" dirty="0">
                <a:solidFill>
                  <a:schemeClr val="tx1"/>
                </a:solidFill>
              </a:rPr>
              <a:t>&gt;]])</a:t>
            </a:r>
          </a:p>
        </p:txBody>
      </p:sp>
      <p:sp>
        <p:nvSpPr>
          <p:cNvPr id="4" name="Rectangle: Rounded Corners 3">
            <a:extLst>
              <a:ext uri="{FF2B5EF4-FFF2-40B4-BE49-F238E27FC236}">
                <a16:creationId xmlns:a16="http://schemas.microsoft.com/office/drawing/2014/main" id="{FA4FAA32-D062-1A74-987C-020D3BA3637F}"/>
              </a:ext>
            </a:extLst>
          </p:cNvPr>
          <p:cNvSpPr/>
          <p:nvPr/>
        </p:nvSpPr>
        <p:spPr>
          <a:xfrm>
            <a:off x="1156917" y="5288322"/>
            <a:ext cx="6206405" cy="43313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UPPER(&lt;text&gt;)</a:t>
            </a:r>
          </a:p>
        </p:txBody>
      </p:sp>
    </p:spTree>
    <p:extLst>
      <p:ext uri="{BB962C8B-B14F-4D97-AF65-F5344CB8AC3E}">
        <p14:creationId xmlns:p14="http://schemas.microsoft.com/office/powerpoint/2010/main" val="1545333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BC8BB-00C9-486B-4F45-C3FC984C6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7217C-84BD-4691-516E-05FE5FAC1736}"/>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Statistical</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086775F8-C0D1-E351-FFF0-91FFA18B9060}"/>
              </a:ext>
            </a:extLst>
          </p:cNvPr>
          <p:cNvSpPr>
            <a:spLocks noGrp="1"/>
          </p:cNvSpPr>
          <p:nvPr>
            <p:ph type="body" sz="quarter" idx="14"/>
          </p:nvPr>
        </p:nvSpPr>
        <p:spPr>
          <a:xfrm>
            <a:off x="247837" y="1322237"/>
            <a:ext cx="11696325"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MEDIAN</a:t>
            </a:r>
            <a:r>
              <a:rPr lang="en-US" dirty="0"/>
              <a:t>: Returns the median value in a column.</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MODE</a:t>
            </a:r>
            <a:r>
              <a:rPr lang="en-US" dirty="0"/>
              <a:t>: Returns the mode (most frequently occurring value) in a column.</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AVERAGE</a:t>
            </a:r>
            <a:r>
              <a:rPr lang="en-US" dirty="0"/>
              <a:t>: Calculates the average of a column of numeric values.</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STDEV.P</a:t>
            </a:r>
            <a:r>
              <a:rPr lang="en-US" dirty="0"/>
              <a:t>:  Calculates the population standard deviation of a column.</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STDEV.S</a:t>
            </a:r>
            <a:r>
              <a:rPr lang="en-US" dirty="0"/>
              <a:t>: Calculates the sample standard deviation of a column.</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SEARCH</a:t>
            </a:r>
            <a:r>
              <a:rPr lang="en-US" dirty="0"/>
              <a:t>: Calculates the population variance of column.</a:t>
            </a:r>
          </a:p>
        </p:txBody>
      </p:sp>
      <p:sp>
        <p:nvSpPr>
          <p:cNvPr id="14" name="Rectangle: Rounded Corners 13">
            <a:extLst>
              <a:ext uri="{FF2B5EF4-FFF2-40B4-BE49-F238E27FC236}">
                <a16:creationId xmlns:a16="http://schemas.microsoft.com/office/drawing/2014/main" id="{BC6C9746-2EE2-5D80-65DA-7728421A1556}"/>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MEDIAN([Column])</a:t>
            </a:r>
          </a:p>
        </p:txBody>
      </p:sp>
      <p:sp>
        <p:nvSpPr>
          <p:cNvPr id="15" name="Rectangle: Rounded Corners 14">
            <a:extLst>
              <a:ext uri="{FF2B5EF4-FFF2-40B4-BE49-F238E27FC236}">
                <a16:creationId xmlns:a16="http://schemas.microsoft.com/office/drawing/2014/main" id="{1B1AD61F-148A-2D66-164A-E703F192628D}"/>
              </a:ext>
            </a:extLst>
          </p:cNvPr>
          <p:cNvSpPr/>
          <p:nvPr/>
        </p:nvSpPr>
        <p:spPr>
          <a:xfrm>
            <a:off x="1156919" y="2657031"/>
            <a:ext cx="8564597"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MODE([Column])</a:t>
            </a:r>
          </a:p>
        </p:txBody>
      </p:sp>
      <p:sp>
        <p:nvSpPr>
          <p:cNvPr id="16" name="Rectangle: Rounded Corners 15">
            <a:extLst>
              <a:ext uri="{FF2B5EF4-FFF2-40B4-BE49-F238E27FC236}">
                <a16:creationId xmlns:a16="http://schemas.microsoft.com/office/drawing/2014/main" id="{70DBBD75-728C-66B1-D1A9-071B6371EF49}"/>
              </a:ext>
            </a:extLst>
          </p:cNvPr>
          <p:cNvSpPr/>
          <p:nvPr/>
        </p:nvSpPr>
        <p:spPr>
          <a:xfrm>
            <a:off x="1156919" y="3551264"/>
            <a:ext cx="7460139"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AVERAGE([Column])</a:t>
            </a:r>
          </a:p>
        </p:txBody>
      </p:sp>
      <p:sp>
        <p:nvSpPr>
          <p:cNvPr id="17" name="Rectangle: Rounded Corners 16">
            <a:extLst>
              <a:ext uri="{FF2B5EF4-FFF2-40B4-BE49-F238E27FC236}">
                <a16:creationId xmlns:a16="http://schemas.microsoft.com/office/drawing/2014/main" id="{D0FE2A1F-B9A7-8432-FF1D-C83EFFB825F3}"/>
              </a:ext>
            </a:extLst>
          </p:cNvPr>
          <p:cNvSpPr/>
          <p:nvPr/>
        </p:nvSpPr>
        <p:spPr>
          <a:xfrm>
            <a:off x="1156918" y="4445498"/>
            <a:ext cx="6206405" cy="39860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STDEV.P([Column])</a:t>
            </a:r>
          </a:p>
        </p:txBody>
      </p:sp>
      <p:sp>
        <p:nvSpPr>
          <p:cNvPr id="18" name="Rectangle: Rounded Corners 17">
            <a:extLst>
              <a:ext uri="{FF2B5EF4-FFF2-40B4-BE49-F238E27FC236}">
                <a16:creationId xmlns:a16="http://schemas.microsoft.com/office/drawing/2014/main" id="{B3F05E8B-7321-5100-868F-3693A8395DEA}"/>
              </a:ext>
            </a:extLst>
          </p:cNvPr>
          <p:cNvSpPr/>
          <p:nvPr/>
        </p:nvSpPr>
        <p:spPr>
          <a:xfrm>
            <a:off x="1156917" y="6195772"/>
            <a:ext cx="8080072"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VAR.P(Column)</a:t>
            </a:r>
          </a:p>
        </p:txBody>
      </p:sp>
      <p:sp>
        <p:nvSpPr>
          <p:cNvPr id="4" name="Rectangle: Rounded Corners 3">
            <a:extLst>
              <a:ext uri="{FF2B5EF4-FFF2-40B4-BE49-F238E27FC236}">
                <a16:creationId xmlns:a16="http://schemas.microsoft.com/office/drawing/2014/main" id="{DC42ED1F-8232-AE34-48D7-4F680F4F4F7A}"/>
              </a:ext>
            </a:extLst>
          </p:cNvPr>
          <p:cNvSpPr/>
          <p:nvPr/>
        </p:nvSpPr>
        <p:spPr>
          <a:xfrm>
            <a:off x="1156917" y="5288322"/>
            <a:ext cx="6206405" cy="43313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sz="2000" b="1" dirty="0">
                <a:solidFill>
                  <a:schemeClr val="tx1"/>
                </a:solidFill>
              </a:rPr>
              <a:t>: STDEV.S([Column])</a:t>
            </a:r>
          </a:p>
        </p:txBody>
      </p:sp>
    </p:spTree>
    <p:extLst>
      <p:ext uri="{BB962C8B-B14F-4D97-AF65-F5344CB8AC3E}">
        <p14:creationId xmlns:p14="http://schemas.microsoft.com/office/powerpoint/2010/main" val="62222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43284-453B-2202-1397-A090EB7B9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B8E22-D96C-2256-FFFB-171351344C90}"/>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Filtering</a:t>
            </a:r>
            <a:r>
              <a:rPr lang="en-US" dirty="0">
                <a:latin typeface="ADLaM Display" panose="02010000000000000000" pitchFamily="2" charset="0"/>
                <a:ea typeface="ADLaM Display" panose="02010000000000000000" pitchFamily="2" charset="0"/>
                <a:cs typeface="ADLaM Display" panose="02010000000000000000" pitchFamily="2" charset="0"/>
              </a:rPr>
              <a:t> functions in Power BI</a:t>
            </a:r>
          </a:p>
        </p:txBody>
      </p:sp>
      <p:sp>
        <p:nvSpPr>
          <p:cNvPr id="3" name="Text Placeholder 2">
            <a:extLst>
              <a:ext uri="{FF2B5EF4-FFF2-40B4-BE49-F238E27FC236}">
                <a16:creationId xmlns:a16="http://schemas.microsoft.com/office/drawing/2014/main" id="{F461E716-D996-4F6F-5540-58C25247B985}"/>
              </a:ext>
            </a:extLst>
          </p:cNvPr>
          <p:cNvSpPr>
            <a:spLocks noGrp="1"/>
          </p:cNvSpPr>
          <p:nvPr>
            <p:ph type="body" sz="quarter" idx="14"/>
          </p:nvPr>
        </p:nvSpPr>
        <p:spPr>
          <a:xfrm>
            <a:off x="247837" y="1322237"/>
            <a:ext cx="11696325" cy="5324327"/>
          </a:xfrm>
        </p:spPr>
        <p:txBody>
          <a:bodyPr/>
          <a:lstStyle/>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CALCULATE</a:t>
            </a:r>
            <a:r>
              <a:rPr lang="en-US" dirty="0"/>
              <a:t>: Modifies the filter context of a calculation.</a:t>
            </a:r>
          </a:p>
          <a:p>
            <a:pPr marL="0" indent="0">
              <a:buNone/>
            </a:pPr>
            <a:endParaRPr lang="en-US" dirty="0"/>
          </a:p>
          <a:p>
            <a:pPr>
              <a:buFont typeface="Wingdings" panose="05000000000000000000" pitchFamily="2" charset="2"/>
              <a:buChar char="Ø"/>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FILTER</a:t>
            </a:r>
            <a:r>
              <a:rPr lang="en-US" dirty="0"/>
              <a:t>: Returns a table filtered by a condition.</a:t>
            </a:r>
          </a:p>
          <a:p>
            <a:pPr>
              <a:buFont typeface="Wingdings" panose="05000000000000000000" pitchFamily="2" charset="2"/>
              <a:buChar char="Ø"/>
            </a:pPr>
            <a:endParaRPr lang="en-US" dirty="0"/>
          </a:p>
          <a:p>
            <a:pPr marL="0" indent="0">
              <a:buNone/>
            </a:pPr>
            <a:endParaRPr lang="en-US" dirty="0"/>
          </a:p>
        </p:txBody>
      </p:sp>
      <p:sp>
        <p:nvSpPr>
          <p:cNvPr id="14" name="Rectangle: Rounded Corners 13">
            <a:extLst>
              <a:ext uri="{FF2B5EF4-FFF2-40B4-BE49-F238E27FC236}">
                <a16:creationId xmlns:a16="http://schemas.microsoft.com/office/drawing/2014/main" id="{7B9D748D-3CF7-1330-0AB0-08BDE00604AA}"/>
              </a:ext>
            </a:extLst>
          </p:cNvPr>
          <p:cNvSpPr/>
          <p:nvPr/>
        </p:nvSpPr>
        <p:spPr>
          <a:xfrm>
            <a:off x="1156919" y="1796550"/>
            <a:ext cx="6206405"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CALCULATE(expression, filter1, filter2, …)</a:t>
            </a:r>
          </a:p>
        </p:txBody>
      </p:sp>
      <p:sp>
        <p:nvSpPr>
          <p:cNvPr id="15" name="Rectangle: Rounded Corners 14">
            <a:extLst>
              <a:ext uri="{FF2B5EF4-FFF2-40B4-BE49-F238E27FC236}">
                <a16:creationId xmlns:a16="http://schemas.microsoft.com/office/drawing/2014/main" id="{A8F49B3B-61E8-8B31-9694-ACD1C019EE2C}"/>
              </a:ext>
            </a:extLst>
          </p:cNvPr>
          <p:cNvSpPr/>
          <p:nvPr/>
        </p:nvSpPr>
        <p:spPr>
          <a:xfrm>
            <a:off x="1156919" y="2657031"/>
            <a:ext cx="8564597" cy="43313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Syntax</a:t>
            </a:r>
            <a:r>
              <a:rPr lang="en-US" b="1" dirty="0">
                <a:solidFill>
                  <a:schemeClr val="tx1"/>
                </a:solidFill>
              </a:rPr>
              <a:t>: FILTER(table, condition)</a:t>
            </a:r>
          </a:p>
        </p:txBody>
      </p:sp>
    </p:spTree>
    <p:extLst>
      <p:ext uri="{BB962C8B-B14F-4D97-AF65-F5344CB8AC3E}">
        <p14:creationId xmlns:p14="http://schemas.microsoft.com/office/powerpoint/2010/main" val="2056862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85B57-E67B-57D2-C7A6-7ABE42E03C8E}"/>
              </a:ext>
            </a:extLst>
          </p:cNvPr>
          <p:cNvSpPr>
            <a:spLocks noGrp="1"/>
          </p:cNvSpPr>
          <p:nvPr>
            <p:ph type="title"/>
          </p:nvPr>
        </p:nvSpPr>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Operators in DAX</a:t>
            </a:r>
          </a:p>
        </p:txBody>
      </p:sp>
      <p:sp>
        <p:nvSpPr>
          <p:cNvPr id="3" name="Text Placeholder 2">
            <a:extLst>
              <a:ext uri="{FF2B5EF4-FFF2-40B4-BE49-F238E27FC236}">
                <a16:creationId xmlns:a16="http://schemas.microsoft.com/office/drawing/2014/main" id="{22D48F65-65DB-4813-4FC4-49A3E0117AF0}"/>
              </a:ext>
            </a:extLst>
          </p:cNvPr>
          <p:cNvSpPr>
            <a:spLocks noGrp="1"/>
          </p:cNvSpPr>
          <p:nvPr>
            <p:ph type="body" sz="quarter" idx="14"/>
          </p:nvPr>
        </p:nvSpPr>
        <p:spPr>
          <a:xfrm>
            <a:off x="1156921" y="1331742"/>
            <a:ext cx="10275570" cy="4705350"/>
          </a:xfrm>
        </p:spPr>
        <p:txBody>
          <a:bodyPr/>
          <a:lstStyle/>
          <a:p>
            <a:r>
              <a:rPr lang="en-US" dirty="0"/>
              <a:t> DAX provides a variety of operators that you can use to perform calculations &amp; manipulate data.</a:t>
            </a:r>
          </a:p>
          <a:p>
            <a:r>
              <a:rPr lang="en-US" dirty="0"/>
              <a:t> These operators can be categorized into several types: arithmetic, comparison, logical, text concatenation, and more.</a:t>
            </a:r>
          </a:p>
          <a:p>
            <a:pPr marL="457200" indent="-457200">
              <a:buFont typeface="+mj-lt"/>
              <a:buAutoNum type="arabicPeriod"/>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Arithmetic Operators </a:t>
            </a:r>
            <a:r>
              <a:rPr lang="en-US" dirty="0"/>
              <a:t>– These operators are used to perform mathematical calculations.</a:t>
            </a:r>
          </a:p>
        </p:txBody>
      </p:sp>
      <p:graphicFrame>
        <p:nvGraphicFramePr>
          <p:cNvPr id="4" name="Table 3">
            <a:extLst>
              <a:ext uri="{FF2B5EF4-FFF2-40B4-BE49-F238E27FC236}">
                <a16:creationId xmlns:a16="http://schemas.microsoft.com/office/drawing/2014/main" id="{D6C3391E-0D24-81BA-0454-21F4F05BFD45}"/>
              </a:ext>
            </a:extLst>
          </p:cNvPr>
          <p:cNvGraphicFramePr>
            <a:graphicFrameLocks noGrp="1"/>
          </p:cNvGraphicFramePr>
          <p:nvPr>
            <p:extLst>
              <p:ext uri="{D42A27DB-BD31-4B8C-83A1-F6EECF244321}">
                <p14:modId xmlns:p14="http://schemas.microsoft.com/office/powerpoint/2010/main" val="3078309442"/>
              </p:ext>
            </p:extLst>
          </p:nvPr>
        </p:nvGraphicFramePr>
        <p:xfrm>
          <a:off x="1358230" y="3762817"/>
          <a:ext cx="10074261" cy="2743200"/>
        </p:xfrm>
        <a:graphic>
          <a:graphicData uri="http://schemas.openxmlformats.org/drawingml/2006/table">
            <a:tbl>
              <a:tblPr firstRow="1" bandRow="1">
                <a:tableStyleId>{3B4B98B0-60AC-42C2-AFA5-B58CD77FA1E5}</a:tableStyleId>
              </a:tblPr>
              <a:tblGrid>
                <a:gridCol w="2171033">
                  <a:extLst>
                    <a:ext uri="{9D8B030D-6E8A-4147-A177-3AD203B41FA5}">
                      <a16:colId xmlns:a16="http://schemas.microsoft.com/office/drawing/2014/main" val="4202511784"/>
                    </a:ext>
                  </a:extLst>
                </a:gridCol>
                <a:gridCol w="2951748">
                  <a:extLst>
                    <a:ext uri="{9D8B030D-6E8A-4147-A177-3AD203B41FA5}">
                      <a16:colId xmlns:a16="http://schemas.microsoft.com/office/drawing/2014/main" val="3049739451"/>
                    </a:ext>
                  </a:extLst>
                </a:gridCol>
                <a:gridCol w="4951480">
                  <a:extLst>
                    <a:ext uri="{9D8B030D-6E8A-4147-A177-3AD203B41FA5}">
                      <a16:colId xmlns:a16="http://schemas.microsoft.com/office/drawing/2014/main" val="3706221586"/>
                    </a:ext>
                  </a:extLst>
                </a:gridCol>
              </a:tblGrid>
              <a:tr h="370840">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Operator</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Description</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p>
                  </a:txBody>
                  <a:tcPr/>
                </a:tc>
                <a:extLst>
                  <a:ext uri="{0D108BD9-81ED-4DB2-BD59-A6C34878D82A}">
                    <a16:rowId xmlns:a16="http://schemas.microsoft.com/office/drawing/2014/main" val="2999081573"/>
                  </a:ext>
                </a:extLst>
              </a:tr>
              <a:tr h="370840">
                <a:tc>
                  <a:txBody>
                    <a:bodyPr/>
                    <a:lstStyle/>
                    <a:p>
                      <a:r>
                        <a:rPr lang="en-US" sz="2400" b="1" dirty="0"/>
                        <a:t>+</a:t>
                      </a:r>
                    </a:p>
                  </a:txBody>
                  <a:tcPr>
                    <a:solidFill>
                      <a:schemeClr val="bg1"/>
                    </a:solidFill>
                  </a:tcPr>
                </a:tc>
                <a:tc>
                  <a:txBody>
                    <a:bodyPr/>
                    <a:lstStyle/>
                    <a:p>
                      <a:r>
                        <a:rPr lang="en-US" sz="2400" b="1" dirty="0"/>
                        <a:t>Addition</a:t>
                      </a:r>
                    </a:p>
                  </a:txBody>
                  <a:tcPr>
                    <a:solidFill>
                      <a:schemeClr val="bg1"/>
                    </a:solidFill>
                  </a:tcPr>
                </a:tc>
                <a:tc>
                  <a:txBody>
                    <a:bodyPr/>
                    <a:lstStyle/>
                    <a:p>
                      <a:r>
                        <a:rPr lang="en-US" sz="2400" b="1" dirty="0"/>
                        <a:t>Sales[Revenue] + Sales[Cost]</a:t>
                      </a:r>
                    </a:p>
                  </a:txBody>
                  <a:tcPr>
                    <a:solidFill>
                      <a:schemeClr val="bg1"/>
                    </a:solidFill>
                  </a:tcPr>
                </a:tc>
                <a:extLst>
                  <a:ext uri="{0D108BD9-81ED-4DB2-BD59-A6C34878D82A}">
                    <a16:rowId xmlns:a16="http://schemas.microsoft.com/office/drawing/2014/main" val="2642506375"/>
                  </a:ext>
                </a:extLst>
              </a:tr>
              <a:tr h="370840">
                <a:tc>
                  <a:txBody>
                    <a:bodyPr/>
                    <a:lstStyle/>
                    <a:p>
                      <a:r>
                        <a:rPr lang="en-US" sz="2400" b="1" dirty="0"/>
                        <a:t>-</a:t>
                      </a:r>
                    </a:p>
                  </a:txBody>
                  <a:tcPr>
                    <a:solidFill>
                      <a:schemeClr val="bg1"/>
                    </a:solidFill>
                  </a:tcPr>
                </a:tc>
                <a:tc>
                  <a:txBody>
                    <a:bodyPr/>
                    <a:lstStyle/>
                    <a:p>
                      <a:r>
                        <a:rPr lang="en-US" sz="2400" b="1" dirty="0"/>
                        <a:t>Subtraction</a:t>
                      </a:r>
                    </a:p>
                  </a:txBody>
                  <a:tcPr>
                    <a:solidFill>
                      <a:schemeClr val="bg1"/>
                    </a:solidFill>
                  </a:tcPr>
                </a:tc>
                <a:tc>
                  <a:txBody>
                    <a:bodyPr/>
                    <a:lstStyle/>
                    <a:p>
                      <a:r>
                        <a:rPr lang="en-US" sz="2400" b="1" dirty="0"/>
                        <a:t>Sales[Revenue] – Sales[Cost]</a:t>
                      </a:r>
                    </a:p>
                  </a:txBody>
                  <a:tcPr>
                    <a:solidFill>
                      <a:schemeClr val="bg1"/>
                    </a:solidFill>
                  </a:tcPr>
                </a:tc>
                <a:extLst>
                  <a:ext uri="{0D108BD9-81ED-4DB2-BD59-A6C34878D82A}">
                    <a16:rowId xmlns:a16="http://schemas.microsoft.com/office/drawing/2014/main" val="2313334329"/>
                  </a:ext>
                </a:extLst>
              </a:tr>
              <a:tr h="370840">
                <a:tc>
                  <a:txBody>
                    <a:bodyPr/>
                    <a:lstStyle/>
                    <a:p>
                      <a:r>
                        <a:rPr lang="en-US" sz="2400" b="1" dirty="0"/>
                        <a:t>*</a:t>
                      </a:r>
                    </a:p>
                  </a:txBody>
                  <a:tcPr>
                    <a:solidFill>
                      <a:schemeClr val="bg1"/>
                    </a:solidFill>
                  </a:tcPr>
                </a:tc>
                <a:tc>
                  <a:txBody>
                    <a:bodyPr/>
                    <a:lstStyle/>
                    <a:p>
                      <a:r>
                        <a:rPr lang="en-US" sz="2400" b="1" dirty="0"/>
                        <a:t>Multiplication</a:t>
                      </a:r>
                    </a:p>
                  </a:txBody>
                  <a:tcPr>
                    <a:solidFill>
                      <a:schemeClr val="bg1"/>
                    </a:solidFill>
                  </a:tcPr>
                </a:tc>
                <a:tc>
                  <a:txBody>
                    <a:bodyPr/>
                    <a:lstStyle/>
                    <a:p>
                      <a:r>
                        <a:rPr lang="en-US" sz="2400" b="1" dirty="0"/>
                        <a:t>Sales[Quantity] * Sales[Price]</a:t>
                      </a:r>
                    </a:p>
                  </a:txBody>
                  <a:tcPr>
                    <a:solidFill>
                      <a:schemeClr val="bg1"/>
                    </a:solidFill>
                  </a:tcPr>
                </a:tc>
                <a:extLst>
                  <a:ext uri="{0D108BD9-81ED-4DB2-BD59-A6C34878D82A}">
                    <a16:rowId xmlns:a16="http://schemas.microsoft.com/office/drawing/2014/main" val="1499783950"/>
                  </a:ext>
                </a:extLst>
              </a:tr>
              <a:tr h="370840">
                <a:tc>
                  <a:txBody>
                    <a:bodyPr/>
                    <a:lstStyle/>
                    <a:p>
                      <a:r>
                        <a:rPr lang="en-US" sz="2400" b="1" dirty="0"/>
                        <a:t>/</a:t>
                      </a:r>
                    </a:p>
                  </a:txBody>
                  <a:tcPr>
                    <a:solidFill>
                      <a:schemeClr val="bg1"/>
                    </a:solidFill>
                  </a:tcPr>
                </a:tc>
                <a:tc>
                  <a:txBody>
                    <a:bodyPr/>
                    <a:lstStyle/>
                    <a:p>
                      <a:r>
                        <a:rPr lang="en-US" sz="2400" b="1" dirty="0"/>
                        <a:t>Division</a:t>
                      </a:r>
                    </a:p>
                  </a:txBody>
                  <a:tcPr>
                    <a:solidFill>
                      <a:schemeClr val="bg1"/>
                    </a:solidFill>
                  </a:tcPr>
                </a:tc>
                <a:tc>
                  <a:txBody>
                    <a:bodyPr/>
                    <a:lstStyle/>
                    <a:p>
                      <a:r>
                        <a:rPr lang="en-US" sz="2400" b="1" dirty="0"/>
                        <a:t>Sales[Quantity] / Sales[Quantity]</a:t>
                      </a:r>
                    </a:p>
                  </a:txBody>
                  <a:tcPr>
                    <a:solidFill>
                      <a:schemeClr val="bg1"/>
                    </a:solidFill>
                  </a:tcPr>
                </a:tc>
                <a:extLst>
                  <a:ext uri="{0D108BD9-81ED-4DB2-BD59-A6C34878D82A}">
                    <a16:rowId xmlns:a16="http://schemas.microsoft.com/office/drawing/2014/main" val="2920234818"/>
                  </a:ext>
                </a:extLst>
              </a:tr>
              <a:tr h="370840">
                <a:tc>
                  <a:txBody>
                    <a:bodyPr/>
                    <a:lstStyle/>
                    <a:p>
                      <a:r>
                        <a:rPr lang="en-US" sz="2400" b="1" dirty="0"/>
                        <a:t>^</a:t>
                      </a:r>
                    </a:p>
                  </a:txBody>
                  <a:tcPr>
                    <a:solidFill>
                      <a:schemeClr val="bg1"/>
                    </a:solidFill>
                  </a:tcPr>
                </a:tc>
                <a:tc>
                  <a:txBody>
                    <a:bodyPr/>
                    <a:lstStyle/>
                    <a:p>
                      <a:r>
                        <a:rPr lang="en-US" sz="2400" b="1" dirty="0"/>
                        <a:t>Exponentiation</a:t>
                      </a:r>
                    </a:p>
                  </a:txBody>
                  <a:tcPr>
                    <a:solidFill>
                      <a:schemeClr val="bg1"/>
                    </a:solidFill>
                  </a:tcPr>
                </a:tc>
                <a:tc>
                  <a:txBody>
                    <a:bodyPr/>
                    <a:lstStyle/>
                    <a:p>
                      <a:r>
                        <a:rPr lang="en-US" sz="2400" b="1" dirty="0"/>
                        <a:t>Power (2, 3) (equivalent to 2323)</a:t>
                      </a:r>
                    </a:p>
                  </a:txBody>
                  <a:tcPr>
                    <a:solidFill>
                      <a:schemeClr val="bg1"/>
                    </a:solidFill>
                  </a:tcPr>
                </a:tc>
                <a:extLst>
                  <a:ext uri="{0D108BD9-81ED-4DB2-BD59-A6C34878D82A}">
                    <a16:rowId xmlns:a16="http://schemas.microsoft.com/office/drawing/2014/main" val="2563284779"/>
                  </a:ext>
                </a:extLst>
              </a:tr>
            </a:tbl>
          </a:graphicData>
        </a:graphic>
      </p:graphicFrame>
    </p:spTree>
    <p:extLst>
      <p:ext uri="{BB962C8B-B14F-4D97-AF65-F5344CB8AC3E}">
        <p14:creationId xmlns:p14="http://schemas.microsoft.com/office/powerpoint/2010/main" val="3586213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16CD-7CE4-8FC8-7727-DAA289B9C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A0AC2-02EF-20D1-DB58-0D55FBB6957B}"/>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7CD203EE-6679-3257-888E-B31A43159BE9}"/>
              </a:ext>
            </a:extLst>
          </p:cNvPr>
          <p:cNvSpPr>
            <a:spLocks noGrp="1"/>
          </p:cNvSpPr>
          <p:nvPr>
            <p:ph type="body" sz="quarter" idx="14"/>
          </p:nvPr>
        </p:nvSpPr>
        <p:spPr>
          <a:xfrm>
            <a:off x="716060" y="1331742"/>
            <a:ext cx="10275570" cy="5526258"/>
          </a:xfrm>
        </p:spPr>
        <p:txBody>
          <a:bodyPr/>
          <a:lstStyle/>
          <a:p>
            <a:pPr marL="457200" indent="-457200">
              <a:buFont typeface="+mj-lt"/>
              <a:buAutoNum type="arabicPeriod" startAt="2"/>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Comparison Operators </a:t>
            </a:r>
            <a:r>
              <a:rPr lang="en-US" dirty="0"/>
              <a:t>– These operators compare two values and return a Boolean result (TRUE or FALSE).</a:t>
            </a:r>
          </a:p>
        </p:txBody>
      </p:sp>
      <p:graphicFrame>
        <p:nvGraphicFramePr>
          <p:cNvPr id="4" name="Table 3">
            <a:extLst>
              <a:ext uri="{FF2B5EF4-FFF2-40B4-BE49-F238E27FC236}">
                <a16:creationId xmlns:a16="http://schemas.microsoft.com/office/drawing/2014/main" id="{2EF851F2-ACBC-82EB-13CD-BE25E746E0B1}"/>
              </a:ext>
            </a:extLst>
          </p:cNvPr>
          <p:cNvGraphicFramePr>
            <a:graphicFrameLocks noGrp="1"/>
          </p:cNvGraphicFramePr>
          <p:nvPr>
            <p:extLst>
              <p:ext uri="{D42A27DB-BD31-4B8C-83A1-F6EECF244321}">
                <p14:modId xmlns:p14="http://schemas.microsoft.com/office/powerpoint/2010/main" val="1087027829"/>
              </p:ext>
            </p:extLst>
          </p:nvPr>
        </p:nvGraphicFramePr>
        <p:xfrm>
          <a:off x="808693" y="2242869"/>
          <a:ext cx="10574612" cy="2343150"/>
        </p:xfrm>
        <a:graphic>
          <a:graphicData uri="http://schemas.openxmlformats.org/drawingml/2006/table">
            <a:tbl>
              <a:tblPr firstRow="1" bandRow="1">
                <a:tableStyleId>{3B4B98B0-60AC-42C2-AFA5-B58CD77FA1E5}</a:tableStyleId>
              </a:tblPr>
              <a:tblGrid>
                <a:gridCol w="2278860">
                  <a:extLst>
                    <a:ext uri="{9D8B030D-6E8A-4147-A177-3AD203B41FA5}">
                      <a16:colId xmlns:a16="http://schemas.microsoft.com/office/drawing/2014/main" val="4202511784"/>
                    </a:ext>
                  </a:extLst>
                </a:gridCol>
                <a:gridCol w="3098350">
                  <a:extLst>
                    <a:ext uri="{9D8B030D-6E8A-4147-A177-3AD203B41FA5}">
                      <a16:colId xmlns:a16="http://schemas.microsoft.com/office/drawing/2014/main" val="3049739451"/>
                    </a:ext>
                  </a:extLst>
                </a:gridCol>
                <a:gridCol w="5197402">
                  <a:extLst>
                    <a:ext uri="{9D8B030D-6E8A-4147-A177-3AD203B41FA5}">
                      <a16:colId xmlns:a16="http://schemas.microsoft.com/office/drawing/2014/main" val="3706221586"/>
                    </a:ext>
                  </a:extLst>
                </a:gridCol>
              </a:tblGrid>
              <a:tr h="437686">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Operator</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Description</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p>
                  </a:txBody>
                  <a:tcPr/>
                </a:tc>
                <a:extLst>
                  <a:ext uri="{0D108BD9-81ED-4DB2-BD59-A6C34878D82A}">
                    <a16:rowId xmlns:a16="http://schemas.microsoft.com/office/drawing/2014/main" val="2999081573"/>
                  </a:ext>
                </a:extLst>
              </a:tr>
              <a:tr h="361091">
                <a:tc>
                  <a:txBody>
                    <a:bodyPr/>
                    <a:lstStyle/>
                    <a:p>
                      <a:pPr marL="0" marR="0">
                        <a:buNone/>
                      </a:pPr>
                      <a:r>
                        <a:rPr lang="en-US" sz="1600" b="1"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t>=</a:t>
                      </a:r>
                      <a:endParaRPr lang="en-US" sz="1600" b="1"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Equal to</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Sales[Quantity] = 10</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2642506375"/>
                  </a:ext>
                </a:extLst>
              </a:tr>
              <a:tr h="361091">
                <a:tc>
                  <a:txBody>
                    <a:bodyPr/>
                    <a:lstStyle/>
                    <a:p>
                      <a:pPr marL="0" marR="0">
                        <a:buNone/>
                      </a:pPr>
                      <a:r>
                        <a:rPr lang="en-US" sz="1600" b="1"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t>&lt;&gt;</a:t>
                      </a:r>
                      <a:r>
                        <a:rPr lang="en-US" sz="1600" b="1" dirty="0">
                          <a:effectLst/>
                          <a:latin typeface="ADLaM Display" panose="02010000000000000000" pitchFamily="2" charset="0"/>
                          <a:ea typeface="ADLaM Display" panose="02010000000000000000" pitchFamily="2" charset="0"/>
                          <a:cs typeface="ADLaM Display" panose="02010000000000000000" pitchFamily="2" charset="0"/>
                        </a:rPr>
                        <a:t> </a:t>
                      </a:r>
                    </a:p>
                  </a:txBody>
                  <a:tcPr marL="66675" marR="66675" marT="66675" marB="66675" anchor="ctr">
                    <a:solidFill>
                      <a:schemeClr val="bg1"/>
                    </a:solidFill>
                  </a:tcPr>
                </a:tc>
                <a:tc>
                  <a:txBody>
                    <a:bodyPr/>
                    <a:lstStyle/>
                    <a:p>
                      <a:pPr marL="0" marR="0">
                        <a:buNone/>
                      </a:pPr>
                      <a:r>
                        <a:rPr lang="en-US" sz="1600">
                          <a:solidFill>
                            <a:srgbClr val="000000"/>
                          </a:solidFill>
                          <a:effectLst/>
                        </a:rPr>
                        <a:t>Not equal to</a:t>
                      </a:r>
                      <a:endParaRPr lang="en-US" sz="160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a:solidFill>
                            <a:srgbClr val="000000"/>
                          </a:solidFill>
                          <a:effectLst/>
                        </a:rPr>
                        <a:t>Sales[Quantity] &lt;&gt; 10</a:t>
                      </a:r>
                      <a:endParaRPr lang="en-US" sz="160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2313334329"/>
                  </a:ext>
                </a:extLst>
              </a:tr>
              <a:tr h="361091">
                <a:tc>
                  <a:txBody>
                    <a:bodyPr/>
                    <a:lstStyle/>
                    <a:p>
                      <a:pPr marL="0" marR="0">
                        <a:buNone/>
                      </a:pPr>
                      <a:r>
                        <a:rPr lang="en-US" sz="1600" b="1"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t>&gt;</a:t>
                      </a:r>
                      <a:r>
                        <a:rPr lang="en-US" sz="1600" b="1" dirty="0">
                          <a:effectLst/>
                          <a:latin typeface="ADLaM Display" panose="02010000000000000000" pitchFamily="2" charset="0"/>
                          <a:ea typeface="ADLaM Display" panose="02010000000000000000" pitchFamily="2" charset="0"/>
                          <a:cs typeface="ADLaM Display" panose="02010000000000000000" pitchFamily="2" charset="0"/>
                        </a:rPr>
                        <a:t> </a:t>
                      </a:r>
                    </a:p>
                  </a:txBody>
                  <a:tcPr marL="66675" marR="66675" marT="66675" marB="66675" anchor="ctr">
                    <a:solidFill>
                      <a:schemeClr val="bg1"/>
                    </a:solidFill>
                  </a:tcPr>
                </a:tc>
                <a:tc>
                  <a:txBody>
                    <a:bodyPr/>
                    <a:lstStyle/>
                    <a:p>
                      <a:pPr marL="0" marR="0">
                        <a:buNone/>
                      </a:pPr>
                      <a:r>
                        <a:rPr lang="en-US" sz="1600">
                          <a:solidFill>
                            <a:srgbClr val="000000"/>
                          </a:solidFill>
                          <a:effectLst/>
                        </a:rPr>
                        <a:t>Greater than</a:t>
                      </a:r>
                      <a:endParaRPr lang="en-US" sz="160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Sales[Revenue] &gt; 1000</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1499783950"/>
                  </a:ext>
                </a:extLst>
              </a:tr>
              <a:tr h="361091">
                <a:tc>
                  <a:txBody>
                    <a:bodyPr/>
                    <a:lstStyle/>
                    <a:p>
                      <a:pPr marL="0" marR="0">
                        <a:buNone/>
                      </a:pPr>
                      <a:r>
                        <a:rPr lang="en-US" sz="1600" b="1"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t>&lt;</a:t>
                      </a:r>
                      <a:r>
                        <a:rPr lang="en-US" sz="1600" b="1" dirty="0">
                          <a:effectLst/>
                          <a:latin typeface="ADLaM Display" panose="02010000000000000000" pitchFamily="2" charset="0"/>
                          <a:ea typeface="ADLaM Display" panose="02010000000000000000" pitchFamily="2" charset="0"/>
                          <a:cs typeface="ADLaM Display" panose="02010000000000000000" pitchFamily="2" charset="0"/>
                        </a:rPr>
                        <a:t> </a:t>
                      </a:r>
                    </a:p>
                  </a:txBody>
                  <a:tcPr marL="66675" marR="66675" marT="66675" marB="66675" anchor="ctr">
                    <a:solidFill>
                      <a:schemeClr val="bg1"/>
                    </a:solidFill>
                  </a:tcPr>
                </a:tc>
                <a:tc>
                  <a:txBody>
                    <a:bodyPr/>
                    <a:lstStyle/>
                    <a:p>
                      <a:pPr marL="0" marR="0">
                        <a:buNone/>
                      </a:pPr>
                      <a:r>
                        <a:rPr lang="en-US" sz="1600">
                          <a:solidFill>
                            <a:srgbClr val="000000"/>
                          </a:solidFill>
                          <a:effectLst/>
                        </a:rPr>
                        <a:t>Less than</a:t>
                      </a:r>
                      <a:endParaRPr lang="en-US" sz="160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Sales[Revenue] &lt; 1000</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2920234818"/>
                  </a:ext>
                </a:extLst>
              </a:tr>
              <a:tr h="361091">
                <a:tc>
                  <a:txBody>
                    <a:bodyPr/>
                    <a:lstStyle/>
                    <a:p>
                      <a:pPr marL="0" marR="0">
                        <a:buNone/>
                      </a:pPr>
                      <a:r>
                        <a:rPr lang="en-US" sz="1600" b="1"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t>&gt;=</a:t>
                      </a:r>
                      <a:endParaRPr lang="en-US" sz="1600" b="1"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Greater than or equal to</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1600" dirty="0">
                          <a:solidFill>
                            <a:srgbClr val="000000"/>
                          </a:solidFill>
                          <a:effectLst/>
                        </a:rPr>
                        <a:t>Sales[Revenue] &gt;= 1000</a:t>
                      </a:r>
                      <a:endParaRPr lang="en-US" sz="16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2563284779"/>
                  </a:ext>
                </a:extLst>
              </a:tr>
            </a:tbl>
          </a:graphicData>
        </a:graphic>
      </p:graphicFrame>
      <p:sp>
        <p:nvSpPr>
          <p:cNvPr id="5" name="Text Placeholder 2">
            <a:extLst>
              <a:ext uri="{FF2B5EF4-FFF2-40B4-BE49-F238E27FC236}">
                <a16:creationId xmlns:a16="http://schemas.microsoft.com/office/drawing/2014/main" id="{D5E42E91-EFA5-EABD-5485-A5B09B16DB38}"/>
              </a:ext>
            </a:extLst>
          </p:cNvPr>
          <p:cNvSpPr txBox="1">
            <a:spLocks/>
          </p:cNvSpPr>
          <p:nvPr/>
        </p:nvSpPr>
        <p:spPr>
          <a:xfrm>
            <a:off x="595447" y="4586019"/>
            <a:ext cx="11388005" cy="5526258"/>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pPr marL="457200" indent="-457200">
              <a:buFont typeface="+mj-lt"/>
              <a:buAutoNum type="arabicPeriod" startAt="3"/>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Text Operators </a:t>
            </a:r>
            <a:r>
              <a:rPr lang="en-US" dirty="0"/>
              <a:t>– These operators are used for string manipulation &amp; concatenation.</a:t>
            </a:r>
          </a:p>
        </p:txBody>
      </p:sp>
      <p:graphicFrame>
        <p:nvGraphicFramePr>
          <p:cNvPr id="6" name="Table 5">
            <a:extLst>
              <a:ext uri="{FF2B5EF4-FFF2-40B4-BE49-F238E27FC236}">
                <a16:creationId xmlns:a16="http://schemas.microsoft.com/office/drawing/2014/main" id="{34A349BD-F3C0-3725-3FA2-AB9CE518DA81}"/>
              </a:ext>
            </a:extLst>
          </p:cNvPr>
          <p:cNvGraphicFramePr>
            <a:graphicFrameLocks noGrp="1"/>
          </p:cNvGraphicFramePr>
          <p:nvPr>
            <p:extLst>
              <p:ext uri="{D42A27DB-BD31-4B8C-83A1-F6EECF244321}">
                <p14:modId xmlns:p14="http://schemas.microsoft.com/office/powerpoint/2010/main" val="2220866007"/>
              </p:ext>
            </p:extLst>
          </p:nvPr>
        </p:nvGraphicFramePr>
        <p:xfrm>
          <a:off x="901327" y="5298784"/>
          <a:ext cx="10574612" cy="895350"/>
        </p:xfrm>
        <a:graphic>
          <a:graphicData uri="http://schemas.openxmlformats.org/drawingml/2006/table">
            <a:tbl>
              <a:tblPr firstRow="1" bandRow="1">
                <a:tableStyleId>{3B4B98B0-60AC-42C2-AFA5-B58CD77FA1E5}</a:tableStyleId>
              </a:tblPr>
              <a:tblGrid>
                <a:gridCol w="2278860">
                  <a:extLst>
                    <a:ext uri="{9D8B030D-6E8A-4147-A177-3AD203B41FA5}">
                      <a16:colId xmlns:a16="http://schemas.microsoft.com/office/drawing/2014/main" val="4202511784"/>
                    </a:ext>
                  </a:extLst>
                </a:gridCol>
                <a:gridCol w="3098350">
                  <a:extLst>
                    <a:ext uri="{9D8B030D-6E8A-4147-A177-3AD203B41FA5}">
                      <a16:colId xmlns:a16="http://schemas.microsoft.com/office/drawing/2014/main" val="3049739451"/>
                    </a:ext>
                  </a:extLst>
                </a:gridCol>
                <a:gridCol w="5197402">
                  <a:extLst>
                    <a:ext uri="{9D8B030D-6E8A-4147-A177-3AD203B41FA5}">
                      <a16:colId xmlns:a16="http://schemas.microsoft.com/office/drawing/2014/main" val="3706221586"/>
                    </a:ext>
                  </a:extLst>
                </a:gridCol>
              </a:tblGrid>
              <a:tr h="386181">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Operator</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Description</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p>
                  </a:txBody>
                  <a:tcPr/>
                </a:tc>
                <a:extLst>
                  <a:ext uri="{0D108BD9-81ED-4DB2-BD59-A6C34878D82A}">
                    <a16:rowId xmlns:a16="http://schemas.microsoft.com/office/drawing/2014/main" val="2999081573"/>
                  </a:ext>
                </a:extLst>
              </a:tr>
              <a:tr h="318599">
                <a:tc>
                  <a:txBody>
                    <a:bodyPr/>
                    <a:lstStyle/>
                    <a:p>
                      <a:pPr marL="0" marR="0">
                        <a:buNone/>
                      </a:pPr>
                      <a:r>
                        <a:rPr lang="en-US" sz="2000" dirty="0">
                          <a:solidFill>
                            <a:srgbClr val="000000"/>
                          </a:solidFill>
                          <a:effectLst/>
                        </a:rPr>
                        <a:t>&amp;</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alpha val="20000"/>
                      </a:schemeClr>
                    </a:solidFill>
                  </a:tcPr>
                </a:tc>
                <a:tc>
                  <a:txBody>
                    <a:bodyPr/>
                    <a:lstStyle/>
                    <a:p>
                      <a:pPr marL="0" marR="0">
                        <a:buNone/>
                      </a:pPr>
                      <a:r>
                        <a:rPr lang="en-US" sz="2000" dirty="0">
                          <a:solidFill>
                            <a:srgbClr val="000000"/>
                          </a:solidFill>
                          <a:effectLst/>
                        </a:rPr>
                        <a:t>Concatenation</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alpha val="20000"/>
                      </a:schemeClr>
                    </a:solidFill>
                  </a:tcPr>
                </a:tc>
                <a:tc>
                  <a:txBody>
                    <a:bodyPr/>
                    <a:lstStyle/>
                    <a:p>
                      <a:pPr marL="0" marR="0">
                        <a:buNone/>
                      </a:pPr>
                      <a:r>
                        <a:rPr lang="en-US" sz="2000" dirty="0">
                          <a:solidFill>
                            <a:srgbClr val="000000"/>
                          </a:solidFill>
                          <a:effectLst/>
                        </a:rPr>
                        <a:t>Sales[Product] &amp; " - " &amp; Sales[Category]</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alpha val="20000"/>
                      </a:schemeClr>
                    </a:solidFill>
                  </a:tcPr>
                </a:tc>
                <a:extLst>
                  <a:ext uri="{0D108BD9-81ED-4DB2-BD59-A6C34878D82A}">
                    <a16:rowId xmlns:a16="http://schemas.microsoft.com/office/drawing/2014/main" val="2642506375"/>
                  </a:ext>
                </a:extLst>
              </a:tr>
            </a:tbl>
          </a:graphicData>
        </a:graphic>
      </p:graphicFrame>
    </p:spTree>
    <p:extLst>
      <p:ext uri="{BB962C8B-B14F-4D97-AF65-F5344CB8AC3E}">
        <p14:creationId xmlns:p14="http://schemas.microsoft.com/office/powerpoint/2010/main" val="735163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CF3E-93BD-D4B4-4FC7-1CA738F82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5CF1F-186C-CA65-90A5-1494C6EA13C8}"/>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5E94935E-8719-3E7B-6ADE-AA716F518FEF}"/>
              </a:ext>
            </a:extLst>
          </p:cNvPr>
          <p:cNvSpPr>
            <a:spLocks noGrp="1"/>
          </p:cNvSpPr>
          <p:nvPr>
            <p:ph type="body" sz="quarter" idx="14"/>
          </p:nvPr>
        </p:nvSpPr>
        <p:spPr>
          <a:xfrm>
            <a:off x="716059" y="1331742"/>
            <a:ext cx="10880493" cy="5526258"/>
          </a:xfrm>
        </p:spPr>
        <p:txBody>
          <a:bodyPr/>
          <a:lstStyle/>
          <a:p>
            <a:pPr marL="457200" indent="-457200">
              <a:buFont typeface="+mj-lt"/>
              <a:buAutoNum type="arabicPeriod" startAt="4"/>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Logical Operators</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t>– These operators are used to combine multiple conditions.</a:t>
            </a:r>
          </a:p>
        </p:txBody>
      </p:sp>
      <p:graphicFrame>
        <p:nvGraphicFramePr>
          <p:cNvPr id="4" name="Table 3">
            <a:extLst>
              <a:ext uri="{FF2B5EF4-FFF2-40B4-BE49-F238E27FC236}">
                <a16:creationId xmlns:a16="http://schemas.microsoft.com/office/drawing/2014/main" id="{3773533C-DAA6-C52B-3522-0918E4088B47}"/>
              </a:ext>
            </a:extLst>
          </p:cNvPr>
          <p:cNvGraphicFramePr>
            <a:graphicFrameLocks noGrp="1"/>
          </p:cNvGraphicFramePr>
          <p:nvPr>
            <p:extLst>
              <p:ext uri="{D42A27DB-BD31-4B8C-83A1-F6EECF244321}">
                <p14:modId xmlns:p14="http://schemas.microsoft.com/office/powerpoint/2010/main" val="3603070162"/>
              </p:ext>
            </p:extLst>
          </p:nvPr>
        </p:nvGraphicFramePr>
        <p:xfrm>
          <a:off x="808694" y="1886487"/>
          <a:ext cx="10574612" cy="1606102"/>
        </p:xfrm>
        <a:graphic>
          <a:graphicData uri="http://schemas.openxmlformats.org/drawingml/2006/table">
            <a:tbl>
              <a:tblPr firstRow="1" bandRow="1">
                <a:tableStyleId>{3B4B98B0-60AC-42C2-AFA5-B58CD77FA1E5}</a:tableStyleId>
              </a:tblPr>
              <a:tblGrid>
                <a:gridCol w="2278860">
                  <a:extLst>
                    <a:ext uri="{9D8B030D-6E8A-4147-A177-3AD203B41FA5}">
                      <a16:colId xmlns:a16="http://schemas.microsoft.com/office/drawing/2014/main" val="4202511784"/>
                    </a:ext>
                  </a:extLst>
                </a:gridCol>
                <a:gridCol w="3098350">
                  <a:extLst>
                    <a:ext uri="{9D8B030D-6E8A-4147-A177-3AD203B41FA5}">
                      <a16:colId xmlns:a16="http://schemas.microsoft.com/office/drawing/2014/main" val="3049739451"/>
                    </a:ext>
                  </a:extLst>
                </a:gridCol>
                <a:gridCol w="5197402">
                  <a:extLst>
                    <a:ext uri="{9D8B030D-6E8A-4147-A177-3AD203B41FA5}">
                      <a16:colId xmlns:a16="http://schemas.microsoft.com/office/drawing/2014/main" val="3706221586"/>
                    </a:ext>
                  </a:extLst>
                </a:gridCol>
              </a:tblGrid>
              <a:tr h="437686">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Operator</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Description</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p>
                  </a:txBody>
                  <a:tcPr/>
                </a:tc>
                <a:extLst>
                  <a:ext uri="{0D108BD9-81ED-4DB2-BD59-A6C34878D82A}">
                    <a16:rowId xmlns:a16="http://schemas.microsoft.com/office/drawing/2014/main" val="2999081573"/>
                  </a:ext>
                </a:extLst>
              </a:tr>
              <a:tr h="361091">
                <a:tc>
                  <a:txBody>
                    <a:bodyPr/>
                    <a:lstStyle/>
                    <a:p>
                      <a:pPr marL="0" marR="0">
                        <a:buNone/>
                      </a:pPr>
                      <a:r>
                        <a:rPr lang="en-US" sz="1400" dirty="0">
                          <a:effectLst/>
                        </a:rPr>
                        <a:t>AND</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a:buNone/>
                      </a:pPr>
                      <a:r>
                        <a:rPr lang="en-US" sz="1400" dirty="0">
                          <a:effectLst/>
                        </a:rPr>
                        <a:t>AND</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a:buNone/>
                      </a:pPr>
                      <a:r>
                        <a:rPr lang="en-US" sz="1400" dirty="0">
                          <a:effectLst/>
                        </a:rPr>
                        <a:t>Returns TRUE if both conditions are TRUE.</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extLst>
                  <a:ext uri="{0D108BD9-81ED-4DB2-BD59-A6C34878D82A}">
                    <a16:rowId xmlns:a16="http://schemas.microsoft.com/office/drawing/2014/main" val="2642506375"/>
                  </a:ext>
                </a:extLst>
              </a:tr>
              <a:tr h="361091">
                <a:tc>
                  <a:txBody>
                    <a:bodyPr/>
                    <a:lstStyle/>
                    <a:p>
                      <a:pPr marL="0" marR="0">
                        <a:buNone/>
                      </a:pPr>
                      <a:r>
                        <a:rPr lang="en-US" sz="1400" dirty="0">
                          <a:effectLst/>
                        </a:rPr>
                        <a:t>NOT</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a:buNone/>
                      </a:pPr>
                      <a:r>
                        <a:rPr lang="en-US" sz="1400" dirty="0">
                          <a:effectLst/>
                        </a:rPr>
                        <a:t>NOT</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indent="457200">
                        <a:buNone/>
                      </a:pPr>
                      <a:r>
                        <a:rPr lang="en-US" sz="1400" dirty="0">
                          <a:effectLst/>
                        </a:rPr>
                        <a:t>Reverses the logical value of a condition.</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extLst>
                  <a:ext uri="{0D108BD9-81ED-4DB2-BD59-A6C34878D82A}">
                    <a16:rowId xmlns:a16="http://schemas.microsoft.com/office/drawing/2014/main" val="2313334329"/>
                  </a:ext>
                </a:extLst>
              </a:tr>
              <a:tr h="361091">
                <a:tc>
                  <a:txBody>
                    <a:bodyPr/>
                    <a:lstStyle/>
                    <a:p>
                      <a:pPr marL="0" marR="0">
                        <a:buNone/>
                      </a:pPr>
                      <a:r>
                        <a:rPr lang="en-US" sz="1400" dirty="0">
                          <a:effectLst/>
                        </a:rPr>
                        <a:t>OR</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a:buNone/>
                      </a:pPr>
                      <a:r>
                        <a:rPr lang="en-US" sz="1400" dirty="0">
                          <a:effectLst/>
                        </a:rPr>
                        <a:t>OR</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tc>
                  <a:txBody>
                    <a:bodyPr/>
                    <a:lstStyle/>
                    <a:p>
                      <a:pPr marL="0" marR="0">
                        <a:buNone/>
                      </a:pPr>
                      <a:r>
                        <a:rPr lang="en-US" sz="1400" dirty="0">
                          <a:effectLst/>
                        </a:rPr>
                        <a:t>A Boolean value. The value is TRUE if any of the two arguments is TRUE; the value is FALSE if both the arguments are FALSE.</a:t>
                      </a:r>
                      <a:endParaRPr lang="en-US" sz="14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8580" marR="68580" marT="0" marB="0">
                    <a:solidFill>
                      <a:schemeClr val="bg1"/>
                    </a:solidFill>
                  </a:tcPr>
                </a:tc>
                <a:extLst>
                  <a:ext uri="{0D108BD9-81ED-4DB2-BD59-A6C34878D82A}">
                    <a16:rowId xmlns:a16="http://schemas.microsoft.com/office/drawing/2014/main" val="1499783950"/>
                  </a:ext>
                </a:extLst>
              </a:tr>
            </a:tbl>
          </a:graphicData>
        </a:graphic>
      </p:graphicFrame>
      <p:sp>
        <p:nvSpPr>
          <p:cNvPr id="5" name="Text Placeholder 2">
            <a:extLst>
              <a:ext uri="{FF2B5EF4-FFF2-40B4-BE49-F238E27FC236}">
                <a16:creationId xmlns:a16="http://schemas.microsoft.com/office/drawing/2014/main" id="{FB99E5C6-FBBE-C65F-899F-1D602C9C5818}"/>
              </a:ext>
            </a:extLst>
          </p:cNvPr>
          <p:cNvSpPr txBox="1">
            <a:spLocks/>
          </p:cNvSpPr>
          <p:nvPr/>
        </p:nvSpPr>
        <p:spPr>
          <a:xfrm>
            <a:off x="716059" y="3705949"/>
            <a:ext cx="11388005" cy="5526258"/>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pPr marL="457200" indent="-457200">
              <a:buFont typeface="+mj-lt"/>
              <a:buAutoNum type="arabicPeriod" startAt="5"/>
            </a:pP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Special Operators</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t>– These operators serve specific purposes in DAX calculations.</a:t>
            </a:r>
          </a:p>
        </p:txBody>
      </p:sp>
      <p:graphicFrame>
        <p:nvGraphicFramePr>
          <p:cNvPr id="6" name="Table 5">
            <a:extLst>
              <a:ext uri="{FF2B5EF4-FFF2-40B4-BE49-F238E27FC236}">
                <a16:creationId xmlns:a16="http://schemas.microsoft.com/office/drawing/2014/main" id="{FC64640D-8E86-FDF7-E248-30A510A1536D}"/>
              </a:ext>
            </a:extLst>
          </p:cNvPr>
          <p:cNvGraphicFramePr>
            <a:graphicFrameLocks noGrp="1"/>
          </p:cNvGraphicFramePr>
          <p:nvPr>
            <p:extLst>
              <p:ext uri="{D42A27DB-BD31-4B8C-83A1-F6EECF244321}">
                <p14:modId xmlns:p14="http://schemas.microsoft.com/office/powerpoint/2010/main" val="1260486249"/>
              </p:ext>
            </p:extLst>
          </p:nvPr>
        </p:nvGraphicFramePr>
        <p:xfrm>
          <a:off x="901329" y="4260694"/>
          <a:ext cx="10574612" cy="1638300"/>
        </p:xfrm>
        <a:graphic>
          <a:graphicData uri="http://schemas.openxmlformats.org/drawingml/2006/table">
            <a:tbl>
              <a:tblPr firstRow="1" bandRow="1">
                <a:tableStyleId>{3B4B98B0-60AC-42C2-AFA5-B58CD77FA1E5}</a:tableStyleId>
              </a:tblPr>
              <a:tblGrid>
                <a:gridCol w="2278860">
                  <a:extLst>
                    <a:ext uri="{9D8B030D-6E8A-4147-A177-3AD203B41FA5}">
                      <a16:colId xmlns:a16="http://schemas.microsoft.com/office/drawing/2014/main" val="4202511784"/>
                    </a:ext>
                  </a:extLst>
                </a:gridCol>
                <a:gridCol w="3098350">
                  <a:extLst>
                    <a:ext uri="{9D8B030D-6E8A-4147-A177-3AD203B41FA5}">
                      <a16:colId xmlns:a16="http://schemas.microsoft.com/office/drawing/2014/main" val="3049739451"/>
                    </a:ext>
                  </a:extLst>
                </a:gridCol>
                <a:gridCol w="5197402">
                  <a:extLst>
                    <a:ext uri="{9D8B030D-6E8A-4147-A177-3AD203B41FA5}">
                      <a16:colId xmlns:a16="http://schemas.microsoft.com/office/drawing/2014/main" val="3706221586"/>
                    </a:ext>
                  </a:extLst>
                </a:gridCol>
              </a:tblGrid>
              <a:tr h="386181">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Operator</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Description</a:t>
                      </a:r>
                    </a:p>
                  </a:txBody>
                  <a:tcPr/>
                </a:tc>
                <a:tc>
                  <a:txBody>
                    <a:bodyPr/>
                    <a:lstStyle/>
                    <a:p>
                      <a:pPr algn="ct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p>
                  </a:txBody>
                  <a:tcPr/>
                </a:tc>
                <a:extLst>
                  <a:ext uri="{0D108BD9-81ED-4DB2-BD59-A6C34878D82A}">
                    <a16:rowId xmlns:a16="http://schemas.microsoft.com/office/drawing/2014/main" val="2999081573"/>
                  </a:ext>
                </a:extLst>
              </a:tr>
              <a:tr h="318599">
                <a:tc>
                  <a:txBody>
                    <a:bodyPr/>
                    <a:lstStyle/>
                    <a:p>
                      <a:pPr marL="0" marR="0">
                        <a:buNone/>
                      </a:pPr>
                      <a:r>
                        <a:rPr lang="en-US" sz="2000" b="1" dirty="0">
                          <a:solidFill>
                            <a:srgbClr val="000000"/>
                          </a:solidFill>
                          <a:effectLst/>
                        </a:rPr>
                        <a:t>IN</a:t>
                      </a:r>
                      <a:endParaRPr lang="en-US" sz="2000" b="1"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2000" dirty="0">
                          <a:solidFill>
                            <a:srgbClr val="000000"/>
                          </a:solidFill>
                          <a:effectLst/>
                        </a:rPr>
                        <a:t>Checks for existence in a list</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2000" dirty="0">
                          <a:solidFill>
                            <a:srgbClr val="000000"/>
                          </a:solidFill>
                          <a:effectLst/>
                        </a:rPr>
                        <a:t>Sales[Category] IN {“Electronics”, “Clothing}</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2642506375"/>
                  </a:ext>
                </a:extLst>
              </a:tr>
              <a:tr h="318599">
                <a:tc>
                  <a:txBody>
                    <a:bodyPr/>
                    <a:lstStyle/>
                    <a:p>
                      <a:pPr marL="0" marR="0">
                        <a:buNone/>
                      </a:pPr>
                      <a:r>
                        <a:rPr lang="en-US" sz="2000" b="1" dirty="0">
                          <a:effectLst/>
                        </a:rPr>
                        <a:t>BLANK</a:t>
                      </a:r>
                      <a:endParaRPr lang="en-US" sz="2000" b="1"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2000" dirty="0">
                          <a:effectLst/>
                        </a:rPr>
                        <a:t>Represents missing or empty values</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tc>
                  <a:txBody>
                    <a:bodyPr/>
                    <a:lstStyle/>
                    <a:p>
                      <a:pPr marL="0" marR="0">
                        <a:buNone/>
                      </a:pPr>
                      <a:r>
                        <a:rPr lang="en-US" sz="2000" dirty="0">
                          <a:effectLst/>
                        </a:rPr>
                        <a:t>IF(Sales[Revenue] = 0, BLANK(), Sales[Revenue])</a:t>
                      </a:r>
                      <a:endParaRPr lang="en-US" sz="2000" dirty="0">
                        <a:effectLst/>
                        <a:latin typeface="ADLaM Display" panose="02010000000000000000" pitchFamily="2" charset="0"/>
                        <a:ea typeface="ADLaM Display" panose="02010000000000000000" pitchFamily="2" charset="0"/>
                        <a:cs typeface="ADLaM Display" panose="02010000000000000000" pitchFamily="2" charset="0"/>
                      </a:endParaRPr>
                    </a:p>
                  </a:txBody>
                  <a:tcPr marL="66675" marR="66675" marT="66675" marB="66675" anchor="ctr">
                    <a:solidFill>
                      <a:schemeClr val="bg1"/>
                    </a:solidFill>
                  </a:tcPr>
                </a:tc>
                <a:extLst>
                  <a:ext uri="{0D108BD9-81ED-4DB2-BD59-A6C34878D82A}">
                    <a16:rowId xmlns:a16="http://schemas.microsoft.com/office/drawing/2014/main" val="3602603516"/>
                  </a:ext>
                </a:extLst>
              </a:tr>
            </a:tbl>
          </a:graphicData>
        </a:graphic>
      </p:graphicFrame>
    </p:spTree>
    <p:extLst>
      <p:ext uri="{BB962C8B-B14F-4D97-AF65-F5344CB8AC3E}">
        <p14:creationId xmlns:p14="http://schemas.microsoft.com/office/powerpoint/2010/main" val="86772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CA89-21F6-28F8-44FF-8BDDE2B96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B9536-EF85-8EBA-C6AC-91DC9022F0E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Conditional Statements</a:t>
            </a:r>
          </a:p>
        </p:txBody>
      </p:sp>
      <p:sp>
        <p:nvSpPr>
          <p:cNvPr id="3" name="Text Placeholder 2">
            <a:extLst>
              <a:ext uri="{FF2B5EF4-FFF2-40B4-BE49-F238E27FC236}">
                <a16:creationId xmlns:a16="http://schemas.microsoft.com/office/drawing/2014/main" id="{9D24C3A4-B2DD-3D12-45BC-D95BB053F283}"/>
              </a:ext>
            </a:extLst>
          </p:cNvPr>
          <p:cNvSpPr>
            <a:spLocks noGrp="1"/>
          </p:cNvSpPr>
          <p:nvPr>
            <p:ph type="body" sz="quarter" idx="14"/>
          </p:nvPr>
        </p:nvSpPr>
        <p:spPr>
          <a:xfrm>
            <a:off x="6960384" y="1331743"/>
            <a:ext cx="4910774" cy="5526258"/>
          </a:xfrm>
        </p:spPr>
        <p:txBody>
          <a:bodyPr>
            <a:normAutofit/>
          </a:bodyPr>
          <a:lstStyle/>
          <a:p>
            <a:r>
              <a:rPr lang="en-US" dirty="0"/>
              <a:t> In DAX, conditional statements allow you to perform different actions based on certain conditions.</a:t>
            </a:r>
          </a:p>
          <a:p>
            <a:r>
              <a:rPr lang="en-US" dirty="0"/>
              <a:t> The primary way to handle conditional logic in DAX is through the IF function, which evaluates a logical test and returns different values for TRUE and  FALSE outcomes.</a:t>
            </a:r>
          </a:p>
          <a:p>
            <a:r>
              <a:rPr lang="en-US" dirty="0"/>
              <a:t>For more complex scenarios involving multiple conditions, the SIWTCH function is often preferred to avoid nested IF statements.</a:t>
            </a:r>
          </a:p>
          <a:p>
            <a:pPr marL="0" indent="0">
              <a:buNone/>
            </a:pPr>
            <a:endParaRPr lang="en-US" dirty="0"/>
          </a:p>
        </p:txBody>
      </p:sp>
      <p:pic>
        <p:nvPicPr>
          <p:cNvPr id="6" name="Picture 5">
            <a:extLst>
              <a:ext uri="{FF2B5EF4-FFF2-40B4-BE49-F238E27FC236}">
                <a16:creationId xmlns:a16="http://schemas.microsoft.com/office/drawing/2014/main" id="{D3D27FA8-7BDC-54F5-4B58-2BE2A5D01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842" y="1798701"/>
            <a:ext cx="6660482" cy="4440322"/>
          </a:xfrm>
          <a:prstGeom prst="rect">
            <a:avLst/>
          </a:prstGeom>
        </p:spPr>
      </p:pic>
    </p:spTree>
    <p:extLst>
      <p:ext uri="{BB962C8B-B14F-4D97-AF65-F5344CB8AC3E}">
        <p14:creationId xmlns:p14="http://schemas.microsoft.com/office/powerpoint/2010/main" val="2343738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16EAC-BEC8-CA04-C438-E4400F897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DA43F-53A3-6BD9-EEDC-9361A11FD673}"/>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44DC0576-C689-E84A-BBD3-3DF79ACBF0A0}"/>
              </a:ext>
            </a:extLst>
          </p:cNvPr>
          <p:cNvSpPr>
            <a:spLocks noGrp="1"/>
          </p:cNvSpPr>
          <p:nvPr>
            <p:ph type="body" sz="quarter" idx="14"/>
          </p:nvPr>
        </p:nvSpPr>
        <p:spPr>
          <a:xfrm>
            <a:off x="5728553" y="1004234"/>
            <a:ext cx="6336634" cy="3031711"/>
          </a:xfrm>
        </p:spPr>
        <p:txBody>
          <a:bodyPr>
            <a:normAutofit/>
          </a:bodyPr>
          <a:lstStyle/>
          <a:p>
            <a:r>
              <a:rPr lang="en-US" dirty="0"/>
              <a:t> </a:t>
            </a:r>
            <a:r>
              <a:rPr lang="en-US" b="1" u="sng" dirty="0">
                <a:latin typeface="ADLaM Display" panose="02010000000000000000" pitchFamily="2" charset="0"/>
                <a:ea typeface="ADLaM Display" panose="02010000000000000000" pitchFamily="2" charset="0"/>
                <a:cs typeface="ADLaM Display" panose="02010000000000000000" pitchFamily="2" charset="0"/>
              </a:rPr>
              <a:t>Basic IF</a:t>
            </a:r>
          </a:p>
          <a:p>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Syntax</a:t>
            </a:r>
            <a:r>
              <a:rPr lang="en-US" dirty="0"/>
              <a:t>:</a:t>
            </a:r>
          </a:p>
          <a:p>
            <a:endParaRPr lang="en-US" dirty="0"/>
          </a:p>
          <a:p>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r>
              <a:rPr lang="en-US" dirty="0"/>
              <a:t>:</a:t>
            </a:r>
          </a:p>
          <a:p>
            <a:endParaRPr lang="en-US" dirty="0"/>
          </a:p>
          <a:p>
            <a:endParaRPr lang="en-US" dirty="0"/>
          </a:p>
        </p:txBody>
      </p:sp>
      <p:pic>
        <p:nvPicPr>
          <p:cNvPr id="5" name="Picture 4">
            <a:extLst>
              <a:ext uri="{FF2B5EF4-FFF2-40B4-BE49-F238E27FC236}">
                <a16:creationId xmlns:a16="http://schemas.microsoft.com/office/drawing/2014/main" id="{BA1A48BC-7DE9-9552-18C6-DBF7807A5516}"/>
              </a:ext>
            </a:extLst>
          </p:cNvPr>
          <p:cNvPicPr>
            <a:picLocks noChangeAspect="1"/>
          </p:cNvPicPr>
          <p:nvPr/>
        </p:nvPicPr>
        <p:blipFill>
          <a:blip r:embed="rId2"/>
          <a:stretch>
            <a:fillRect/>
          </a:stretch>
        </p:blipFill>
        <p:spPr>
          <a:xfrm>
            <a:off x="6050327" y="1886975"/>
            <a:ext cx="6014860" cy="498341"/>
          </a:xfrm>
          <a:prstGeom prst="rect">
            <a:avLst/>
          </a:prstGeom>
        </p:spPr>
      </p:pic>
      <p:pic>
        <p:nvPicPr>
          <p:cNvPr id="7" name="Picture 6">
            <a:extLst>
              <a:ext uri="{FF2B5EF4-FFF2-40B4-BE49-F238E27FC236}">
                <a16:creationId xmlns:a16="http://schemas.microsoft.com/office/drawing/2014/main" id="{BAF4F54E-A2C5-11AB-03B0-B123B205CAB8}"/>
              </a:ext>
            </a:extLst>
          </p:cNvPr>
          <p:cNvPicPr>
            <a:picLocks noChangeAspect="1"/>
          </p:cNvPicPr>
          <p:nvPr/>
        </p:nvPicPr>
        <p:blipFill>
          <a:blip r:embed="rId3"/>
          <a:stretch>
            <a:fillRect/>
          </a:stretch>
        </p:blipFill>
        <p:spPr>
          <a:xfrm>
            <a:off x="6050327" y="2804465"/>
            <a:ext cx="4500842" cy="1092938"/>
          </a:xfrm>
          <a:prstGeom prst="rect">
            <a:avLst/>
          </a:prstGeom>
        </p:spPr>
      </p:pic>
      <p:sp>
        <p:nvSpPr>
          <p:cNvPr id="8" name="Text Placeholder 2">
            <a:extLst>
              <a:ext uri="{FF2B5EF4-FFF2-40B4-BE49-F238E27FC236}">
                <a16:creationId xmlns:a16="http://schemas.microsoft.com/office/drawing/2014/main" id="{4E75BF21-1860-EE51-6612-240E304D45CB}"/>
              </a:ext>
            </a:extLst>
          </p:cNvPr>
          <p:cNvSpPr txBox="1">
            <a:spLocks/>
          </p:cNvSpPr>
          <p:nvPr/>
        </p:nvSpPr>
        <p:spPr>
          <a:xfrm>
            <a:off x="5728553" y="4035945"/>
            <a:ext cx="6896584" cy="3031711"/>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r>
              <a:rPr lang="en-US" dirty="0"/>
              <a:t> </a:t>
            </a:r>
            <a:r>
              <a:rPr lang="en-US" b="1" u="sng" dirty="0">
                <a:latin typeface="ADLaM Display" panose="02010000000000000000" pitchFamily="2" charset="0"/>
                <a:ea typeface="ADLaM Display" panose="02010000000000000000" pitchFamily="2" charset="0"/>
                <a:cs typeface="ADLaM Display" panose="02010000000000000000" pitchFamily="2" charset="0"/>
              </a:rPr>
              <a:t>Multiple Conditions (NESTED IF)</a:t>
            </a:r>
          </a:p>
          <a:p>
            <a:r>
              <a:rPr lang="en-US" dirty="0">
                <a:ea typeface="ADLaM Display" panose="02010000000000000000" pitchFamily="2" charset="0"/>
                <a:cs typeface="ADLaM Display" panose="02010000000000000000" pitchFamily="2" charset="0"/>
              </a:rPr>
              <a:t> Checks multiple levels of conditions step by step.</a:t>
            </a:r>
            <a:endParaRPr lang="en-US" dirty="0"/>
          </a:p>
          <a:p>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r>
              <a:rPr lang="en-US" dirty="0"/>
              <a:t>:</a:t>
            </a:r>
          </a:p>
          <a:p>
            <a:endParaRPr lang="en-US" dirty="0"/>
          </a:p>
          <a:p>
            <a:endParaRPr lang="en-US" dirty="0"/>
          </a:p>
        </p:txBody>
      </p:sp>
      <p:pic>
        <p:nvPicPr>
          <p:cNvPr id="10" name="Picture 9">
            <a:extLst>
              <a:ext uri="{FF2B5EF4-FFF2-40B4-BE49-F238E27FC236}">
                <a16:creationId xmlns:a16="http://schemas.microsoft.com/office/drawing/2014/main" id="{3A10163F-E4D4-EFB8-9F88-4A01B580E8D8}"/>
              </a:ext>
            </a:extLst>
          </p:cNvPr>
          <p:cNvPicPr>
            <a:picLocks noChangeAspect="1"/>
          </p:cNvPicPr>
          <p:nvPr/>
        </p:nvPicPr>
        <p:blipFill>
          <a:blip r:embed="rId4"/>
          <a:stretch>
            <a:fillRect/>
          </a:stretch>
        </p:blipFill>
        <p:spPr>
          <a:xfrm>
            <a:off x="6050327" y="5403652"/>
            <a:ext cx="3737811" cy="1252746"/>
          </a:xfrm>
          <a:prstGeom prst="rect">
            <a:avLst/>
          </a:prstGeom>
        </p:spPr>
      </p:pic>
      <p:sp>
        <p:nvSpPr>
          <p:cNvPr id="11" name="Text Placeholder 2">
            <a:extLst>
              <a:ext uri="{FF2B5EF4-FFF2-40B4-BE49-F238E27FC236}">
                <a16:creationId xmlns:a16="http://schemas.microsoft.com/office/drawing/2014/main" id="{E787D02D-4CC5-EF86-A1D3-67B79465A999}"/>
              </a:ext>
            </a:extLst>
          </p:cNvPr>
          <p:cNvSpPr txBox="1">
            <a:spLocks/>
          </p:cNvSpPr>
          <p:nvPr/>
        </p:nvSpPr>
        <p:spPr>
          <a:xfrm>
            <a:off x="316219" y="1886975"/>
            <a:ext cx="6896584" cy="3031711"/>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r>
              <a:rPr lang="en-US" dirty="0"/>
              <a:t> </a:t>
            </a:r>
            <a:r>
              <a:rPr lang="en-US" b="1" u="sng" dirty="0">
                <a:latin typeface="ADLaM Display" panose="02010000000000000000" pitchFamily="2" charset="0"/>
                <a:ea typeface="ADLaM Display" panose="02010000000000000000" pitchFamily="2" charset="0"/>
                <a:cs typeface="ADLaM Display" panose="02010000000000000000" pitchFamily="2" charset="0"/>
              </a:rPr>
              <a:t>SWITCH</a:t>
            </a:r>
          </a:p>
          <a:p>
            <a:r>
              <a:rPr lang="en-US" dirty="0">
                <a:ea typeface="ADLaM Display" panose="02010000000000000000" pitchFamily="2" charset="0"/>
                <a:cs typeface="ADLaM Display" panose="02010000000000000000" pitchFamily="2" charset="0"/>
              </a:rPr>
              <a:t> Read and maintain than nested IFs.</a:t>
            </a:r>
            <a:endParaRPr lang="en-US" dirty="0"/>
          </a:p>
          <a:p>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r>
              <a:rPr lang="en-US" dirty="0"/>
              <a:t>:</a:t>
            </a:r>
          </a:p>
          <a:p>
            <a:endParaRPr lang="en-US" dirty="0"/>
          </a:p>
          <a:p>
            <a:endParaRPr lang="en-US" dirty="0"/>
          </a:p>
        </p:txBody>
      </p:sp>
      <p:pic>
        <p:nvPicPr>
          <p:cNvPr id="13" name="Picture 12">
            <a:extLst>
              <a:ext uri="{FF2B5EF4-FFF2-40B4-BE49-F238E27FC236}">
                <a16:creationId xmlns:a16="http://schemas.microsoft.com/office/drawing/2014/main" id="{FEBCF08B-BAAC-A918-9246-18CC665C9230}"/>
              </a:ext>
            </a:extLst>
          </p:cNvPr>
          <p:cNvPicPr>
            <a:picLocks noChangeAspect="1"/>
          </p:cNvPicPr>
          <p:nvPr/>
        </p:nvPicPr>
        <p:blipFill>
          <a:blip r:embed="rId5"/>
          <a:stretch>
            <a:fillRect/>
          </a:stretch>
        </p:blipFill>
        <p:spPr>
          <a:xfrm>
            <a:off x="715532" y="3359698"/>
            <a:ext cx="4010183" cy="1927816"/>
          </a:xfrm>
          <a:prstGeom prst="rect">
            <a:avLst/>
          </a:prstGeom>
        </p:spPr>
      </p:pic>
    </p:spTree>
    <p:extLst>
      <p:ext uri="{BB962C8B-B14F-4D97-AF65-F5344CB8AC3E}">
        <p14:creationId xmlns:p14="http://schemas.microsoft.com/office/powerpoint/2010/main" val="1437800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CCA57-BFE1-D927-53C1-54CBB17B9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E3DA7-14D5-69B6-06D5-894CFDADEC6B}"/>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11" name="Text Placeholder 2">
            <a:extLst>
              <a:ext uri="{FF2B5EF4-FFF2-40B4-BE49-F238E27FC236}">
                <a16:creationId xmlns:a16="http://schemas.microsoft.com/office/drawing/2014/main" id="{EE3B76F5-9C56-BF26-DE4F-84448D327BEE}"/>
              </a:ext>
            </a:extLst>
          </p:cNvPr>
          <p:cNvSpPr txBox="1">
            <a:spLocks/>
          </p:cNvSpPr>
          <p:nvPr/>
        </p:nvSpPr>
        <p:spPr>
          <a:xfrm>
            <a:off x="2647708" y="692522"/>
            <a:ext cx="6896584" cy="3031711"/>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r>
              <a:rPr lang="en-US" dirty="0"/>
              <a:t> </a:t>
            </a:r>
            <a:r>
              <a:rPr lang="en-US" b="1" u="sng" dirty="0">
                <a:latin typeface="ADLaM Display" panose="02010000000000000000" pitchFamily="2" charset="0"/>
                <a:ea typeface="ADLaM Display" panose="02010000000000000000" pitchFamily="2" charset="0"/>
                <a:cs typeface="ADLaM Display" panose="02010000000000000000" pitchFamily="2" charset="0"/>
              </a:rPr>
              <a:t>Using Logical Operators</a:t>
            </a:r>
          </a:p>
          <a:p>
            <a:r>
              <a:rPr lang="en-US" dirty="0">
                <a:ea typeface="ADLaM Display" panose="02010000000000000000" pitchFamily="2" charset="0"/>
                <a:cs typeface="ADLaM Display" panose="02010000000000000000" pitchFamily="2" charset="0"/>
              </a:rPr>
              <a:t> You can combine conditions using.</a:t>
            </a:r>
          </a:p>
          <a:p>
            <a:pPr>
              <a:buFont typeface="Wingdings" panose="05000000000000000000" pitchFamily="2" charset="2"/>
              <a:buChar char="ü"/>
            </a:pPr>
            <a:r>
              <a:rPr lang="en-US" b="1" dirty="0"/>
              <a:t> </a:t>
            </a:r>
            <a:r>
              <a:rPr lang="en-US" b="1" dirty="0">
                <a:solidFill>
                  <a:schemeClr val="bg1">
                    <a:lumMod val="50000"/>
                  </a:schemeClr>
                </a:solidFill>
              </a:rPr>
              <a:t>&amp;&amp;</a:t>
            </a:r>
            <a:r>
              <a:rPr lang="en-US" b="1" dirty="0"/>
              <a:t> -&gt; AND</a:t>
            </a:r>
          </a:p>
          <a:p>
            <a:pPr>
              <a:buFont typeface="Wingdings" panose="05000000000000000000" pitchFamily="2" charset="2"/>
              <a:buChar char="ü"/>
            </a:pPr>
            <a:r>
              <a:rPr lang="en-US" b="1" dirty="0"/>
              <a:t> </a:t>
            </a:r>
            <a:r>
              <a:rPr lang="en-US" b="1" dirty="0">
                <a:solidFill>
                  <a:schemeClr val="bg1">
                    <a:lumMod val="50000"/>
                  </a:schemeClr>
                </a:solidFill>
              </a:rPr>
              <a:t>||</a:t>
            </a:r>
            <a:r>
              <a:rPr lang="en-US" b="1" dirty="0"/>
              <a:t> -&gt; OR</a:t>
            </a:r>
            <a:endParaRPr lang="en-US" dirty="0"/>
          </a:p>
          <a:p>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r>
              <a:rPr lang="en-US" dirty="0"/>
              <a:t>:</a:t>
            </a:r>
          </a:p>
          <a:p>
            <a:endParaRPr lang="en-US" dirty="0"/>
          </a:p>
          <a:p>
            <a:endParaRPr lang="en-US" dirty="0"/>
          </a:p>
        </p:txBody>
      </p:sp>
      <p:pic>
        <p:nvPicPr>
          <p:cNvPr id="12" name="Picture 11">
            <a:extLst>
              <a:ext uri="{FF2B5EF4-FFF2-40B4-BE49-F238E27FC236}">
                <a16:creationId xmlns:a16="http://schemas.microsoft.com/office/drawing/2014/main" id="{B139B1D2-E6C1-3FE7-04A9-A74E31F91A2E}"/>
              </a:ext>
            </a:extLst>
          </p:cNvPr>
          <p:cNvPicPr>
            <a:picLocks noChangeAspect="1"/>
          </p:cNvPicPr>
          <p:nvPr/>
        </p:nvPicPr>
        <p:blipFill>
          <a:blip r:embed="rId2"/>
          <a:stretch>
            <a:fillRect/>
          </a:stretch>
        </p:blipFill>
        <p:spPr>
          <a:xfrm>
            <a:off x="2912004" y="3011468"/>
            <a:ext cx="8006301" cy="896140"/>
          </a:xfrm>
          <a:prstGeom prst="rect">
            <a:avLst/>
          </a:prstGeom>
        </p:spPr>
      </p:pic>
      <p:sp>
        <p:nvSpPr>
          <p:cNvPr id="14" name="Text Placeholder 2">
            <a:extLst>
              <a:ext uri="{FF2B5EF4-FFF2-40B4-BE49-F238E27FC236}">
                <a16:creationId xmlns:a16="http://schemas.microsoft.com/office/drawing/2014/main" id="{BCB4EBD5-E855-2A82-F6E6-B2D073762C76}"/>
              </a:ext>
            </a:extLst>
          </p:cNvPr>
          <p:cNvSpPr txBox="1">
            <a:spLocks/>
          </p:cNvSpPr>
          <p:nvPr/>
        </p:nvSpPr>
        <p:spPr>
          <a:xfrm>
            <a:off x="2647708" y="3907608"/>
            <a:ext cx="6896584" cy="3031711"/>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r>
              <a:rPr lang="en-US" dirty="0"/>
              <a:t> </a:t>
            </a:r>
            <a:r>
              <a:rPr lang="en-US" b="1" u="sng" dirty="0">
                <a:latin typeface="ADLaM Display" panose="02010000000000000000" pitchFamily="2" charset="0"/>
                <a:ea typeface="ADLaM Display" panose="02010000000000000000" pitchFamily="2" charset="0"/>
                <a:cs typeface="ADLaM Display" panose="02010000000000000000" pitchFamily="2" charset="0"/>
              </a:rPr>
              <a:t>IF with ISBLANK</a:t>
            </a:r>
          </a:p>
          <a:p>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Example</a:t>
            </a:r>
            <a:r>
              <a:rPr lang="en-US" dirty="0"/>
              <a:t>:</a:t>
            </a:r>
          </a:p>
          <a:p>
            <a:endParaRPr lang="en-US" dirty="0"/>
          </a:p>
          <a:p>
            <a:endParaRPr lang="en-US" dirty="0"/>
          </a:p>
        </p:txBody>
      </p:sp>
      <p:pic>
        <p:nvPicPr>
          <p:cNvPr id="16" name="Picture 15">
            <a:extLst>
              <a:ext uri="{FF2B5EF4-FFF2-40B4-BE49-F238E27FC236}">
                <a16:creationId xmlns:a16="http://schemas.microsoft.com/office/drawing/2014/main" id="{2A2976DD-7D72-26EB-24A7-27287593ADA3}"/>
              </a:ext>
            </a:extLst>
          </p:cNvPr>
          <p:cNvPicPr>
            <a:picLocks noChangeAspect="1"/>
          </p:cNvPicPr>
          <p:nvPr/>
        </p:nvPicPr>
        <p:blipFill>
          <a:blip r:embed="rId3"/>
          <a:stretch>
            <a:fillRect/>
          </a:stretch>
        </p:blipFill>
        <p:spPr>
          <a:xfrm>
            <a:off x="2912004" y="4881362"/>
            <a:ext cx="7874734" cy="1084203"/>
          </a:xfrm>
          <a:prstGeom prst="rect">
            <a:avLst/>
          </a:prstGeom>
        </p:spPr>
      </p:pic>
    </p:spTree>
    <p:extLst>
      <p:ext uri="{BB962C8B-B14F-4D97-AF65-F5344CB8AC3E}">
        <p14:creationId xmlns:p14="http://schemas.microsoft.com/office/powerpoint/2010/main" val="656166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BECE-18AB-DE8E-0613-12F33FE708F5}"/>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Variables</a:t>
            </a:r>
            <a:r>
              <a:rPr lang="en-US" dirty="0">
                <a:latin typeface="ADLaM Display" panose="02010000000000000000" pitchFamily="2" charset="0"/>
                <a:ea typeface="ADLaM Display" panose="02010000000000000000" pitchFamily="2" charset="0"/>
                <a:cs typeface="ADLaM Display" panose="02010000000000000000" pitchFamily="2" charset="0"/>
              </a:rPr>
              <a:t> in DAX</a:t>
            </a:r>
          </a:p>
        </p:txBody>
      </p:sp>
      <p:sp>
        <p:nvSpPr>
          <p:cNvPr id="3" name="Text Placeholder 2">
            <a:extLst>
              <a:ext uri="{FF2B5EF4-FFF2-40B4-BE49-F238E27FC236}">
                <a16:creationId xmlns:a16="http://schemas.microsoft.com/office/drawing/2014/main" id="{C552281E-8E44-F8D9-537D-51FB1754B687}"/>
              </a:ext>
            </a:extLst>
          </p:cNvPr>
          <p:cNvSpPr>
            <a:spLocks noGrp="1"/>
          </p:cNvSpPr>
          <p:nvPr>
            <p:ph type="body" sz="quarter" idx="14"/>
          </p:nvPr>
        </p:nvSpPr>
        <p:spPr>
          <a:xfrm>
            <a:off x="6657473" y="1336668"/>
            <a:ext cx="5336491" cy="5521332"/>
          </a:xfrm>
        </p:spPr>
        <p:txBody>
          <a:bodyPr/>
          <a:lstStyle/>
          <a:p>
            <a:pPr algn="just"/>
            <a:r>
              <a:rPr lang="en-US" dirty="0"/>
              <a:t> Variables are created using the keyword ‘</a:t>
            </a:r>
            <a:r>
              <a:rPr lang="en-US" b="1" dirty="0"/>
              <a:t>var</a:t>
            </a:r>
            <a:r>
              <a:rPr lang="en-US" dirty="0"/>
              <a:t>’, designating a descriptive name,  assigning an expression and returning the value.</a:t>
            </a:r>
          </a:p>
          <a:p>
            <a:pPr algn="just"/>
            <a:r>
              <a:rPr lang="en-US" dirty="0"/>
              <a:t> The parts of the variable include:</a:t>
            </a:r>
          </a:p>
          <a:p>
            <a:pPr marL="457200" indent="-457200" algn="just">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Keyword identifier</a:t>
            </a:r>
          </a:p>
          <a:p>
            <a:pPr marL="457200" indent="-457200" algn="just">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Variable name</a:t>
            </a:r>
          </a:p>
          <a:p>
            <a:pPr marL="457200" indent="-457200" algn="just">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Expression</a:t>
            </a:r>
          </a:p>
          <a:p>
            <a:pPr marL="457200" indent="-457200" algn="just">
              <a:buFont typeface="+mj-lt"/>
              <a:buAutoNum type="arabicPeriod"/>
            </a:pPr>
            <a:r>
              <a:rPr lang="en-US" dirty="0">
                <a:latin typeface="ADLaM Display" panose="02010000000000000000" pitchFamily="2" charset="0"/>
                <a:ea typeface="ADLaM Display" panose="02010000000000000000" pitchFamily="2" charset="0"/>
                <a:cs typeface="ADLaM Display" panose="02010000000000000000" pitchFamily="2" charset="0"/>
              </a:rPr>
              <a:t>Return statement</a:t>
            </a:r>
          </a:p>
          <a:p>
            <a:pPr marL="457200" indent="-457200" algn="just">
              <a:buFont typeface="+mj-lt"/>
              <a:buAutoNum type="arabicPeriod"/>
            </a:pPr>
            <a:endParaRPr lang="en-US" dirty="0">
              <a:latin typeface="ADLaM Display" panose="02010000000000000000" pitchFamily="2" charset="0"/>
              <a:ea typeface="ADLaM Display" panose="02010000000000000000" pitchFamily="2" charset="0"/>
              <a:cs typeface="ADLaM Display" panose="02010000000000000000" pitchFamily="2" charset="0"/>
            </a:endParaRPr>
          </a:p>
          <a:p>
            <a:pPr algn="just"/>
            <a:r>
              <a:rPr lang="en-US" dirty="0">
                <a:ea typeface="ADLaM Display" panose="02010000000000000000" pitchFamily="2" charset="0"/>
                <a:cs typeface="ADLaM Display" panose="02010000000000000000" pitchFamily="2" charset="0"/>
              </a:rPr>
              <a:t> Once the variable is created, Power BI intelligently detects the variable and it can be verified by ‘</a:t>
            </a:r>
            <a:r>
              <a:rPr lang="en-US" b="1" dirty="0" err="1">
                <a:ea typeface="ADLaM Display" panose="02010000000000000000" pitchFamily="2" charset="0"/>
                <a:cs typeface="ADLaM Display" panose="02010000000000000000" pitchFamily="2" charset="0"/>
              </a:rPr>
              <a:t>xy</a:t>
            </a:r>
            <a:r>
              <a:rPr lang="en-US" dirty="0">
                <a:ea typeface="ADLaM Display" panose="02010000000000000000" pitchFamily="2" charset="0"/>
                <a:cs typeface="ADLaM Display" panose="02010000000000000000" pitchFamily="2" charset="0"/>
              </a:rPr>
              <a:t>’ symbol.</a:t>
            </a:r>
          </a:p>
        </p:txBody>
      </p:sp>
      <p:pic>
        <p:nvPicPr>
          <p:cNvPr id="4" name="Picture 3" descr="Power BI training in Sydney Q&amp;A">
            <a:extLst>
              <a:ext uri="{FF2B5EF4-FFF2-40B4-BE49-F238E27FC236}">
                <a16:creationId xmlns:a16="http://schemas.microsoft.com/office/drawing/2014/main" id="{A048F3C1-E468-F99E-6CEF-43B640769F27}"/>
              </a:ext>
            </a:extLst>
          </p:cNvPr>
          <p:cNvPicPr>
            <a:picLocks noChangeAspect="1"/>
          </p:cNvPicPr>
          <p:nvPr/>
        </p:nvPicPr>
        <p:blipFill>
          <a:blip r:embed="rId2"/>
          <a:stretch>
            <a:fillRect/>
          </a:stretch>
        </p:blipFill>
        <p:spPr>
          <a:xfrm>
            <a:off x="0" y="1475380"/>
            <a:ext cx="6657473" cy="2197486"/>
          </a:xfrm>
          <a:prstGeom prst="rect">
            <a:avLst/>
          </a:prstGeom>
        </p:spPr>
      </p:pic>
      <p:pic>
        <p:nvPicPr>
          <p:cNvPr id="5" name="Picture 4" descr="Power BI training in Sydney Q&amp;A">
            <a:extLst>
              <a:ext uri="{FF2B5EF4-FFF2-40B4-BE49-F238E27FC236}">
                <a16:creationId xmlns:a16="http://schemas.microsoft.com/office/drawing/2014/main" id="{258A9DEB-7393-AEC9-5104-65C484EE022F}"/>
              </a:ext>
            </a:extLst>
          </p:cNvPr>
          <p:cNvPicPr>
            <a:picLocks noChangeAspect="1"/>
          </p:cNvPicPr>
          <p:nvPr/>
        </p:nvPicPr>
        <p:blipFill>
          <a:blip r:embed="rId3"/>
          <a:stretch>
            <a:fillRect/>
          </a:stretch>
        </p:blipFill>
        <p:spPr>
          <a:xfrm>
            <a:off x="56147" y="5521332"/>
            <a:ext cx="6601326" cy="754253"/>
          </a:xfrm>
          <a:prstGeom prst="rect">
            <a:avLst/>
          </a:prstGeom>
        </p:spPr>
      </p:pic>
    </p:spTree>
    <p:extLst>
      <p:ext uri="{BB962C8B-B14F-4D97-AF65-F5344CB8AC3E}">
        <p14:creationId xmlns:p14="http://schemas.microsoft.com/office/powerpoint/2010/main" val="2011126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E8396-D363-3792-24ED-9562C21E3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CBB47-2039-84B1-F9ED-64808FA949D7}"/>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Features of a variable</a:t>
            </a:r>
          </a:p>
        </p:txBody>
      </p:sp>
      <p:sp>
        <p:nvSpPr>
          <p:cNvPr id="3" name="Text Placeholder 2">
            <a:extLst>
              <a:ext uri="{FF2B5EF4-FFF2-40B4-BE49-F238E27FC236}">
                <a16:creationId xmlns:a16="http://schemas.microsoft.com/office/drawing/2014/main" id="{65366206-4890-6398-5D5B-62261D137A33}"/>
              </a:ext>
            </a:extLst>
          </p:cNvPr>
          <p:cNvSpPr>
            <a:spLocks noGrp="1"/>
          </p:cNvSpPr>
          <p:nvPr>
            <p:ph type="body" sz="quarter" idx="14"/>
          </p:nvPr>
        </p:nvSpPr>
        <p:spPr>
          <a:xfrm>
            <a:off x="1156921" y="1336668"/>
            <a:ext cx="10837043" cy="5521332"/>
          </a:xfrm>
        </p:spPr>
        <p:txBody>
          <a:bodyPr>
            <a:normAutofit/>
          </a:bodyPr>
          <a:lstStyle/>
          <a:p>
            <a:pPr algn="just">
              <a:buBlip>
                <a:blip r:embed="rId2"/>
              </a:buBlip>
            </a:pPr>
            <a:r>
              <a:rPr lang="en-US" sz="2800" dirty="0">
                <a:ea typeface="ADLaM Display" panose="02010000000000000000" pitchFamily="2" charset="0"/>
                <a:cs typeface="ADLaM Display" panose="02010000000000000000" pitchFamily="2" charset="0"/>
              </a:rPr>
              <a:t> Variables can be used for scalar values or tables.</a:t>
            </a:r>
          </a:p>
          <a:p>
            <a:pPr algn="just">
              <a:buBlip>
                <a:blip r:embed="rId2"/>
              </a:buBlip>
            </a:pPr>
            <a:r>
              <a:rPr lang="en-US" sz="2800" dirty="0">
                <a:ea typeface="ADLaM Display" panose="02010000000000000000" pitchFamily="2" charset="0"/>
                <a:cs typeface="ADLaM Display" panose="02010000000000000000" pitchFamily="2" charset="0"/>
              </a:rPr>
              <a:t> Variables can be defined by other variables.</a:t>
            </a:r>
          </a:p>
          <a:p>
            <a:pPr algn="just">
              <a:buBlip>
                <a:blip r:embed="rId2"/>
              </a:buBlip>
            </a:pPr>
            <a:r>
              <a:rPr lang="en-US" sz="2800" dirty="0">
                <a:ea typeface="ADLaM Display" panose="02010000000000000000" pitchFamily="2" charset="0"/>
                <a:cs typeface="ADLaM Display" panose="02010000000000000000" pitchFamily="2" charset="0"/>
              </a:rPr>
              <a:t> Variables make the code easier to read.</a:t>
            </a:r>
          </a:p>
          <a:p>
            <a:pPr algn="just">
              <a:buBlip>
                <a:blip r:embed="rId2"/>
              </a:buBlip>
            </a:pPr>
            <a:r>
              <a:rPr lang="en-US" sz="2800" dirty="0">
                <a:ea typeface="ADLaM Display" panose="02010000000000000000" pitchFamily="2" charset="0"/>
                <a:cs typeface="ADLaM Display" panose="02010000000000000000" pitchFamily="2" charset="0"/>
              </a:rPr>
              <a:t> Variables are evaluated right where they are defined.</a:t>
            </a:r>
          </a:p>
          <a:p>
            <a:pPr algn="just">
              <a:buBlip>
                <a:blip r:embed="rId2"/>
              </a:buBlip>
            </a:pPr>
            <a:r>
              <a:rPr lang="en-US" sz="2800" dirty="0">
                <a:ea typeface="ADLaM Display" panose="02010000000000000000" pitchFamily="2" charset="0"/>
                <a:cs typeface="ADLaM Display" panose="02010000000000000000" pitchFamily="2" charset="0"/>
              </a:rPr>
              <a:t> Variables can be defined anywhere in an in-line DAX expression.</a:t>
            </a:r>
          </a:p>
          <a:p>
            <a:pPr algn="just">
              <a:buBlip>
                <a:blip r:embed="rId2"/>
              </a:buBlip>
            </a:pPr>
            <a:r>
              <a:rPr lang="en-US" sz="2800" dirty="0">
                <a:ea typeface="ADLaM Display" panose="02010000000000000000" pitchFamily="2" charset="0"/>
                <a:cs typeface="ADLaM Display" panose="02010000000000000000" pitchFamily="2" charset="0"/>
              </a:rPr>
              <a:t> Variables improve the performance by in avoiding duplicating computations.</a:t>
            </a:r>
          </a:p>
          <a:p>
            <a:pPr algn="just">
              <a:buBlip>
                <a:blip r:embed="rId2"/>
              </a:buBlip>
            </a:pPr>
            <a:r>
              <a:rPr lang="en-US" sz="2800" dirty="0">
                <a:ea typeface="ADLaM Display" panose="02010000000000000000" pitchFamily="2" charset="0"/>
                <a:cs typeface="ADLaM Display" panose="02010000000000000000" pitchFamily="2" charset="0"/>
              </a:rPr>
              <a:t> Variables might help avoid issues with row and filter context mistakes this is because they are evaluated where they are defined.</a:t>
            </a:r>
          </a:p>
        </p:txBody>
      </p:sp>
    </p:spTree>
    <p:extLst>
      <p:ext uri="{BB962C8B-B14F-4D97-AF65-F5344CB8AC3E}">
        <p14:creationId xmlns:p14="http://schemas.microsoft.com/office/powerpoint/2010/main" val="2936251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C357-4932-3E3A-EC4F-730E1E92C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4C13B-5F3B-BF8A-DB17-2A9365CA111B}"/>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Comments</a:t>
            </a:r>
            <a:r>
              <a:rPr lang="en-US" dirty="0">
                <a:latin typeface="ADLaM Display" panose="02010000000000000000" pitchFamily="2" charset="0"/>
                <a:ea typeface="ADLaM Display" panose="02010000000000000000" pitchFamily="2" charset="0"/>
                <a:cs typeface="ADLaM Display" panose="02010000000000000000" pitchFamily="2" charset="0"/>
              </a:rPr>
              <a:t> in DAX</a:t>
            </a:r>
          </a:p>
        </p:txBody>
      </p:sp>
      <p:sp>
        <p:nvSpPr>
          <p:cNvPr id="3" name="Text Placeholder 2">
            <a:extLst>
              <a:ext uri="{FF2B5EF4-FFF2-40B4-BE49-F238E27FC236}">
                <a16:creationId xmlns:a16="http://schemas.microsoft.com/office/drawing/2014/main" id="{13F12450-8427-AD1D-4C3A-1FAD4B30EC9A}"/>
              </a:ext>
            </a:extLst>
          </p:cNvPr>
          <p:cNvSpPr>
            <a:spLocks noGrp="1"/>
          </p:cNvSpPr>
          <p:nvPr>
            <p:ph type="body" sz="quarter" idx="14"/>
          </p:nvPr>
        </p:nvSpPr>
        <p:spPr>
          <a:xfrm>
            <a:off x="6657473" y="1160204"/>
            <a:ext cx="5336491" cy="5850196"/>
          </a:xfrm>
        </p:spPr>
        <p:txBody>
          <a:bodyPr>
            <a:normAutofit fontScale="92500"/>
          </a:bodyPr>
          <a:lstStyle/>
          <a:p>
            <a:pPr algn="just"/>
            <a:r>
              <a:rPr lang="en-US" dirty="0"/>
              <a:t> Comments are added in the DAX expression to make code understandable.</a:t>
            </a:r>
          </a:p>
          <a:p>
            <a:pPr algn="just"/>
            <a:r>
              <a:rPr lang="en-US" dirty="0">
                <a:ea typeface="ADLaM Display" panose="02010000000000000000" pitchFamily="2" charset="0"/>
                <a:cs typeface="ADLaM Display" panose="02010000000000000000" pitchFamily="2" charset="0"/>
              </a:rPr>
              <a:t> The lines are executed by the DAX optimizer and therefore act as ‘sticky notes’ in the code snippet.</a:t>
            </a:r>
          </a:p>
          <a:p>
            <a:pPr algn="just">
              <a:buBlip>
                <a:blip r:embed="rId2"/>
              </a:buBlip>
            </a:pPr>
            <a:r>
              <a:rPr lang="en-US" dirty="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Single Line Comments</a:t>
            </a:r>
          </a:p>
          <a:p>
            <a:pPr algn="just"/>
            <a:r>
              <a:rPr lang="en-US" dirty="0">
                <a:ea typeface="ADLaM Display" panose="02010000000000000000" pitchFamily="2" charset="0"/>
                <a:cs typeface="ADLaM Display" panose="02010000000000000000" pitchFamily="2" charset="0"/>
              </a:rPr>
              <a:t> Begins with the ‘</a:t>
            </a:r>
            <a:r>
              <a:rPr lang="en-US" b="1" dirty="0">
                <a:ea typeface="ADLaM Display" panose="02010000000000000000" pitchFamily="2" charset="0"/>
                <a:cs typeface="ADLaM Display" panose="02010000000000000000" pitchFamily="2" charset="0"/>
              </a:rPr>
              <a:t>//</a:t>
            </a:r>
            <a:r>
              <a:rPr lang="en-US" dirty="0">
                <a:ea typeface="ADLaM Display" panose="02010000000000000000" pitchFamily="2" charset="0"/>
                <a:cs typeface="ADLaM Display" panose="02010000000000000000" pitchFamily="2" charset="0"/>
              </a:rPr>
              <a:t>’ symbol and are automatically terminated as the line ends.</a:t>
            </a:r>
          </a:p>
          <a:p>
            <a:pPr algn="just"/>
            <a:r>
              <a:rPr lang="en-US" dirty="0">
                <a:ea typeface="ADLaM Display" panose="02010000000000000000" pitchFamily="2" charset="0"/>
                <a:cs typeface="ADLaM Display" panose="02010000000000000000" pitchFamily="2" charset="0"/>
              </a:rPr>
              <a:t> Span one line only.</a:t>
            </a:r>
          </a:p>
          <a:p>
            <a:pPr algn="just">
              <a:buBlip>
                <a:blip r:embed="rId2"/>
              </a:buBlip>
            </a:pPr>
            <a:r>
              <a:rPr lang="en-US" dirty="0">
                <a:ea typeface="ADLaM Display" panose="02010000000000000000" pitchFamily="2" charset="0"/>
                <a:cs typeface="ADLaM Display" panose="02010000000000000000" pitchFamily="2" charset="0"/>
              </a:rPr>
              <a:t> </a:t>
            </a:r>
            <a:r>
              <a:rPr lang="en-US" b="1"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Multi Line Comments</a:t>
            </a:r>
          </a:p>
          <a:p>
            <a:pPr algn="just"/>
            <a:r>
              <a:rPr lang="en-US" dirty="0">
                <a:ea typeface="ADLaM Display" panose="02010000000000000000" pitchFamily="2" charset="0"/>
                <a:cs typeface="ADLaM Display" panose="02010000000000000000" pitchFamily="2" charset="0"/>
              </a:rPr>
              <a:t> Can be written on more than one line.</a:t>
            </a:r>
          </a:p>
          <a:p>
            <a:pPr algn="just"/>
            <a:r>
              <a:rPr lang="en-US" dirty="0">
                <a:ea typeface="ADLaM Display" panose="02010000000000000000" pitchFamily="2" charset="0"/>
                <a:cs typeface="ADLaM Display" panose="02010000000000000000" pitchFamily="2" charset="0"/>
              </a:rPr>
              <a:t> They begin with ‘</a:t>
            </a:r>
            <a:r>
              <a:rPr lang="en-US" b="1" dirty="0">
                <a:ea typeface="ADLaM Display" panose="02010000000000000000" pitchFamily="2" charset="0"/>
                <a:cs typeface="ADLaM Display" panose="02010000000000000000" pitchFamily="2" charset="0"/>
              </a:rPr>
              <a:t>/*</a:t>
            </a:r>
            <a:r>
              <a:rPr lang="en-US" dirty="0">
                <a:ea typeface="ADLaM Display" panose="02010000000000000000" pitchFamily="2" charset="0"/>
                <a:cs typeface="ADLaM Display" panose="02010000000000000000" pitchFamily="2" charset="0"/>
              </a:rPr>
              <a:t>’ and ended with ‘</a:t>
            </a:r>
            <a:r>
              <a:rPr lang="en-US" b="1" dirty="0">
                <a:ea typeface="ADLaM Display" panose="02010000000000000000" pitchFamily="2" charset="0"/>
                <a:cs typeface="ADLaM Display" panose="02010000000000000000" pitchFamily="2" charset="0"/>
              </a:rPr>
              <a:t>*/</a:t>
            </a:r>
            <a:r>
              <a:rPr lang="en-US" dirty="0">
                <a:ea typeface="ADLaM Display" panose="02010000000000000000" pitchFamily="2" charset="0"/>
                <a:cs typeface="ADLaM Display" panose="02010000000000000000" pitchFamily="2" charset="0"/>
              </a:rPr>
              <a:t>’.</a:t>
            </a:r>
          </a:p>
          <a:p>
            <a:pPr algn="just"/>
            <a:r>
              <a:rPr lang="en-US" dirty="0">
                <a:ea typeface="ADLaM Display" panose="02010000000000000000" pitchFamily="2" charset="0"/>
                <a:cs typeface="ADLaM Display" panose="02010000000000000000" pitchFamily="2" charset="0"/>
              </a:rPr>
              <a:t> Everything written inside the two identifiers is not executed by the DAX optimizer.</a:t>
            </a:r>
          </a:p>
          <a:p>
            <a:pPr algn="just"/>
            <a:endParaRPr lang="en-US" dirty="0">
              <a:ea typeface="ADLaM Display" panose="02010000000000000000" pitchFamily="2" charset="0"/>
              <a:cs typeface="ADLaM Display" panose="02010000000000000000" pitchFamily="2" charset="0"/>
            </a:endParaRPr>
          </a:p>
        </p:txBody>
      </p:sp>
      <p:pic>
        <p:nvPicPr>
          <p:cNvPr id="4" name="Picture 3">
            <a:extLst>
              <a:ext uri="{FF2B5EF4-FFF2-40B4-BE49-F238E27FC236}">
                <a16:creationId xmlns:a16="http://schemas.microsoft.com/office/drawing/2014/main" id="{0EE91071-B5D9-9C0B-82B0-814DECAE6D6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55" y="3230869"/>
            <a:ext cx="6657473" cy="643642"/>
          </a:xfrm>
          <a:prstGeom prst="rect">
            <a:avLst/>
          </a:prstGeom>
        </p:spPr>
      </p:pic>
      <p:pic>
        <p:nvPicPr>
          <p:cNvPr id="5" name="Picture 4">
            <a:extLst>
              <a:ext uri="{FF2B5EF4-FFF2-40B4-BE49-F238E27FC236}">
                <a16:creationId xmlns:a16="http://schemas.microsoft.com/office/drawing/2014/main" id="{AD22C862-3AC4-FD5F-2BF0-2F72B58930F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155" y="5056111"/>
            <a:ext cx="6468128" cy="831342"/>
          </a:xfrm>
          <a:prstGeom prst="rect">
            <a:avLst/>
          </a:prstGeom>
        </p:spPr>
      </p:pic>
    </p:spTree>
    <p:extLst>
      <p:ext uri="{BB962C8B-B14F-4D97-AF65-F5344CB8AC3E}">
        <p14:creationId xmlns:p14="http://schemas.microsoft.com/office/powerpoint/2010/main" val="3853305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5A90-AA8E-3BC5-7BC7-E30B26CE2283}"/>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Publishing</a:t>
            </a:r>
            <a:r>
              <a:rPr lang="en-US" dirty="0">
                <a:latin typeface="ADLaM Display" panose="02010000000000000000" pitchFamily="2" charset="0"/>
                <a:ea typeface="ADLaM Display" panose="02010000000000000000" pitchFamily="2" charset="0"/>
                <a:cs typeface="ADLaM Display" panose="02010000000000000000" pitchFamily="2" charset="0"/>
              </a:rPr>
              <a:t> Power BI Reports</a:t>
            </a:r>
          </a:p>
        </p:txBody>
      </p:sp>
      <p:sp>
        <p:nvSpPr>
          <p:cNvPr id="3" name="Text Placeholder 2">
            <a:extLst>
              <a:ext uri="{FF2B5EF4-FFF2-40B4-BE49-F238E27FC236}">
                <a16:creationId xmlns:a16="http://schemas.microsoft.com/office/drawing/2014/main" id="{6C732AB8-F17D-A6AE-BECA-0F595D46F905}"/>
              </a:ext>
            </a:extLst>
          </p:cNvPr>
          <p:cNvSpPr>
            <a:spLocks noGrp="1"/>
          </p:cNvSpPr>
          <p:nvPr>
            <p:ph type="body" sz="quarter" idx="14"/>
          </p:nvPr>
        </p:nvSpPr>
        <p:spPr>
          <a:xfrm>
            <a:off x="6845300" y="1644184"/>
            <a:ext cx="5132622" cy="4713009"/>
          </a:xfrm>
        </p:spPr>
        <p:txBody>
          <a:bodyPr/>
          <a:lstStyle/>
          <a:p>
            <a:pPr algn="just"/>
            <a:r>
              <a:rPr lang="en-US" dirty="0"/>
              <a:t> Microsoft Power BI provides a seamless workflow for creating and sharing interactive reports and dashboards.</a:t>
            </a:r>
          </a:p>
          <a:p>
            <a:pPr algn="just"/>
            <a:r>
              <a:rPr lang="en-US" dirty="0"/>
              <a:t> After designing a report using Power BI Desktop, you can </a:t>
            </a:r>
            <a:r>
              <a:rPr lang="en-US" dirty="0">
                <a:ea typeface="ADLaM Display" panose="02010000000000000000" pitchFamily="2" charset="0"/>
                <a:cs typeface="ADLaM Display" panose="02010000000000000000" pitchFamily="2" charset="0"/>
              </a:rPr>
              <a:t>publish</a:t>
            </a:r>
            <a:r>
              <a:rPr lang="en-US" dirty="0"/>
              <a:t> it to Power BI Online to share it with your team or a wider audience.</a:t>
            </a:r>
          </a:p>
          <a:p>
            <a:pPr algn="just">
              <a:buBlip>
                <a:blip r:embed="rId2"/>
              </a:buBlip>
            </a:pPr>
            <a:r>
              <a:rPr lang="en-US" dirty="0"/>
              <a:t>  In Power BI Desktop, click on the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Publish</a:t>
            </a:r>
            <a:r>
              <a:rPr lang="en-US" dirty="0"/>
              <a:t>” button in the Home tab of the ribbon.</a:t>
            </a:r>
          </a:p>
        </p:txBody>
      </p:sp>
      <p:pic>
        <p:nvPicPr>
          <p:cNvPr id="4" name="Picture 3">
            <a:extLst>
              <a:ext uri="{FF2B5EF4-FFF2-40B4-BE49-F238E27FC236}">
                <a16:creationId xmlns:a16="http://schemas.microsoft.com/office/drawing/2014/main" id="{AFFE6216-0925-42AF-7F2C-2C660A1FF370}"/>
              </a:ext>
            </a:extLst>
          </p:cNvPr>
          <p:cNvPicPr>
            <a:picLocks noChangeAspect="1"/>
          </p:cNvPicPr>
          <p:nvPr/>
        </p:nvPicPr>
        <p:blipFill>
          <a:blip r:embed="rId3"/>
          <a:stretch>
            <a:fillRect/>
          </a:stretch>
        </p:blipFill>
        <p:spPr>
          <a:xfrm>
            <a:off x="214078" y="2220072"/>
            <a:ext cx="6631222" cy="2993744"/>
          </a:xfrm>
          <a:prstGeom prst="rect">
            <a:avLst/>
          </a:prstGeom>
        </p:spPr>
      </p:pic>
    </p:spTree>
    <p:extLst>
      <p:ext uri="{BB962C8B-B14F-4D97-AF65-F5344CB8AC3E}">
        <p14:creationId xmlns:p14="http://schemas.microsoft.com/office/powerpoint/2010/main" val="1315596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1F75A-ECB8-966D-EE8B-DBFB067FE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26946-40F5-DECE-8B0F-BA27FD5F5ABF}"/>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solidFill>
                  <a:srgbClr val="FFC000"/>
                </a:solidFill>
                <a:latin typeface="ADLaM Display" panose="02010000000000000000" pitchFamily="2" charset="0"/>
                <a:ea typeface="ADLaM Display" panose="02010000000000000000" pitchFamily="2" charset="0"/>
                <a:cs typeface="ADLaM Display" panose="02010000000000000000" pitchFamily="2" charset="0"/>
              </a:rPr>
              <a:t> </a:t>
            </a:r>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Steps</a:t>
            </a:r>
          </a:p>
        </p:txBody>
      </p:sp>
      <p:sp>
        <p:nvSpPr>
          <p:cNvPr id="3" name="Text Placeholder 2">
            <a:extLst>
              <a:ext uri="{FF2B5EF4-FFF2-40B4-BE49-F238E27FC236}">
                <a16:creationId xmlns:a16="http://schemas.microsoft.com/office/drawing/2014/main" id="{1616CE19-F283-B3A3-96D9-6AEE86AE2745}"/>
              </a:ext>
            </a:extLst>
          </p:cNvPr>
          <p:cNvSpPr>
            <a:spLocks noGrp="1"/>
          </p:cNvSpPr>
          <p:nvPr>
            <p:ph type="body" sz="quarter" idx="14"/>
          </p:nvPr>
        </p:nvSpPr>
        <p:spPr>
          <a:xfrm>
            <a:off x="5967663" y="1219447"/>
            <a:ext cx="5994217" cy="5526258"/>
          </a:xfrm>
        </p:spPr>
        <p:txBody>
          <a:bodyPr/>
          <a:lstStyle/>
          <a:p>
            <a:pPr marL="457200" indent="-457200" algn="just">
              <a:buFont typeface="+mj-lt"/>
              <a:buAutoNum type="arabicPeriod"/>
            </a:pPr>
            <a:r>
              <a:rPr lang="en-US" dirty="0"/>
              <a:t>In Power BI Desktop, choose </a:t>
            </a:r>
            <a:r>
              <a:rPr lang="en-US" b="1" dirty="0"/>
              <a:t>File &gt;  Publish &gt; Publish to Power BI </a:t>
            </a:r>
            <a:r>
              <a:rPr lang="en-US" dirty="0"/>
              <a:t>or select </a:t>
            </a:r>
            <a:r>
              <a:rPr lang="en-US" b="1" dirty="0"/>
              <a:t>Publish</a:t>
            </a:r>
            <a:r>
              <a:rPr lang="en-US" dirty="0"/>
              <a:t> on the </a:t>
            </a:r>
            <a:r>
              <a:rPr lang="en-US" b="1" dirty="0"/>
              <a:t>Home</a:t>
            </a:r>
            <a:r>
              <a:rPr lang="en-US" dirty="0"/>
              <a:t> ribbon.</a:t>
            </a:r>
          </a:p>
          <a:p>
            <a:pPr marL="457200" indent="-457200" algn="just">
              <a:buFont typeface="+mj-lt"/>
              <a:buAutoNum type="arabicPeriod"/>
            </a:pPr>
            <a:r>
              <a:rPr lang="en-US" dirty="0"/>
              <a:t>Sign in to Power BI if you aren’t already signed in.</a:t>
            </a:r>
          </a:p>
          <a:p>
            <a:pPr marL="457200" indent="-457200" algn="just">
              <a:buFont typeface="+mj-lt"/>
              <a:buAutoNum type="arabicPeriod"/>
            </a:pPr>
            <a:r>
              <a:rPr lang="en-US" dirty="0"/>
              <a:t>Select the destination. You can search your list of available workspaces to find the workspace into which you want to publish. The search box lets you filter your workspaces. Select the workspace, and then click the </a:t>
            </a:r>
            <a:r>
              <a:rPr lang="en-US" b="1" dirty="0"/>
              <a:t>Select</a:t>
            </a:r>
            <a:r>
              <a:rPr lang="en-US" dirty="0"/>
              <a:t> button to publish.</a:t>
            </a:r>
          </a:p>
          <a:p>
            <a:pPr marL="457200" indent="-457200" algn="just">
              <a:buFont typeface="+mj-lt"/>
              <a:buAutoNum type="arabicPeriod"/>
            </a:pPr>
            <a:r>
              <a:rPr lang="en-US" dirty="0"/>
              <a:t>When publishing is complete, you receive a link to your report. Select the link to open the report in your Power BI site.</a:t>
            </a:r>
          </a:p>
        </p:txBody>
      </p:sp>
      <p:pic>
        <p:nvPicPr>
          <p:cNvPr id="5" name="Picture 4" descr="Screenshot of the Publish to Power BI dialog.">
            <a:extLst>
              <a:ext uri="{FF2B5EF4-FFF2-40B4-BE49-F238E27FC236}">
                <a16:creationId xmlns:a16="http://schemas.microsoft.com/office/drawing/2014/main" id="{6E15E869-CC97-B6E1-456A-CBD6415DE5AD}"/>
              </a:ext>
            </a:extLst>
          </p:cNvPr>
          <p:cNvPicPr>
            <a:picLocks noChangeAspect="1"/>
          </p:cNvPicPr>
          <p:nvPr/>
        </p:nvPicPr>
        <p:blipFill>
          <a:blip r:embed="rId2"/>
          <a:stretch>
            <a:fillRect/>
          </a:stretch>
        </p:blipFill>
        <p:spPr>
          <a:xfrm>
            <a:off x="1853625" y="3778198"/>
            <a:ext cx="4057129" cy="1564089"/>
          </a:xfrm>
          <a:prstGeom prst="rect">
            <a:avLst/>
          </a:prstGeom>
        </p:spPr>
      </p:pic>
      <p:pic>
        <p:nvPicPr>
          <p:cNvPr id="6" name="Picture 5" descr="Screenshot of the successful Publishing to Power BI dialog.">
            <a:extLst>
              <a:ext uri="{FF2B5EF4-FFF2-40B4-BE49-F238E27FC236}">
                <a16:creationId xmlns:a16="http://schemas.microsoft.com/office/drawing/2014/main" id="{088BCB5C-D9AE-2F4D-9F62-4CF345DCDAB0}"/>
              </a:ext>
            </a:extLst>
          </p:cNvPr>
          <p:cNvPicPr>
            <a:picLocks noChangeAspect="1"/>
          </p:cNvPicPr>
          <p:nvPr/>
        </p:nvPicPr>
        <p:blipFill>
          <a:blip r:embed="rId3"/>
          <a:stretch>
            <a:fillRect/>
          </a:stretch>
        </p:blipFill>
        <p:spPr>
          <a:xfrm>
            <a:off x="1796716" y="5614737"/>
            <a:ext cx="4057129" cy="1130968"/>
          </a:xfrm>
          <a:prstGeom prst="rect">
            <a:avLst/>
          </a:prstGeom>
        </p:spPr>
      </p:pic>
      <p:pic>
        <p:nvPicPr>
          <p:cNvPr id="7" name="Picture 6" descr="Can't sign in Power BI desktop - Microsoft Fabric Community">
            <a:extLst>
              <a:ext uri="{FF2B5EF4-FFF2-40B4-BE49-F238E27FC236}">
                <a16:creationId xmlns:a16="http://schemas.microsoft.com/office/drawing/2014/main" id="{1BBC3733-3C8D-ECC8-A5BE-7999CAE274AB}"/>
              </a:ext>
            </a:extLst>
          </p:cNvPr>
          <p:cNvPicPr>
            <a:picLocks noChangeAspect="1"/>
          </p:cNvPicPr>
          <p:nvPr/>
        </p:nvPicPr>
        <p:blipFill>
          <a:blip r:embed="rId4"/>
          <a:stretch>
            <a:fillRect/>
          </a:stretch>
        </p:blipFill>
        <p:spPr>
          <a:xfrm>
            <a:off x="2734417" y="2287633"/>
            <a:ext cx="3119428" cy="1382555"/>
          </a:xfrm>
          <a:prstGeom prst="rect">
            <a:avLst/>
          </a:prstGeom>
        </p:spPr>
      </p:pic>
      <p:pic>
        <p:nvPicPr>
          <p:cNvPr id="8" name="Picture 7" descr="Screenshot of the Power BI Home ribbon, highlighting Publish.">
            <a:extLst>
              <a:ext uri="{FF2B5EF4-FFF2-40B4-BE49-F238E27FC236}">
                <a16:creationId xmlns:a16="http://schemas.microsoft.com/office/drawing/2014/main" id="{4DE07D52-9AEE-CC10-B2E3-4334C20D979A}"/>
              </a:ext>
            </a:extLst>
          </p:cNvPr>
          <p:cNvPicPr>
            <a:picLocks noChangeAspect="1"/>
          </p:cNvPicPr>
          <p:nvPr/>
        </p:nvPicPr>
        <p:blipFill>
          <a:blip r:embed="rId5"/>
          <a:stretch>
            <a:fillRect/>
          </a:stretch>
        </p:blipFill>
        <p:spPr>
          <a:xfrm>
            <a:off x="586780" y="1348714"/>
            <a:ext cx="5323974" cy="830909"/>
          </a:xfrm>
          <a:prstGeom prst="rect">
            <a:avLst/>
          </a:prstGeom>
        </p:spPr>
      </p:pic>
    </p:spTree>
    <p:extLst>
      <p:ext uri="{BB962C8B-B14F-4D97-AF65-F5344CB8AC3E}">
        <p14:creationId xmlns:p14="http://schemas.microsoft.com/office/powerpoint/2010/main" val="1511704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BA0B3-11BE-4D2B-5F1C-875D1BB5A15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Sharing Methods</a:t>
            </a:r>
          </a:p>
        </p:txBody>
      </p:sp>
      <p:graphicFrame>
        <p:nvGraphicFramePr>
          <p:cNvPr id="4" name="Table 3">
            <a:extLst>
              <a:ext uri="{FF2B5EF4-FFF2-40B4-BE49-F238E27FC236}">
                <a16:creationId xmlns:a16="http://schemas.microsoft.com/office/drawing/2014/main" id="{A4ECE51F-B24E-AA00-2CB0-DB9BE2DC1FFD}"/>
              </a:ext>
            </a:extLst>
          </p:cNvPr>
          <p:cNvGraphicFramePr>
            <a:graphicFrameLocks noGrp="1"/>
          </p:cNvGraphicFramePr>
          <p:nvPr>
            <p:extLst>
              <p:ext uri="{D42A27DB-BD31-4B8C-83A1-F6EECF244321}">
                <p14:modId xmlns:p14="http://schemas.microsoft.com/office/powerpoint/2010/main" val="2287745859"/>
              </p:ext>
            </p:extLst>
          </p:nvPr>
        </p:nvGraphicFramePr>
        <p:xfrm>
          <a:off x="1156919" y="1938866"/>
          <a:ext cx="10329228" cy="3178566"/>
        </p:xfrm>
        <a:graphic>
          <a:graphicData uri="http://schemas.openxmlformats.org/drawingml/2006/table">
            <a:tbl>
              <a:tblPr firstRow="1" bandRow="1">
                <a:tableStyleId>{3B4B98B0-60AC-42C2-AFA5-B58CD77FA1E5}</a:tableStyleId>
              </a:tblPr>
              <a:tblGrid>
                <a:gridCol w="3443076">
                  <a:extLst>
                    <a:ext uri="{9D8B030D-6E8A-4147-A177-3AD203B41FA5}">
                      <a16:colId xmlns:a16="http://schemas.microsoft.com/office/drawing/2014/main" val="2094557925"/>
                    </a:ext>
                  </a:extLst>
                </a:gridCol>
                <a:gridCol w="3443076">
                  <a:extLst>
                    <a:ext uri="{9D8B030D-6E8A-4147-A177-3AD203B41FA5}">
                      <a16:colId xmlns:a16="http://schemas.microsoft.com/office/drawing/2014/main" val="2089983418"/>
                    </a:ext>
                  </a:extLst>
                </a:gridCol>
                <a:gridCol w="3443076">
                  <a:extLst>
                    <a:ext uri="{9D8B030D-6E8A-4147-A177-3AD203B41FA5}">
                      <a16:colId xmlns:a16="http://schemas.microsoft.com/office/drawing/2014/main" val="3874766296"/>
                    </a:ext>
                  </a:extLst>
                </a:gridCol>
              </a:tblGrid>
              <a:tr h="1059522">
                <a:tc>
                  <a:txBody>
                    <a:bodyPr/>
                    <a:lstStyle/>
                    <a:p>
                      <a:pPr algn="ctr">
                        <a:lnSpc>
                          <a:spcPct val="200000"/>
                        </a:lnSpc>
                      </a:pP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🚀Sharing Method</a:t>
                      </a:r>
                    </a:p>
                  </a:txBody>
                  <a:tcPr/>
                </a:tc>
                <a:tc>
                  <a:txBody>
                    <a:bodyPr/>
                    <a:lstStyle/>
                    <a:p>
                      <a:pPr algn="ctr">
                        <a:lnSpc>
                          <a:spcPct val="200000"/>
                        </a:lnSpc>
                      </a:pP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✅Pros</a:t>
                      </a:r>
                    </a:p>
                  </a:txBody>
                  <a:tcPr/>
                </a:tc>
                <a:tc>
                  <a:txBody>
                    <a:bodyPr/>
                    <a:lstStyle/>
                    <a:p>
                      <a:pPr algn="ctr">
                        <a:lnSpc>
                          <a:spcPct val="200000"/>
                        </a:lnSpc>
                      </a:pP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❌Cons</a:t>
                      </a:r>
                    </a:p>
                  </a:txBody>
                  <a:tcPr/>
                </a:tc>
                <a:extLst>
                  <a:ext uri="{0D108BD9-81ED-4DB2-BD59-A6C34878D82A}">
                    <a16:rowId xmlns:a16="http://schemas.microsoft.com/office/drawing/2014/main" val="2159673213"/>
                  </a:ext>
                </a:extLst>
              </a:tr>
              <a:tr h="1059522">
                <a:tc>
                  <a:txBody>
                    <a:bodyPr/>
                    <a:lstStyle/>
                    <a:p>
                      <a:r>
                        <a:rPr lang="en-US" sz="2400" dirty="0"/>
                        <a:t>📒 </a:t>
                      </a:r>
                      <a:r>
                        <a:rPr lang="en-US" sz="2400" dirty="0">
                          <a:solidFill>
                            <a:srgbClr val="FF0000"/>
                          </a:solidFill>
                        </a:rPr>
                        <a:t>.</a:t>
                      </a:r>
                      <a:r>
                        <a:rPr lang="en-US" sz="2400" b="1" dirty="0">
                          <a:solidFill>
                            <a:srgbClr val="FF0000"/>
                          </a:solidFill>
                        </a:rPr>
                        <a:t>pbix</a:t>
                      </a:r>
                      <a:r>
                        <a:rPr lang="en-US" sz="2400" dirty="0"/>
                        <a:t> file</a:t>
                      </a:r>
                    </a:p>
                  </a:txBody>
                  <a:tcPr>
                    <a:solidFill>
                      <a:schemeClr val="bg1"/>
                    </a:solidFill>
                  </a:tcPr>
                </a:tc>
                <a:tc>
                  <a:txBody>
                    <a:bodyPr/>
                    <a:lstStyle/>
                    <a:p>
                      <a:r>
                        <a:rPr lang="en-US" sz="2400" dirty="0"/>
                        <a:t>No account needed </a:t>
                      </a:r>
                    </a:p>
                  </a:txBody>
                  <a:tcPr>
                    <a:solidFill>
                      <a:schemeClr val="bg1"/>
                    </a:solidFill>
                  </a:tcPr>
                </a:tc>
                <a:tc>
                  <a:txBody>
                    <a:bodyPr/>
                    <a:lstStyle/>
                    <a:p>
                      <a:r>
                        <a:rPr lang="en-US" sz="2400" dirty="0"/>
                        <a:t>Must have Power BI Desktop</a:t>
                      </a:r>
                    </a:p>
                  </a:txBody>
                  <a:tcPr>
                    <a:solidFill>
                      <a:schemeClr val="bg1"/>
                    </a:solidFill>
                  </a:tcPr>
                </a:tc>
                <a:extLst>
                  <a:ext uri="{0D108BD9-81ED-4DB2-BD59-A6C34878D82A}">
                    <a16:rowId xmlns:a16="http://schemas.microsoft.com/office/drawing/2014/main" val="318525676"/>
                  </a:ext>
                </a:extLst>
              </a:tr>
              <a:tr h="1059522">
                <a:tc>
                  <a:txBody>
                    <a:bodyPr/>
                    <a:lstStyle/>
                    <a:p>
                      <a:r>
                        <a:rPr lang="en-US" sz="2400" dirty="0"/>
                        <a:t>🌩️ Power BI service</a:t>
                      </a:r>
                    </a:p>
                  </a:txBody>
                  <a:tcPr>
                    <a:solidFill>
                      <a:schemeClr val="bg1"/>
                    </a:solidFill>
                  </a:tcPr>
                </a:tc>
                <a:tc>
                  <a:txBody>
                    <a:bodyPr/>
                    <a:lstStyle/>
                    <a:p>
                      <a:r>
                        <a:rPr lang="en-US" sz="2400" dirty="0"/>
                        <a:t>Easy online sharing</a:t>
                      </a:r>
                    </a:p>
                  </a:txBody>
                  <a:tcPr>
                    <a:solidFill>
                      <a:schemeClr val="bg1"/>
                    </a:solidFill>
                  </a:tcPr>
                </a:tc>
                <a:tc>
                  <a:txBody>
                    <a:bodyPr/>
                    <a:lstStyle/>
                    <a:p>
                      <a:r>
                        <a:rPr lang="en-US" sz="2400" dirty="0"/>
                        <a:t>Requires Power BI account</a:t>
                      </a:r>
                    </a:p>
                  </a:txBody>
                  <a:tcPr>
                    <a:solidFill>
                      <a:schemeClr val="bg1"/>
                    </a:solidFill>
                  </a:tcPr>
                </a:tc>
                <a:extLst>
                  <a:ext uri="{0D108BD9-81ED-4DB2-BD59-A6C34878D82A}">
                    <a16:rowId xmlns:a16="http://schemas.microsoft.com/office/drawing/2014/main" val="924808478"/>
                  </a:ext>
                </a:extLst>
              </a:tr>
            </a:tbl>
          </a:graphicData>
        </a:graphic>
      </p:graphicFrame>
    </p:spTree>
    <p:extLst>
      <p:ext uri="{BB962C8B-B14F-4D97-AF65-F5344CB8AC3E}">
        <p14:creationId xmlns:p14="http://schemas.microsoft.com/office/powerpoint/2010/main" val="3893859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13E8A-FE54-E233-20BF-91E62D521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98531-FC26-0F0E-8CBF-F6EE27E20008}"/>
              </a:ext>
            </a:extLst>
          </p:cNvPr>
          <p:cNvSpPr>
            <a:spLocks noGrp="1"/>
          </p:cNvSpPr>
          <p:nvPr>
            <p:ph type="title"/>
          </p:nvPr>
        </p:nvSpPr>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Features of Power BI Publish</a:t>
            </a:r>
          </a:p>
        </p:txBody>
      </p:sp>
      <p:sp>
        <p:nvSpPr>
          <p:cNvPr id="3" name="Text Placeholder 2">
            <a:extLst>
              <a:ext uri="{FF2B5EF4-FFF2-40B4-BE49-F238E27FC236}">
                <a16:creationId xmlns:a16="http://schemas.microsoft.com/office/drawing/2014/main" id="{0D85259F-0048-AA8C-2A1E-72373C518CE9}"/>
              </a:ext>
            </a:extLst>
          </p:cNvPr>
          <p:cNvSpPr>
            <a:spLocks noGrp="1"/>
          </p:cNvSpPr>
          <p:nvPr>
            <p:ph type="body" sz="quarter" idx="14"/>
          </p:nvPr>
        </p:nvSpPr>
        <p:spPr>
          <a:xfrm>
            <a:off x="445721" y="1603717"/>
            <a:ext cx="11509212" cy="5254283"/>
          </a:xfrm>
        </p:spPr>
        <p:txBody>
          <a:bodyPr>
            <a:normAutofit fontScale="92500"/>
          </a:bodyPr>
          <a:lstStyle/>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Public access</a:t>
            </a:r>
            <a:r>
              <a:rPr lang="en-US" sz="2800" dirty="0"/>
              <a:t>:  Publish to Web enables users to share content on a publicly accessible website, thus allowing a wider audience to benefit from the shared insights.</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Automatic updates</a:t>
            </a:r>
            <a:r>
              <a:rPr lang="en-US" sz="2800" dirty="0"/>
              <a:t>: Published reports &amp; dashboards can be set to automatically update, ensuring that viewers always have access to the latest data.</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Customizable view modes</a:t>
            </a:r>
            <a:r>
              <a:rPr lang="en-US" sz="2800" dirty="0"/>
              <a:t>: Users can customize the view modes of their published content, allowing them to control how viewers interact with and explore the data.</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Increased accessibility</a:t>
            </a:r>
            <a:r>
              <a:rPr lang="en-US" sz="2800" dirty="0"/>
              <a:t>: Data insights are available directly on your website.</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Enhanced engagement</a:t>
            </a:r>
            <a:r>
              <a:rPr lang="en-US" sz="2800" dirty="0"/>
              <a:t>: Data-driven decision-making is accessible to a broader audience.</a:t>
            </a:r>
          </a:p>
        </p:txBody>
      </p:sp>
    </p:spTree>
    <p:extLst>
      <p:ext uri="{BB962C8B-B14F-4D97-AF65-F5344CB8AC3E}">
        <p14:creationId xmlns:p14="http://schemas.microsoft.com/office/powerpoint/2010/main" val="1695563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21052-4287-6BBB-F293-33B2CAEA5E62}"/>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Workspace</a:t>
            </a:r>
          </a:p>
        </p:txBody>
      </p:sp>
      <p:sp>
        <p:nvSpPr>
          <p:cNvPr id="3" name="Text Placeholder 2">
            <a:extLst>
              <a:ext uri="{FF2B5EF4-FFF2-40B4-BE49-F238E27FC236}">
                <a16:creationId xmlns:a16="http://schemas.microsoft.com/office/drawing/2014/main" id="{EFAD753B-EAA6-DCC3-8DBB-B19400C813BC}"/>
              </a:ext>
            </a:extLst>
          </p:cNvPr>
          <p:cNvSpPr>
            <a:spLocks noGrp="1"/>
          </p:cNvSpPr>
          <p:nvPr>
            <p:ph type="body" sz="quarter" idx="14"/>
          </p:nvPr>
        </p:nvSpPr>
        <p:spPr>
          <a:xfrm>
            <a:off x="6096000" y="1180745"/>
            <a:ext cx="5801711" cy="5677255"/>
          </a:xfrm>
        </p:spPr>
        <p:txBody>
          <a:bodyPr>
            <a:normAutofit lnSpcReduction="10000"/>
          </a:bodyPr>
          <a:lstStyle/>
          <a:p>
            <a:pPr algn="just"/>
            <a:r>
              <a:rPr lang="en-US" dirty="0">
                <a:solidFill>
                  <a:srgbClr val="036C70"/>
                </a:solidFill>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 BI Workspace </a:t>
            </a:r>
            <a:r>
              <a:rPr lang="en-US" dirty="0"/>
              <a:t>refers to a collaboration hub where you and your team can collaborate to create interactive dashboards and reports.</a:t>
            </a:r>
          </a:p>
          <a:p>
            <a:pPr algn="just"/>
            <a:r>
              <a:rPr lang="en-US" dirty="0"/>
              <a:t> To share your content with others in Power BI, you can begin by creating what is essentially another designated area, referred to as a Workspaces.</a:t>
            </a:r>
          </a:p>
          <a:p>
            <a:pPr algn="just"/>
            <a:r>
              <a:rPr lang="en-US" dirty="0"/>
              <a:t> These workspaces are alternatively known as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App workspaces</a:t>
            </a:r>
            <a:r>
              <a:rPr lang="en-US" dirty="0"/>
              <a:t>” or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Organizational workspaces</a:t>
            </a:r>
            <a:r>
              <a:rPr lang="en-US" dirty="0"/>
              <a:t>”.</a:t>
            </a:r>
          </a:p>
          <a:p>
            <a:pPr algn="just"/>
            <a:r>
              <a:rPr lang="en-US" dirty="0"/>
              <a:t> Workspaces are most effectively utilized as collaborative spaces where teams can efficiently share and collaborate on content.</a:t>
            </a:r>
          </a:p>
        </p:txBody>
      </p:sp>
      <p:pic>
        <p:nvPicPr>
          <p:cNvPr id="6" name="Picture 5" descr="Screenshot shows the navigation pane with two types of workspaces.">
            <a:extLst>
              <a:ext uri="{FF2B5EF4-FFF2-40B4-BE49-F238E27FC236}">
                <a16:creationId xmlns:a16="http://schemas.microsoft.com/office/drawing/2014/main" id="{D5704547-A342-B663-3885-7463C0A5FA4E}"/>
              </a:ext>
            </a:extLst>
          </p:cNvPr>
          <p:cNvPicPr>
            <a:picLocks noChangeAspect="1"/>
          </p:cNvPicPr>
          <p:nvPr/>
        </p:nvPicPr>
        <p:blipFill>
          <a:blip r:embed="rId2"/>
          <a:stretch>
            <a:fillRect/>
          </a:stretch>
        </p:blipFill>
        <p:spPr>
          <a:xfrm>
            <a:off x="194805" y="1893510"/>
            <a:ext cx="5901195" cy="3468978"/>
          </a:xfrm>
          <a:prstGeom prst="rect">
            <a:avLst/>
          </a:prstGeom>
        </p:spPr>
      </p:pic>
    </p:spTree>
    <p:extLst>
      <p:ext uri="{BB962C8B-B14F-4D97-AF65-F5344CB8AC3E}">
        <p14:creationId xmlns:p14="http://schemas.microsoft.com/office/powerpoint/2010/main" val="3644147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7CF2-6D54-6A10-7CAB-445BA03AFEFE}"/>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Types of Power BI Workspaces</a:t>
            </a:r>
          </a:p>
        </p:txBody>
      </p:sp>
      <p:sp>
        <p:nvSpPr>
          <p:cNvPr id="3" name="Text Placeholder 2">
            <a:extLst>
              <a:ext uri="{FF2B5EF4-FFF2-40B4-BE49-F238E27FC236}">
                <a16:creationId xmlns:a16="http://schemas.microsoft.com/office/drawing/2014/main" id="{C61922FC-0D74-56C7-C4EA-A4677BA5DCB9}"/>
              </a:ext>
            </a:extLst>
          </p:cNvPr>
          <p:cNvSpPr>
            <a:spLocks noGrp="1"/>
          </p:cNvSpPr>
          <p:nvPr>
            <p:ph type="body" sz="quarter" idx="14"/>
          </p:nvPr>
        </p:nvSpPr>
        <p:spPr/>
        <p:txBody>
          <a:bodyPr/>
          <a:lstStyle/>
          <a:p>
            <a:pPr>
              <a:buBlip>
                <a:blip r:embed="rId2"/>
              </a:buBlip>
            </a:pPr>
            <a:r>
              <a:rPr lang="en-US" dirty="0">
                <a:solidFill>
                  <a:srgbClr val="036C70"/>
                </a:solidFill>
              </a:rPr>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My Workspace</a:t>
            </a:r>
          </a:p>
          <a:p>
            <a:pPr algn="just">
              <a:buFont typeface="Courier New" panose="02070309020205020404" pitchFamily="49" charset="0"/>
              <a:buChar char="o"/>
            </a:pPr>
            <a:r>
              <a:rPr lang="en-US" dirty="0"/>
              <a:t> A personal workspace where an individual can store and work on their own reports and datasets.</a:t>
            </a:r>
          </a:p>
          <a:p>
            <a:pPr algn="just">
              <a:buFont typeface="Courier New" panose="02070309020205020404" pitchFamily="49" charset="0"/>
              <a:buChar char="o"/>
            </a:pPr>
            <a:endParaRPr lang="en-US" dirty="0"/>
          </a:p>
          <a:p>
            <a:pPr algn="just">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App Workspaces</a:t>
            </a:r>
          </a:p>
          <a:p>
            <a:pPr algn="just">
              <a:buFont typeface="Courier New" panose="02070309020205020404" pitchFamily="49" charset="0"/>
              <a:buChar char="o"/>
            </a:pPr>
            <a:r>
              <a:rPr lang="en-US" dirty="0"/>
              <a:t> Workspaces that allow multiple users to collaborate on a shared content.</a:t>
            </a:r>
          </a:p>
          <a:p>
            <a:pPr algn="just">
              <a:buFont typeface="Courier New" panose="02070309020205020404" pitchFamily="49" charset="0"/>
              <a:buChar char="o"/>
            </a:pPr>
            <a:r>
              <a:rPr lang="en-US" dirty="0"/>
              <a:t> These are used to create, manage, and distribute apps containing reports and dashboards to a larger audience.</a:t>
            </a:r>
          </a:p>
        </p:txBody>
      </p:sp>
    </p:spTree>
    <p:extLst>
      <p:ext uri="{BB962C8B-B14F-4D97-AF65-F5344CB8AC3E}">
        <p14:creationId xmlns:p14="http://schemas.microsoft.com/office/powerpoint/2010/main" val="756207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9881-F153-6B3D-7F3C-AA8A57155B59}"/>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Create a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Workspace</a:t>
            </a:r>
          </a:p>
        </p:txBody>
      </p:sp>
      <p:sp>
        <p:nvSpPr>
          <p:cNvPr id="3" name="Text Placeholder 2">
            <a:extLst>
              <a:ext uri="{FF2B5EF4-FFF2-40B4-BE49-F238E27FC236}">
                <a16:creationId xmlns:a16="http://schemas.microsoft.com/office/drawing/2014/main" id="{FDC52753-445A-C064-E309-DDE7AC6D4E5E}"/>
              </a:ext>
            </a:extLst>
          </p:cNvPr>
          <p:cNvSpPr>
            <a:spLocks noGrp="1"/>
          </p:cNvSpPr>
          <p:nvPr>
            <p:ph type="body" sz="quarter" idx="14"/>
          </p:nvPr>
        </p:nvSpPr>
        <p:spPr>
          <a:xfrm>
            <a:off x="6641431" y="1299905"/>
            <a:ext cx="5406189" cy="5526258"/>
          </a:xfrm>
        </p:spPr>
        <p:txBody>
          <a:bodyPr>
            <a:noAutofit/>
          </a:bodyPr>
          <a:lstStyle/>
          <a:p>
            <a:pPr algn="just"/>
            <a:r>
              <a:rPr lang="en-US" dirty="0"/>
              <a:t> To get started, navigate to ‘</a:t>
            </a:r>
            <a:r>
              <a:rPr lang="en-US" b="1" dirty="0"/>
              <a:t>Workspaces</a:t>
            </a:r>
            <a:r>
              <a:rPr lang="en-US" dirty="0"/>
              <a:t>’ either by clicking on it in the left navigation pane or its icon if you’ve minimized the pane.</a:t>
            </a:r>
          </a:p>
          <a:p>
            <a:pPr algn="just"/>
            <a:r>
              <a:rPr lang="en-US" dirty="0"/>
              <a:t> Next, select ‘</a:t>
            </a:r>
            <a:r>
              <a:rPr lang="en-US" b="1" dirty="0"/>
              <a:t>Create a workspace</a:t>
            </a:r>
            <a:r>
              <a:rPr lang="en-US" dirty="0"/>
              <a:t>’.</a:t>
            </a:r>
          </a:p>
          <a:p>
            <a:pPr algn="just"/>
            <a:r>
              <a:rPr lang="en-US" dirty="0"/>
              <a:t> Power BI will prompt you to fill in your workspace details.</a:t>
            </a:r>
          </a:p>
          <a:p>
            <a:pPr algn="just"/>
            <a:r>
              <a:rPr lang="en-US" dirty="0"/>
              <a:t> While choosing a name for your workspace, don’t use the same name.</a:t>
            </a:r>
          </a:p>
          <a:p>
            <a:pPr algn="just"/>
            <a:r>
              <a:rPr lang="en-US" dirty="0"/>
              <a:t> Once you’re satisfied with the details, click ‘</a:t>
            </a:r>
            <a:r>
              <a:rPr lang="en-US" b="1" dirty="0"/>
              <a:t>Save</a:t>
            </a:r>
            <a:r>
              <a:rPr lang="en-US" dirty="0"/>
              <a:t>’.</a:t>
            </a:r>
          </a:p>
          <a:p>
            <a:pPr algn="just"/>
            <a:r>
              <a:rPr lang="en-US" dirty="0"/>
              <a:t> Power BI will then display your team’s workspace.</a:t>
            </a:r>
          </a:p>
        </p:txBody>
      </p:sp>
      <p:pic>
        <p:nvPicPr>
          <p:cNvPr id="4" name="Picture 3" descr="create-workspace">
            <a:extLst>
              <a:ext uri="{FF2B5EF4-FFF2-40B4-BE49-F238E27FC236}">
                <a16:creationId xmlns:a16="http://schemas.microsoft.com/office/drawing/2014/main" id="{088392B6-28B3-3FB2-07ED-9A04D22F63AF}"/>
              </a:ext>
            </a:extLst>
          </p:cNvPr>
          <p:cNvPicPr>
            <a:picLocks noChangeAspect="1"/>
          </p:cNvPicPr>
          <p:nvPr/>
        </p:nvPicPr>
        <p:blipFill>
          <a:blip r:embed="rId2"/>
          <a:stretch>
            <a:fillRect/>
          </a:stretch>
        </p:blipFill>
        <p:spPr>
          <a:xfrm>
            <a:off x="1027078" y="1558669"/>
            <a:ext cx="3609089" cy="2440679"/>
          </a:xfrm>
          <a:prstGeom prst="rect">
            <a:avLst/>
          </a:prstGeom>
        </p:spPr>
      </p:pic>
      <p:pic>
        <p:nvPicPr>
          <p:cNvPr id="5" name="Picture 4" descr="create-workspace-1">
            <a:extLst>
              <a:ext uri="{FF2B5EF4-FFF2-40B4-BE49-F238E27FC236}">
                <a16:creationId xmlns:a16="http://schemas.microsoft.com/office/drawing/2014/main" id="{A231A3BC-6ADE-4E90-513D-5AC1A974D9F6}"/>
              </a:ext>
            </a:extLst>
          </p:cNvPr>
          <p:cNvPicPr>
            <a:picLocks noChangeAspect="1"/>
          </p:cNvPicPr>
          <p:nvPr/>
        </p:nvPicPr>
        <p:blipFill>
          <a:blip r:embed="rId3"/>
          <a:stretch>
            <a:fillRect/>
          </a:stretch>
        </p:blipFill>
        <p:spPr>
          <a:xfrm>
            <a:off x="144380" y="4063034"/>
            <a:ext cx="2486525" cy="2664460"/>
          </a:xfrm>
          <a:prstGeom prst="rect">
            <a:avLst/>
          </a:prstGeom>
        </p:spPr>
      </p:pic>
      <p:pic>
        <p:nvPicPr>
          <p:cNvPr id="6" name="Picture 5" descr="create-workspace-3">
            <a:extLst>
              <a:ext uri="{FF2B5EF4-FFF2-40B4-BE49-F238E27FC236}">
                <a16:creationId xmlns:a16="http://schemas.microsoft.com/office/drawing/2014/main" id="{B69501E7-74ED-06DC-8750-4A60B60BD583}"/>
              </a:ext>
            </a:extLst>
          </p:cNvPr>
          <p:cNvPicPr>
            <a:picLocks noChangeAspect="1"/>
          </p:cNvPicPr>
          <p:nvPr/>
        </p:nvPicPr>
        <p:blipFill>
          <a:blip r:embed="rId4"/>
          <a:stretch>
            <a:fillRect/>
          </a:stretch>
        </p:blipFill>
        <p:spPr>
          <a:xfrm>
            <a:off x="3032342" y="4226275"/>
            <a:ext cx="3609089" cy="2468555"/>
          </a:xfrm>
          <a:prstGeom prst="rect">
            <a:avLst/>
          </a:prstGeom>
        </p:spPr>
      </p:pic>
    </p:spTree>
    <p:extLst>
      <p:ext uri="{BB962C8B-B14F-4D97-AF65-F5344CB8AC3E}">
        <p14:creationId xmlns:p14="http://schemas.microsoft.com/office/powerpoint/2010/main" val="653479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5650D-9C75-B8B7-6FB1-6E61B3098AB0}"/>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Power BI Workspace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Roles</a:t>
            </a:r>
          </a:p>
        </p:txBody>
      </p:sp>
      <p:sp>
        <p:nvSpPr>
          <p:cNvPr id="3" name="Text Placeholder 2">
            <a:extLst>
              <a:ext uri="{FF2B5EF4-FFF2-40B4-BE49-F238E27FC236}">
                <a16:creationId xmlns:a16="http://schemas.microsoft.com/office/drawing/2014/main" id="{F881A07C-69BF-2F1F-2E3D-9A51F093A525}"/>
              </a:ext>
            </a:extLst>
          </p:cNvPr>
          <p:cNvSpPr>
            <a:spLocks noGrp="1"/>
          </p:cNvSpPr>
          <p:nvPr>
            <p:ph type="body" sz="quarter" idx="14"/>
          </p:nvPr>
        </p:nvSpPr>
        <p:spPr>
          <a:xfrm>
            <a:off x="1156921" y="1331742"/>
            <a:ext cx="10275570" cy="4705350"/>
          </a:xfrm>
        </p:spPr>
        <p:txBody>
          <a:bodyPr/>
          <a:lstStyle/>
          <a:p>
            <a:pPr algn="just"/>
            <a:r>
              <a:rPr lang="en-US" dirty="0"/>
              <a:t> Power BI workspaces come with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role-based access </a:t>
            </a:r>
            <a:r>
              <a:rPr lang="en-US" dirty="0"/>
              <a:t>to ensure that users can only perform the actions allowed by their specific roles.</a:t>
            </a:r>
          </a:p>
          <a:p>
            <a:pPr algn="just"/>
            <a:r>
              <a:rPr lang="en-US" dirty="0"/>
              <a:t> The roles control what users can and cannot do within a workspace.</a:t>
            </a:r>
          </a:p>
          <a:p>
            <a:pPr marL="0" indent="0" algn="just">
              <a:buNone/>
            </a:pPr>
            <a:endParaRPr lang="en-US" dirty="0"/>
          </a:p>
        </p:txBody>
      </p:sp>
      <p:graphicFrame>
        <p:nvGraphicFramePr>
          <p:cNvPr id="4" name="Table 3">
            <a:extLst>
              <a:ext uri="{FF2B5EF4-FFF2-40B4-BE49-F238E27FC236}">
                <a16:creationId xmlns:a16="http://schemas.microsoft.com/office/drawing/2014/main" id="{865E2A82-C3F0-8572-6950-576C9BB975AE}"/>
              </a:ext>
            </a:extLst>
          </p:cNvPr>
          <p:cNvGraphicFramePr>
            <a:graphicFrameLocks noGrp="1"/>
          </p:cNvGraphicFramePr>
          <p:nvPr>
            <p:extLst>
              <p:ext uri="{D42A27DB-BD31-4B8C-83A1-F6EECF244321}">
                <p14:modId xmlns:p14="http://schemas.microsoft.com/office/powerpoint/2010/main" val="2522628984"/>
              </p:ext>
            </p:extLst>
          </p:nvPr>
        </p:nvGraphicFramePr>
        <p:xfrm>
          <a:off x="256674" y="2623820"/>
          <a:ext cx="11614484" cy="3810000"/>
        </p:xfrm>
        <a:graphic>
          <a:graphicData uri="http://schemas.openxmlformats.org/drawingml/2006/table">
            <a:tbl>
              <a:tblPr firstRow="1" bandRow="1">
                <a:tableStyleId>{3B4B98B0-60AC-42C2-AFA5-B58CD77FA1E5}</a:tableStyleId>
              </a:tblPr>
              <a:tblGrid>
                <a:gridCol w="1652337">
                  <a:extLst>
                    <a:ext uri="{9D8B030D-6E8A-4147-A177-3AD203B41FA5}">
                      <a16:colId xmlns:a16="http://schemas.microsoft.com/office/drawing/2014/main" val="1669700186"/>
                    </a:ext>
                  </a:extLst>
                </a:gridCol>
                <a:gridCol w="9962147">
                  <a:extLst>
                    <a:ext uri="{9D8B030D-6E8A-4147-A177-3AD203B41FA5}">
                      <a16:colId xmlns:a16="http://schemas.microsoft.com/office/drawing/2014/main" val="4872743"/>
                    </a:ext>
                  </a:extLst>
                </a:gridCol>
              </a:tblGrid>
              <a:tr h="370840">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Role</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Access</a:t>
                      </a:r>
                    </a:p>
                  </a:txBody>
                  <a:tcPr/>
                </a:tc>
                <a:extLst>
                  <a:ext uri="{0D108BD9-81ED-4DB2-BD59-A6C34878D82A}">
                    <a16:rowId xmlns:a16="http://schemas.microsoft.com/office/drawing/2014/main" val="716706891"/>
                  </a:ext>
                </a:extLst>
              </a:tr>
              <a:tr h="370840">
                <a:tc>
                  <a:txBody>
                    <a:bodyPr/>
                    <a:lstStyle/>
                    <a:p>
                      <a:r>
                        <a:rPr lang="en-US" sz="20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Admin</a:t>
                      </a:r>
                    </a:p>
                  </a:txBody>
                  <a:tcPr>
                    <a:solidFill>
                      <a:schemeClr val="bg1"/>
                    </a:solidFill>
                  </a:tcPr>
                </a:tc>
                <a:tc>
                  <a:txBody>
                    <a:bodyPr/>
                    <a:lstStyle/>
                    <a:p>
                      <a:r>
                        <a:rPr lang="en-US" sz="2000" dirty="0"/>
                        <a:t>Admins have full control over the workspace. They can add or remove  members, change roles, publish reports, and manage the workspace’s settings. Admins also have access to all content within the workspace.</a:t>
                      </a:r>
                    </a:p>
                  </a:txBody>
                  <a:tcPr>
                    <a:solidFill>
                      <a:schemeClr val="bg1"/>
                    </a:solidFill>
                  </a:tcPr>
                </a:tc>
                <a:extLst>
                  <a:ext uri="{0D108BD9-81ED-4DB2-BD59-A6C34878D82A}">
                    <a16:rowId xmlns:a16="http://schemas.microsoft.com/office/drawing/2014/main" val="2640683231"/>
                  </a:ext>
                </a:extLst>
              </a:tr>
              <a:tr h="370840">
                <a:tc>
                  <a:txBody>
                    <a:bodyPr/>
                    <a:lstStyle/>
                    <a:p>
                      <a:r>
                        <a:rPr lang="en-US" sz="20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Member</a:t>
                      </a:r>
                    </a:p>
                  </a:txBody>
                  <a:tcPr>
                    <a:solidFill>
                      <a:schemeClr val="bg1"/>
                    </a:solidFill>
                  </a:tcPr>
                </a:tc>
                <a:tc>
                  <a:txBody>
                    <a:bodyPr/>
                    <a:lstStyle/>
                    <a:p>
                      <a:r>
                        <a:rPr lang="en-US" sz="2000" dirty="0"/>
                        <a:t>Members can create, edit, and view content in the workspace. They can also share reports and dashboards but cannot modify the workspace’s settings or manage access permissions.</a:t>
                      </a:r>
                    </a:p>
                  </a:txBody>
                  <a:tcPr>
                    <a:solidFill>
                      <a:schemeClr val="bg1"/>
                    </a:solidFill>
                  </a:tcPr>
                </a:tc>
                <a:extLst>
                  <a:ext uri="{0D108BD9-81ED-4DB2-BD59-A6C34878D82A}">
                    <a16:rowId xmlns:a16="http://schemas.microsoft.com/office/drawing/2014/main" val="168254662"/>
                  </a:ext>
                </a:extLst>
              </a:tr>
              <a:tr h="370840">
                <a:tc>
                  <a:txBody>
                    <a:bodyPr/>
                    <a:lstStyle/>
                    <a:p>
                      <a:r>
                        <a:rPr lang="en-US" sz="20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Contributor</a:t>
                      </a:r>
                    </a:p>
                  </a:txBody>
                  <a:tcPr>
                    <a:solidFill>
                      <a:schemeClr val="bg1"/>
                    </a:solidFill>
                  </a:tcPr>
                </a:tc>
                <a:tc>
                  <a:txBody>
                    <a:bodyPr/>
                    <a:lstStyle/>
                    <a:p>
                      <a:r>
                        <a:rPr lang="en-US" sz="2000" dirty="0"/>
                        <a:t>Contributors can create and modify content within the  workspace but cannot delete it or change workspace settings. They can add reports and dashboards and edit or update datasets. </a:t>
                      </a:r>
                    </a:p>
                  </a:txBody>
                  <a:tcPr>
                    <a:solidFill>
                      <a:schemeClr val="bg1"/>
                    </a:solidFill>
                  </a:tcPr>
                </a:tc>
                <a:extLst>
                  <a:ext uri="{0D108BD9-81ED-4DB2-BD59-A6C34878D82A}">
                    <a16:rowId xmlns:a16="http://schemas.microsoft.com/office/drawing/2014/main" val="865140338"/>
                  </a:ext>
                </a:extLst>
              </a:tr>
              <a:tr h="370840">
                <a:tc>
                  <a:txBody>
                    <a:bodyPr/>
                    <a:lstStyle/>
                    <a:p>
                      <a:r>
                        <a:rPr lang="en-US" sz="20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Viewer</a:t>
                      </a:r>
                    </a:p>
                  </a:txBody>
                  <a:tcPr>
                    <a:solidFill>
                      <a:schemeClr val="bg1"/>
                    </a:solidFill>
                  </a:tcPr>
                </a:tc>
                <a:tc>
                  <a:txBody>
                    <a:bodyPr/>
                    <a:lstStyle/>
                    <a:p>
                      <a:r>
                        <a:rPr lang="en-US" sz="2000" dirty="0"/>
                        <a:t>Viewers can only view the content shared with them. They have no permissions to create, edit, or share reports and dashboards. This role is ideal for users who need access to reports without needing to modify them.</a:t>
                      </a:r>
                    </a:p>
                  </a:txBody>
                  <a:tcPr>
                    <a:solidFill>
                      <a:schemeClr val="bg1"/>
                    </a:solidFill>
                  </a:tcPr>
                </a:tc>
                <a:extLst>
                  <a:ext uri="{0D108BD9-81ED-4DB2-BD59-A6C34878D82A}">
                    <a16:rowId xmlns:a16="http://schemas.microsoft.com/office/drawing/2014/main" val="2339340579"/>
                  </a:ext>
                </a:extLst>
              </a:tr>
            </a:tbl>
          </a:graphicData>
        </a:graphic>
      </p:graphicFrame>
    </p:spTree>
    <p:extLst>
      <p:ext uri="{BB962C8B-B14F-4D97-AF65-F5344CB8AC3E}">
        <p14:creationId xmlns:p14="http://schemas.microsoft.com/office/powerpoint/2010/main" val="4040059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5A27F-0B6D-84EC-EF37-59B091932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5BB0D-9D7C-1A9C-1BA2-E6D40D98027F}"/>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Why Power BI Workspaces?</a:t>
            </a:r>
          </a:p>
        </p:txBody>
      </p:sp>
      <p:sp>
        <p:nvSpPr>
          <p:cNvPr id="3" name="Text Placeholder 2">
            <a:extLst>
              <a:ext uri="{FF2B5EF4-FFF2-40B4-BE49-F238E27FC236}">
                <a16:creationId xmlns:a16="http://schemas.microsoft.com/office/drawing/2014/main" id="{9CA64F0D-D63F-877B-DB98-9BC49EA6CBDA}"/>
              </a:ext>
            </a:extLst>
          </p:cNvPr>
          <p:cNvSpPr>
            <a:spLocks noGrp="1"/>
          </p:cNvSpPr>
          <p:nvPr>
            <p:ph type="body" sz="quarter" idx="14"/>
          </p:nvPr>
        </p:nvSpPr>
        <p:spPr>
          <a:xfrm>
            <a:off x="1156921" y="1331742"/>
            <a:ext cx="10275570" cy="4705350"/>
          </a:xfrm>
        </p:spPr>
        <p:txBody>
          <a:bodyPr/>
          <a:lstStyle/>
          <a:p>
            <a:pPr algn="just">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Collaboration</a:t>
            </a:r>
            <a:r>
              <a:rPr lang="en-US" dirty="0"/>
              <a:t>: Workspaces facilitate teamwork, allowing multiple people to contribute to data analysis and report creation.</a:t>
            </a:r>
          </a:p>
          <a:p>
            <a:pPr algn="just">
              <a:buBlip>
                <a:blip r:embed="rId2"/>
              </a:buBlip>
            </a:pPr>
            <a:endParaRPr lang="en-US" dirty="0"/>
          </a:p>
          <a:p>
            <a:pPr algn="just">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Access Control</a:t>
            </a:r>
            <a:r>
              <a:rPr lang="en-US" dirty="0"/>
              <a:t>: Workspace roles help to enforce proper access and control, ensuring that users can only interact with content based on their permissions.</a:t>
            </a:r>
          </a:p>
          <a:p>
            <a:pPr algn="just">
              <a:buBlip>
                <a:blip r:embed="rId2"/>
              </a:buBlip>
            </a:pPr>
            <a:endParaRPr lang="en-US" dirty="0"/>
          </a:p>
          <a:p>
            <a:pPr algn="just">
              <a:buBlip>
                <a:blip r:embed="rId2"/>
              </a:buBlip>
            </a:pPr>
            <a:r>
              <a:rPr lang="en-US" dirty="0"/>
              <a:t>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Content Management</a:t>
            </a:r>
            <a:r>
              <a:rPr lang="en-US" dirty="0"/>
              <a:t>: Workspaces streamline the management of reports, datasets, and dashboards in a central location.</a:t>
            </a:r>
          </a:p>
        </p:txBody>
      </p:sp>
    </p:spTree>
    <p:extLst>
      <p:ext uri="{BB962C8B-B14F-4D97-AF65-F5344CB8AC3E}">
        <p14:creationId xmlns:p14="http://schemas.microsoft.com/office/powerpoint/2010/main" val="1599541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6B7F-BC6E-79DF-921B-8758BD275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15BE8-EC22-59C9-98B1-3F7846DBF197}"/>
              </a:ext>
            </a:extLst>
          </p:cNvPr>
          <p:cNvSpPr>
            <a:spLocks noGrp="1"/>
          </p:cNvSpPr>
          <p:nvPr>
            <p:ph type="title"/>
          </p:nvPr>
        </p:nvSpPr>
        <p:spPr/>
        <p:txBody>
          <a:bodyPr/>
          <a:lstStyle/>
          <a:p>
            <a:r>
              <a:rPr lang="en-US"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Enable Power BI Publish to web setting</a:t>
            </a:r>
          </a:p>
        </p:txBody>
      </p:sp>
      <p:sp>
        <p:nvSpPr>
          <p:cNvPr id="3" name="Text Placeholder 2">
            <a:extLst>
              <a:ext uri="{FF2B5EF4-FFF2-40B4-BE49-F238E27FC236}">
                <a16:creationId xmlns:a16="http://schemas.microsoft.com/office/drawing/2014/main" id="{E452E3A4-F3FD-597A-ACBF-C7B5800F5AD2}"/>
              </a:ext>
            </a:extLst>
          </p:cNvPr>
          <p:cNvSpPr>
            <a:spLocks noGrp="1"/>
          </p:cNvSpPr>
          <p:nvPr>
            <p:ph type="body" sz="quarter" idx="14"/>
          </p:nvPr>
        </p:nvSpPr>
        <p:spPr>
          <a:xfrm>
            <a:off x="6561221" y="1180450"/>
            <a:ext cx="5406190" cy="5526258"/>
          </a:xfrm>
        </p:spPr>
        <p:txBody>
          <a:bodyPr/>
          <a:lstStyle/>
          <a:p>
            <a:pPr marL="514350" indent="-514350" algn="just">
              <a:buFont typeface="+mj-lt"/>
              <a:buAutoNum type="romanUcPeriod"/>
            </a:pPr>
            <a:r>
              <a:rPr lang="en-US" dirty="0"/>
              <a:t>On the top right-hand corner of the report page, click on the three dots.</a:t>
            </a:r>
          </a:p>
          <a:p>
            <a:pPr marL="514350" indent="-514350" algn="just">
              <a:buFont typeface="+mj-lt"/>
              <a:buAutoNum type="romanUcPeriod"/>
            </a:pPr>
            <a:r>
              <a:rPr lang="en-US" dirty="0"/>
              <a:t>This opens a dialog box. Click on </a:t>
            </a:r>
            <a:r>
              <a:rPr lang="en-US" b="1" dirty="0"/>
              <a:t>Settings</a:t>
            </a:r>
            <a:r>
              <a:rPr lang="en-US" dirty="0"/>
              <a:t>, then on </a:t>
            </a:r>
            <a:r>
              <a:rPr lang="en-US" b="1" dirty="0"/>
              <a:t>Admin portal</a:t>
            </a:r>
            <a:r>
              <a:rPr lang="en-US" dirty="0"/>
              <a:t>.</a:t>
            </a:r>
          </a:p>
          <a:p>
            <a:pPr marL="514350" indent="-514350" algn="just">
              <a:buFont typeface="+mj-lt"/>
              <a:buAutoNum type="romanUcPeriod"/>
            </a:pPr>
            <a:r>
              <a:rPr lang="en-US" dirty="0"/>
              <a:t>In this tenant setting page, click on </a:t>
            </a:r>
            <a:r>
              <a:rPr lang="en-US" b="1" dirty="0"/>
              <a:t>Publish to web</a:t>
            </a:r>
            <a:r>
              <a:rPr lang="en-US" dirty="0"/>
              <a:t>. Notice that “</a:t>
            </a:r>
            <a:r>
              <a:rPr lang="en-US" b="1" dirty="0"/>
              <a:t>only allow existing codes</a:t>
            </a:r>
            <a:r>
              <a:rPr lang="en-US" dirty="0"/>
              <a:t>” and “</a:t>
            </a:r>
            <a:r>
              <a:rPr lang="en-US" b="1" dirty="0"/>
              <a:t>The entire organization</a:t>
            </a:r>
            <a:r>
              <a:rPr lang="en-US" dirty="0"/>
              <a:t>” is highlighted.</a:t>
            </a:r>
          </a:p>
          <a:p>
            <a:pPr marL="514350" indent="-514350" algn="just">
              <a:buFont typeface="+mj-lt"/>
              <a:buAutoNum type="romanUcPeriod"/>
            </a:pPr>
            <a:r>
              <a:rPr lang="en-US" dirty="0"/>
              <a:t>To change the predefined settings, click on “</a:t>
            </a:r>
            <a:r>
              <a:rPr lang="en-US" b="1" dirty="0"/>
              <a:t>Allowing existing and new codes</a:t>
            </a:r>
            <a:r>
              <a:rPr lang="en-US" dirty="0"/>
              <a:t>” &gt; “</a:t>
            </a:r>
            <a:r>
              <a:rPr lang="en-US" b="1" dirty="0"/>
              <a:t>Apply</a:t>
            </a:r>
            <a:r>
              <a:rPr lang="en-US" dirty="0"/>
              <a:t>”. </a:t>
            </a:r>
          </a:p>
        </p:txBody>
      </p:sp>
      <p:pic>
        <p:nvPicPr>
          <p:cNvPr id="8" name="Picture 7">
            <a:extLst>
              <a:ext uri="{FF2B5EF4-FFF2-40B4-BE49-F238E27FC236}">
                <a16:creationId xmlns:a16="http://schemas.microsoft.com/office/drawing/2014/main" id="{C6982501-30BF-D1E8-AA4D-7DFE5492E03A}"/>
              </a:ext>
            </a:extLst>
          </p:cNvPr>
          <p:cNvPicPr>
            <a:picLocks noChangeAspect="1"/>
          </p:cNvPicPr>
          <p:nvPr/>
        </p:nvPicPr>
        <p:blipFill>
          <a:blip r:embed="rId2"/>
          <a:stretch>
            <a:fillRect/>
          </a:stretch>
        </p:blipFill>
        <p:spPr>
          <a:xfrm>
            <a:off x="184623" y="1446440"/>
            <a:ext cx="6376598" cy="617777"/>
          </a:xfrm>
          <a:prstGeom prst="rect">
            <a:avLst/>
          </a:prstGeom>
        </p:spPr>
      </p:pic>
      <p:pic>
        <p:nvPicPr>
          <p:cNvPr id="10" name="Picture 9">
            <a:extLst>
              <a:ext uri="{FF2B5EF4-FFF2-40B4-BE49-F238E27FC236}">
                <a16:creationId xmlns:a16="http://schemas.microsoft.com/office/drawing/2014/main" id="{69384F04-387D-5084-3D80-2CB3C98A501A}"/>
              </a:ext>
            </a:extLst>
          </p:cNvPr>
          <p:cNvPicPr>
            <a:picLocks noChangeAspect="1"/>
          </p:cNvPicPr>
          <p:nvPr/>
        </p:nvPicPr>
        <p:blipFill>
          <a:blip r:embed="rId3"/>
          <a:stretch>
            <a:fillRect/>
          </a:stretch>
        </p:blipFill>
        <p:spPr>
          <a:xfrm>
            <a:off x="208404" y="2419313"/>
            <a:ext cx="6240521" cy="1558375"/>
          </a:xfrm>
          <a:prstGeom prst="rect">
            <a:avLst/>
          </a:prstGeom>
        </p:spPr>
      </p:pic>
      <p:pic>
        <p:nvPicPr>
          <p:cNvPr id="12" name="Picture 11">
            <a:extLst>
              <a:ext uri="{FF2B5EF4-FFF2-40B4-BE49-F238E27FC236}">
                <a16:creationId xmlns:a16="http://schemas.microsoft.com/office/drawing/2014/main" id="{733DEF76-6804-7C39-DF14-DD77E4DC3F8D}"/>
              </a:ext>
            </a:extLst>
          </p:cNvPr>
          <p:cNvPicPr>
            <a:picLocks noChangeAspect="1"/>
          </p:cNvPicPr>
          <p:nvPr/>
        </p:nvPicPr>
        <p:blipFill>
          <a:blip r:embed="rId4"/>
          <a:stretch>
            <a:fillRect/>
          </a:stretch>
        </p:blipFill>
        <p:spPr>
          <a:xfrm>
            <a:off x="246507" y="4155202"/>
            <a:ext cx="6088694" cy="1558375"/>
          </a:xfrm>
          <a:prstGeom prst="rect">
            <a:avLst/>
          </a:prstGeom>
        </p:spPr>
      </p:pic>
      <p:pic>
        <p:nvPicPr>
          <p:cNvPr id="14" name="Picture 13">
            <a:extLst>
              <a:ext uri="{FF2B5EF4-FFF2-40B4-BE49-F238E27FC236}">
                <a16:creationId xmlns:a16="http://schemas.microsoft.com/office/drawing/2014/main" id="{4E6453E2-83CA-FD22-37C7-9B0ABAA21F36}"/>
              </a:ext>
            </a:extLst>
          </p:cNvPr>
          <p:cNvPicPr>
            <a:picLocks noChangeAspect="1"/>
          </p:cNvPicPr>
          <p:nvPr/>
        </p:nvPicPr>
        <p:blipFill>
          <a:blip r:embed="rId5"/>
          <a:stretch>
            <a:fillRect/>
          </a:stretch>
        </p:blipFill>
        <p:spPr>
          <a:xfrm>
            <a:off x="3899283" y="4451774"/>
            <a:ext cx="2661938" cy="2254934"/>
          </a:xfrm>
          <a:prstGeom prst="rect">
            <a:avLst/>
          </a:prstGeom>
        </p:spPr>
      </p:pic>
    </p:spTree>
    <p:extLst>
      <p:ext uri="{BB962C8B-B14F-4D97-AF65-F5344CB8AC3E}">
        <p14:creationId xmlns:p14="http://schemas.microsoft.com/office/powerpoint/2010/main" val="1879005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B686-549F-7E5D-A9AD-3738754F327A}"/>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Publish to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web</a:t>
            </a:r>
          </a:p>
        </p:txBody>
      </p:sp>
      <p:sp>
        <p:nvSpPr>
          <p:cNvPr id="3" name="Text Placeholder 2">
            <a:extLst>
              <a:ext uri="{FF2B5EF4-FFF2-40B4-BE49-F238E27FC236}">
                <a16:creationId xmlns:a16="http://schemas.microsoft.com/office/drawing/2014/main" id="{E3D1A653-AC97-5A26-54F1-8F42EECF9347}"/>
              </a:ext>
            </a:extLst>
          </p:cNvPr>
          <p:cNvSpPr>
            <a:spLocks noGrp="1"/>
          </p:cNvSpPr>
          <p:nvPr>
            <p:ph type="body" sz="quarter" idx="14"/>
          </p:nvPr>
        </p:nvSpPr>
        <p:spPr>
          <a:xfrm>
            <a:off x="6384756" y="1533672"/>
            <a:ext cx="5566611" cy="5324327"/>
          </a:xfrm>
        </p:spPr>
        <p:txBody>
          <a:bodyPr/>
          <a:lstStyle/>
          <a:p>
            <a:pPr marL="457200" indent="-457200" algn="just">
              <a:buFont typeface="+mj-lt"/>
              <a:buAutoNum type="arabicPeriod"/>
            </a:pPr>
            <a:r>
              <a:rPr lang="en-US" dirty="0"/>
              <a:t>Open a report in a workspace that you can edit and select</a:t>
            </a:r>
            <a:r>
              <a:rPr lang="en-US" b="1" dirty="0"/>
              <a:t> File &gt; Embed report &gt; Publish to web (public)</a:t>
            </a:r>
            <a:r>
              <a:rPr lang="en-US" dirty="0"/>
              <a:t>.</a:t>
            </a:r>
          </a:p>
          <a:p>
            <a:pPr marL="457200" indent="-457200" algn="just">
              <a:buFont typeface="+mj-lt"/>
              <a:buAutoNum type="arabicPeriod"/>
            </a:pPr>
            <a:r>
              <a:rPr lang="en-US" dirty="0"/>
              <a:t>Review the dialog content and select </a:t>
            </a:r>
            <a:r>
              <a:rPr lang="en-US" b="1" dirty="0"/>
              <a:t>Create embed code</a:t>
            </a:r>
            <a:r>
              <a:rPr lang="en-US" dirty="0"/>
              <a:t>.</a:t>
            </a:r>
          </a:p>
          <a:p>
            <a:pPr marL="457200" indent="-457200" algn="just">
              <a:buFont typeface="+mj-lt"/>
              <a:buAutoNum type="arabicPeriod"/>
            </a:pPr>
            <a:r>
              <a:rPr lang="en-US" dirty="0"/>
              <a:t>Review the warning and confirm that the data is okay to embed in a public website. If it is, select </a:t>
            </a:r>
            <a:r>
              <a:rPr lang="en-US" b="1" dirty="0"/>
              <a:t>Publish</a:t>
            </a:r>
            <a:r>
              <a:rPr lang="en-US" dirty="0"/>
              <a:t>.</a:t>
            </a:r>
          </a:p>
        </p:txBody>
      </p:sp>
      <p:pic>
        <p:nvPicPr>
          <p:cNvPr id="4" name="Picture 3" descr="Screenshot of Publish to web on More options.">
            <a:extLst>
              <a:ext uri="{FF2B5EF4-FFF2-40B4-BE49-F238E27FC236}">
                <a16:creationId xmlns:a16="http://schemas.microsoft.com/office/drawing/2014/main" id="{1F60A76F-D461-0713-2991-AE6DCF510A9D}"/>
              </a:ext>
            </a:extLst>
          </p:cNvPr>
          <p:cNvPicPr>
            <a:picLocks noChangeAspect="1"/>
          </p:cNvPicPr>
          <p:nvPr/>
        </p:nvPicPr>
        <p:blipFill>
          <a:blip r:embed="rId2"/>
          <a:stretch>
            <a:fillRect/>
          </a:stretch>
        </p:blipFill>
        <p:spPr>
          <a:xfrm>
            <a:off x="1156921" y="1408992"/>
            <a:ext cx="4221357" cy="2786843"/>
          </a:xfrm>
          <a:prstGeom prst="rect">
            <a:avLst/>
          </a:prstGeom>
        </p:spPr>
      </p:pic>
      <p:pic>
        <p:nvPicPr>
          <p:cNvPr id="5" name="Picture 4" descr="Screenshot of Review Embed in a public website.">
            <a:extLst>
              <a:ext uri="{FF2B5EF4-FFF2-40B4-BE49-F238E27FC236}">
                <a16:creationId xmlns:a16="http://schemas.microsoft.com/office/drawing/2014/main" id="{37AFC700-5EFA-9996-BF66-8014DD4AD352}"/>
              </a:ext>
            </a:extLst>
          </p:cNvPr>
          <p:cNvPicPr>
            <a:picLocks noChangeAspect="1"/>
          </p:cNvPicPr>
          <p:nvPr/>
        </p:nvPicPr>
        <p:blipFill>
          <a:blip r:embed="rId3"/>
          <a:stretch>
            <a:fillRect/>
          </a:stretch>
        </p:blipFill>
        <p:spPr>
          <a:xfrm>
            <a:off x="1076709" y="4392273"/>
            <a:ext cx="3240632" cy="2189323"/>
          </a:xfrm>
          <a:prstGeom prst="rect">
            <a:avLst/>
          </a:prstGeom>
        </p:spPr>
      </p:pic>
      <p:pic>
        <p:nvPicPr>
          <p:cNvPr id="6" name="Picture 5" descr="Screenshot of dialog box with the warning">
            <a:extLst>
              <a:ext uri="{FF2B5EF4-FFF2-40B4-BE49-F238E27FC236}">
                <a16:creationId xmlns:a16="http://schemas.microsoft.com/office/drawing/2014/main" id="{682337C8-1EF2-5AD8-2D94-67760F565D94}"/>
              </a:ext>
            </a:extLst>
          </p:cNvPr>
          <p:cNvPicPr>
            <a:picLocks noChangeAspect="1"/>
          </p:cNvPicPr>
          <p:nvPr/>
        </p:nvPicPr>
        <p:blipFill>
          <a:blip r:embed="rId4"/>
          <a:stretch>
            <a:fillRect/>
          </a:stretch>
        </p:blipFill>
        <p:spPr>
          <a:xfrm>
            <a:off x="5323819" y="4691617"/>
            <a:ext cx="3046178" cy="1995247"/>
          </a:xfrm>
          <a:prstGeom prst="rect">
            <a:avLst/>
          </a:prstGeom>
        </p:spPr>
      </p:pic>
    </p:spTree>
    <p:extLst>
      <p:ext uri="{BB962C8B-B14F-4D97-AF65-F5344CB8AC3E}">
        <p14:creationId xmlns:p14="http://schemas.microsoft.com/office/powerpoint/2010/main" val="2348562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7EE6F-1572-515B-E77A-FBDE74730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1C463-C083-7EC5-2587-FC812C0AC961}"/>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p>
        </p:txBody>
      </p:sp>
      <p:sp>
        <p:nvSpPr>
          <p:cNvPr id="3" name="Text Placeholder 2">
            <a:extLst>
              <a:ext uri="{FF2B5EF4-FFF2-40B4-BE49-F238E27FC236}">
                <a16:creationId xmlns:a16="http://schemas.microsoft.com/office/drawing/2014/main" id="{D93D81AD-7EFE-5D5F-E272-6A4EF68F10F1}"/>
              </a:ext>
            </a:extLst>
          </p:cNvPr>
          <p:cNvSpPr>
            <a:spLocks noGrp="1"/>
          </p:cNvSpPr>
          <p:nvPr>
            <p:ph type="body" sz="quarter" idx="14"/>
          </p:nvPr>
        </p:nvSpPr>
        <p:spPr>
          <a:xfrm>
            <a:off x="6384756" y="1533672"/>
            <a:ext cx="5566611" cy="5324327"/>
          </a:xfrm>
        </p:spPr>
        <p:txBody>
          <a:bodyPr/>
          <a:lstStyle/>
          <a:p>
            <a:pPr marL="457200" indent="-457200" algn="just">
              <a:buFont typeface="+mj-lt"/>
              <a:buAutoNum type="arabicPeriod" startAt="4"/>
            </a:pPr>
            <a:r>
              <a:rPr lang="en-US" dirty="0"/>
              <a:t>Copy the generated </a:t>
            </a:r>
            <a:r>
              <a:rPr lang="en-US" b="1" dirty="0"/>
              <a:t>embed code or link</a:t>
            </a:r>
            <a:r>
              <a:rPr lang="en-US" dirty="0"/>
              <a:t>.</a:t>
            </a:r>
          </a:p>
          <a:p>
            <a:pPr algn="just">
              <a:buFont typeface="Courier New" panose="02070309020205020404" pitchFamily="49" charset="0"/>
              <a:buChar char="o"/>
            </a:pPr>
            <a:r>
              <a:rPr lang="en-US" dirty="0"/>
              <a:t> In the </a:t>
            </a:r>
            <a:r>
              <a:rPr lang="en-US" b="1" dirty="0"/>
              <a:t>Success</a:t>
            </a:r>
            <a:r>
              <a:rPr lang="en-US" dirty="0"/>
              <a:t> dialog, you see a preview of how the report will look. Select the </a:t>
            </a:r>
            <a:r>
              <a:rPr lang="en-US" b="1" dirty="0"/>
              <a:t>Size</a:t>
            </a:r>
            <a:r>
              <a:rPr lang="en-US" dirty="0"/>
              <a:t> and </a:t>
            </a:r>
            <a:r>
              <a:rPr lang="en-US" b="1" dirty="0"/>
              <a:t>Default page</a:t>
            </a:r>
            <a:r>
              <a:rPr lang="en-US" dirty="0"/>
              <a:t>.</a:t>
            </a:r>
          </a:p>
          <a:p>
            <a:pPr marL="457200" indent="-457200" algn="just">
              <a:buFont typeface="+mj-lt"/>
              <a:buAutoNum type="arabicPeriod" startAt="5"/>
            </a:pPr>
            <a:r>
              <a:rPr lang="en-US" dirty="0"/>
              <a:t>Paste the code into your website, blog, or social media post.</a:t>
            </a:r>
          </a:p>
          <a:p>
            <a:pPr marL="457200" indent="-457200" algn="just">
              <a:buFont typeface="+mj-lt"/>
              <a:buAutoNum type="arabicPeriod" startAt="4"/>
            </a:pPr>
            <a:endParaRPr lang="en-US" dirty="0"/>
          </a:p>
          <a:p>
            <a:pPr algn="just">
              <a:buBlip>
                <a:blip r:embed="rId2"/>
              </a:buBlip>
            </a:pPr>
            <a:r>
              <a:rPr lang="en-US" dirty="0"/>
              <a:t> </a:t>
            </a:r>
            <a:r>
              <a:rPr lang="en-US" b="1" dirty="0">
                <a:solidFill>
                  <a:srgbClr val="036C70"/>
                </a:solidFill>
                <a:latin typeface="A0 Desta Unicode" panose="02000000000000000000" pitchFamily="2" charset="0"/>
              </a:rPr>
              <a:t>You can generate only one embed code for each report</a:t>
            </a:r>
            <a:r>
              <a:rPr lang="en-US" dirty="0">
                <a:solidFill>
                  <a:srgbClr val="036C70"/>
                </a:solidFill>
              </a:rPr>
              <a:t>.</a:t>
            </a:r>
          </a:p>
        </p:txBody>
      </p:sp>
      <p:pic>
        <p:nvPicPr>
          <p:cNvPr id="10" name="Picture 9">
            <a:extLst>
              <a:ext uri="{FF2B5EF4-FFF2-40B4-BE49-F238E27FC236}">
                <a16:creationId xmlns:a16="http://schemas.microsoft.com/office/drawing/2014/main" id="{8E3106F3-0118-26B2-A30D-3A1F0A28FAAF}"/>
              </a:ext>
            </a:extLst>
          </p:cNvPr>
          <p:cNvPicPr>
            <a:picLocks noChangeAspect="1"/>
          </p:cNvPicPr>
          <p:nvPr/>
        </p:nvPicPr>
        <p:blipFill>
          <a:blip r:embed="rId3"/>
          <a:stretch>
            <a:fillRect/>
          </a:stretch>
        </p:blipFill>
        <p:spPr>
          <a:xfrm>
            <a:off x="824580" y="1431966"/>
            <a:ext cx="4982665" cy="2516081"/>
          </a:xfrm>
          <a:prstGeom prst="rect">
            <a:avLst/>
          </a:prstGeom>
        </p:spPr>
      </p:pic>
      <p:pic>
        <p:nvPicPr>
          <p:cNvPr id="12" name="Picture 11">
            <a:extLst>
              <a:ext uri="{FF2B5EF4-FFF2-40B4-BE49-F238E27FC236}">
                <a16:creationId xmlns:a16="http://schemas.microsoft.com/office/drawing/2014/main" id="{C1B72E6E-8A2C-0CC4-3547-0EA2041633D3}"/>
              </a:ext>
            </a:extLst>
          </p:cNvPr>
          <p:cNvPicPr>
            <a:picLocks noChangeAspect="1"/>
          </p:cNvPicPr>
          <p:nvPr/>
        </p:nvPicPr>
        <p:blipFill>
          <a:blip r:embed="rId4"/>
          <a:stretch>
            <a:fillRect/>
          </a:stretch>
        </p:blipFill>
        <p:spPr>
          <a:xfrm>
            <a:off x="824580" y="4034331"/>
            <a:ext cx="4840705" cy="2783406"/>
          </a:xfrm>
          <a:prstGeom prst="rect">
            <a:avLst/>
          </a:prstGeom>
        </p:spPr>
      </p:pic>
    </p:spTree>
    <p:extLst>
      <p:ext uri="{BB962C8B-B14F-4D97-AF65-F5344CB8AC3E}">
        <p14:creationId xmlns:p14="http://schemas.microsoft.com/office/powerpoint/2010/main" val="426717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4CE8B-6CE6-8489-8A2C-CAE11D3A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3AA24-0CF1-65BD-77FA-2BA9BF2BCA9F}"/>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latin typeface="ADLaM Display" panose="02010000000000000000" pitchFamily="2" charset="0"/>
                <a:ea typeface="ADLaM Display" panose="02010000000000000000" pitchFamily="2" charset="0"/>
                <a:cs typeface="ADLaM Display" panose="02010000000000000000" pitchFamily="2" charset="0"/>
              </a:rPr>
              <a:t> Customize the embed code</a:t>
            </a:r>
          </a:p>
        </p:txBody>
      </p:sp>
      <p:graphicFrame>
        <p:nvGraphicFramePr>
          <p:cNvPr id="4" name="Table 3">
            <a:extLst>
              <a:ext uri="{FF2B5EF4-FFF2-40B4-BE49-F238E27FC236}">
                <a16:creationId xmlns:a16="http://schemas.microsoft.com/office/drawing/2014/main" id="{BED296CF-4D28-D73A-AEB1-8A6C0F2F3567}"/>
              </a:ext>
            </a:extLst>
          </p:cNvPr>
          <p:cNvGraphicFramePr>
            <a:graphicFrameLocks noGrp="1"/>
          </p:cNvGraphicFramePr>
          <p:nvPr>
            <p:extLst>
              <p:ext uri="{D42A27DB-BD31-4B8C-83A1-F6EECF244321}">
                <p14:modId xmlns:p14="http://schemas.microsoft.com/office/powerpoint/2010/main" val="3623123081"/>
              </p:ext>
            </p:extLst>
          </p:nvPr>
        </p:nvGraphicFramePr>
        <p:xfrm>
          <a:off x="721895" y="1604458"/>
          <a:ext cx="10684042" cy="4474596"/>
        </p:xfrm>
        <a:graphic>
          <a:graphicData uri="http://schemas.openxmlformats.org/drawingml/2006/table">
            <a:tbl>
              <a:tblPr firstRow="1" bandRow="1">
                <a:tableStyleId>{3B4B98B0-60AC-42C2-AFA5-B58CD77FA1E5}</a:tableStyleId>
              </a:tblPr>
              <a:tblGrid>
                <a:gridCol w="2133600">
                  <a:extLst>
                    <a:ext uri="{9D8B030D-6E8A-4147-A177-3AD203B41FA5}">
                      <a16:colId xmlns:a16="http://schemas.microsoft.com/office/drawing/2014/main" val="2474309570"/>
                    </a:ext>
                  </a:extLst>
                </a:gridCol>
                <a:gridCol w="2181726">
                  <a:extLst>
                    <a:ext uri="{9D8B030D-6E8A-4147-A177-3AD203B41FA5}">
                      <a16:colId xmlns:a16="http://schemas.microsoft.com/office/drawing/2014/main" val="1458637394"/>
                    </a:ext>
                  </a:extLst>
                </a:gridCol>
                <a:gridCol w="6368716">
                  <a:extLst>
                    <a:ext uri="{9D8B030D-6E8A-4147-A177-3AD203B41FA5}">
                      <a16:colId xmlns:a16="http://schemas.microsoft.com/office/drawing/2014/main" val="1474290654"/>
                    </a:ext>
                  </a:extLst>
                </a:gridCol>
              </a:tblGrid>
              <a:tr h="721647">
                <a:tc>
                  <a:txBody>
                    <a:bodyPr/>
                    <a:lstStyle/>
                    <a:p>
                      <a:pPr algn="ctr"/>
                      <a:r>
                        <a:rPr lang="en-US" sz="32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Ratio</a:t>
                      </a:r>
                    </a:p>
                  </a:txBody>
                  <a:tcPr/>
                </a:tc>
                <a:tc>
                  <a:txBody>
                    <a:bodyPr/>
                    <a:lstStyle/>
                    <a:p>
                      <a:pPr algn="ctr"/>
                      <a:r>
                        <a:rPr lang="en-US" sz="32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Size</a:t>
                      </a:r>
                    </a:p>
                  </a:txBody>
                  <a:tcPr/>
                </a:tc>
                <a:tc>
                  <a:txBody>
                    <a:bodyPr/>
                    <a:lstStyle/>
                    <a:p>
                      <a:pPr algn="ctr"/>
                      <a:r>
                        <a:rPr lang="en-US" sz="32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Dimension (width x height)</a:t>
                      </a:r>
                    </a:p>
                  </a:txBody>
                  <a:tcPr/>
                </a:tc>
                <a:extLst>
                  <a:ext uri="{0D108BD9-81ED-4DB2-BD59-A6C34878D82A}">
                    <a16:rowId xmlns:a16="http://schemas.microsoft.com/office/drawing/2014/main" val="1560423561"/>
                  </a:ext>
                </a:extLst>
              </a:tr>
              <a:tr h="591581">
                <a:tc>
                  <a:txBody>
                    <a:bodyPr/>
                    <a:lstStyle/>
                    <a:p>
                      <a:r>
                        <a:rPr lang="en-US" sz="1800" dirty="0"/>
                        <a:t>16:9</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Small</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640 x 416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743554599"/>
                  </a:ext>
                </a:extLst>
              </a:tr>
              <a:tr h="534816">
                <a:tc>
                  <a:txBody>
                    <a:bodyPr/>
                    <a:lstStyle/>
                    <a:p>
                      <a:r>
                        <a:rPr lang="en-US" sz="1800" dirty="0"/>
                        <a:t>16:9</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Medium</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800 x 506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930181476"/>
                  </a:ext>
                </a:extLst>
              </a:tr>
              <a:tr h="711921">
                <a:tc>
                  <a:txBody>
                    <a:bodyPr/>
                    <a:lstStyle/>
                    <a:p>
                      <a:r>
                        <a:rPr lang="en-US" sz="1800" dirty="0"/>
                        <a:t>16:9</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Large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960 x 596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740033526"/>
                  </a:ext>
                </a:extLst>
              </a:tr>
              <a:tr h="645631">
                <a:tc>
                  <a:txBody>
                    <a:bodyPr/>
                    <a:lstStyle/>
                    <a:p>
                      <a:r>
                        <a:rPr lang="en-US" sz="1800" dirty="0"/>
                        <a:t>4:3</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Small</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640 x 536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19815732"/>
                  </a:ext>
                </a:extLst>
              </a:tr>
              <a:tr h="601105">
                <a:tc>
                  <a:txBody>
                    <a:bodyPr/>
                    <a:lstStyle/>
                    <a:p>
                      <a:r>
                        <a:rPr lang="en-US" sz="1800" dirty="0"/>
                        <a:t>4:3</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Medium</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800 x 656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969565339"/>
                  </a:ext>
                </a:extLst>
              </a:tr>
              <a:tr h="667895">
                <a:tc>
                  <a:txBody>
                    <a:bodyPr/>
                    <a:lstStyle/>
                    <a:p>
                      <a:r>
                        <a:rPr lang="en-US" sz="1800" dirty="0"/>
                        <a:t>4:3</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Large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960 x 776 px</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701944778"/>
                  </a:ext>
                </a:extLst>
              </a:tr>
            </a:tbl>
          </a:graphicData>
        </a:graphic>
      </p:graphicFrame>
    </p:spTree>
    <p:extLst>
      <p:ext uri="{BB962C8B-B14F-4D97-AF65-F5344CB8AC3E}">
        <p14:creationId xmlns:p14="http://schemas.microsoft.com/office/powerpoint/2010/main" val="38919574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7E87-596E-03DC-E157-C6DC50FD7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038FE-4885-C088-3785-B5337F0B742D}"/>
              </a:ext>
            </a:extLst>
          </p:cNvPr>
          <p:cNvSpPr>
            <a:spLocks noGrp="1"/>
          </p:cNvSpPr>
          <p:nvPr>
            <p:ph type="title"/>
          </p:nvPr>
        </p:nvSpPr>
        <p:spPr/>
        <p:txBody>
          <a:bodyPr/>
          <a:lstStyle/>
          <a:p>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t>
            </a:r>
            <a:r>
              <a:rPr lang="en-US" dirty="0">
                <a:latin typeface="ADLaM Display" panose="02010000000000000000" pitchFamily="2" charset="0"/>
                <a:ea typeface="ADLaM Display" panose="02010000000000000000" pitchFamily="2" charset="0"/>
                <a:cs typeface="ADLaM Display" panose="02010000000000000000" pitchFamily="2" charset="0"/>
              </a:rPr>
              <a:t> Limitations of Publish to Web</a:t>
            </a:r>
          </a:p>
        </p:txBody>
      </p:sp>
      <p:sp>
        <p:nvSpPr>
          <p:cNvPr id="3" name="Text Placeholder 2">
            <a:extLst>
              <a:ext uri="{FF2B5EF4-FFF2-40B4-BE49-F238E27FC236}">
                <a16:creationId xmlns:a16="http://schemas.microsoft.com/office/drawing/2014/main" id="{3BB1558C-63BA-8CEB-0F5A-AB285ECE0F7E}"/>
              </a:ext>
            </a:extLst>
          </p:cNvPr>
          <p:cNvSpPr>
            <a:spLocks noGrp="1"/>
          </p:cNvSpPr>
          <p:nvPr>
            <p:ph type="body" sz="quarter" idx="14"/>
          </p:nvPr>
        </p:nvSpPr>
        <p:spPr>
          <a:xfrm>
            <a:off x="1156921" y="1331742"/>
            <a:ext cx="10275570" cy="4705350"/>
          </a:xfrm>
        </p:spPr>
        <p:txBody>
          <a:bodyPr>
            <a:normAutofit/>
          </a:bodyPr>
          <a:lstStyle/>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Public Access</a:t>
            </a:r>
            <a:r>
              <a:rPr lang="en-US" sz="2800" dirty="0"/>
              <a:t>: Reports are accessible to anyone with the link.</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No Access Control</a:t>
            </a:r>
            <a:r>
              <a:rPr lang="en-US" sz="2800" dirty="0"/>
              <a:t>: No way to restrict who can view the report once published.</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No Row-Level Security</a:t>
            </a:r>
            <a:r>
              <a:rPr lang="en-US" sz="2800" dirty="0"/>
              <a:t>: Data filtering based on viewer identity is not supported.</a:t>
            </a:r>
          </a:p>
          <a:p>
            <a:pPr algn="just">
              <a:buBlip>
                <a:blip r:embed="rId2"/>
              </a:buBlip>
            </a:pPr>
            <a:r>
              <a:rPr lang="en-US" sz="2800" dirty="0"/>
              <a:t> </a:t>
            </a:r>
            <a:r>
              <a:rPr lang="en-US" sz="2800"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No Suitable for Confidential Data</a:t>
            </a:r>
            <a:r>
              <a:rPr lang="en-US" sz="2800" dirty="0"/>
              <a:t>: Highly discouraged for internal or sensitive content.</a:t>
            </a:r>
          </a:p>
        </p:txBody>
      </p:sp>
    </p:spTree>
    <p:extLst>
      <p:ext uri="{BB962C8B-B14F-4D97-AF65-F5344CB8AC3E}">
        <p14:creationId xmlns:p14="http://schemas.microsoft.com/office/powerpoint/2010/main" val="4195756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FF71C-D914-BD17-736E-3DCDF4886DEC}"/>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Different Share Methods</a:t>
            </a:r>
          </a:p>
        </p:txBody>
      </p:sp>
      <p:graphicFrame>
        <p:nvGraphicFramePr>
          <p:cNvPr id="4" name="Table 3">
            <a:extLst>
              <a:ext uri="{FF2B5EF4-FFF2-40B4-BE49-F238E27FC236}">
                <a16:creationId xmlns:a16="http://schemas.microsoft.com/office/drawing/2014/main" id="{CDDC80A9-B66D-ED9B-2316-EE2C738ECBD8}"/>
              </a:ext>
            </a:extLst>
          </p:cNvPr>
          <p:cNvGraphicFramePr>
            <a:graphicFrameLocks noGrp="1"/>
          </p:cNvGraphicFramePr>
          <p:nvPr>
            <p:extLst>
              <p:ext uri="{D42A27DB-BD31-4B8C-83A1-F6EECF244321}">
                <p14:modId xmlns:p14="http://schemas.microsoft.com/office/powerpoint/2010/main" val="3968851030"/>
              </p:ext>
            </p:extLst>
          </p:nvPr>
        </p:nvGraphicFramePr>
        <p:xfrm>
          <a:off x="668421" y="1537812"/>
          <a:ext cx="11186694" cy="5199870"/>
        </p:xfrm>
        <a:graphic>
          <a:graphicData uri="http://schemas.openxmlformats.org/drawingml/2006/table">
            <a:tbl>
              <a:tblPr firstRow="1" bandRow="1">
                <a:tableStyleId>{3B4B98B0-60AC-42C2-AFA5-B58CD77FA1E5}</a:tableStyleId>
              </a:tblPr>
              <a:tblGrid>
                <a:gridCol w="1864449">
                  <a:extLst>
                    <a:ext uri="{9D8B030D-6E8A-4147-A177-3AD203B41FA5}">
                      <a16:colId xmlns:a16="http://schemas.microsoft.com/office/drawing/2014/main" val="2474309570"/>
                    </a:ext>
                  </a:extLst>
                </a:gridCol>
                <a:gridCol w="1864449">
                  <a:extLst>
                    <a:ext uri="{9D8B030D-6E8A-4147-A177-3AD203B41FA5}">
                      <a16:colId xmlns:a16="http://schemas.microsoft.com/office/drawing/2014/main" val="1458637394"/>
                    </a:ext>
                  </a:extLst>
                </a:gridCol>
                <a:gridCol w="1864449">
                  <a:extLst>
                    <a:ext uri="{9D8B030D-6E8A-4147-A177-3AD203B41FA5}">
                      <a16:colId xmlns:a16="http://schemas.microsoft.com/office/drawing/2014/main" val="1474290654"/>
                    </a:ext>
                  </a:extLst>
                </a:gridCol>
                <a:gridCol w="1864449">
                  <a:extLst>
                    <a:ext uri="{9D8B030D-6E8A-4147-A177-3AD203B41FA5}">
                      <a16:colId xmlns:a16="http://schemas.microsoft.com/office/drawing/2014/main" val="2554788443"/>
                    </a:ext>
                  </a:extLst>
                </a:gridCol>
                <a:gridCol w="1864449">
                  <a:extLst>
                    <a:ext uri="{9D8B030D-6E8A-4147-A177-3AD203B41FA5}">
                      <a16:colId xmlns:a16="http://schemas.microsoft.com/office/drawing/2014/main" val="1392771971"/>
                    </a:ext>
                  </a:extLst>
                </a:gridCol>
                <a:gridCol w="1864449">
                  <a:extLst>
                    <a:ext uri="{9D8B030D-6E8A-4147-A177-3AD203B41FA5}">
                      <a16:colId xmlns:a16="http://schemas.microsoft.com/office/drawing/2014/main" val="3403548874"/>
                    </a:ext>
                  </a:extLst>
                </a:gridCol>
              </a:tblGrid>
              <a:tr h="728510">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Aspect</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Publish to Web</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Share within Organization</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 BI Apps</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Export to PDF/PPT</a:t>
                      </a:r>
                    </a:p>
                  </a:txBody>
                  <a:tcPr/>
                </a:tc>
                <a:tc>
                  <a:txBody>
                    <a:bodyPr/>
                    <a:lstStyle/>
                    <a:p>
                      <a:pPr algn="ct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 BI Embedded</a:t>
                      </a:r>
                    </a:p>
                  </a:txBody>
                  <a:tcPr/>
                </a:tc>
                <a:extLst>
                  <a:ext uri="{0D108BD9-81ED-4DB2-BD59-A6C34878D82A}">
                    <a16:rowId xmlns:a16="http://schemas.microsoft.com/office/drawing/2014/main" val="1560423561"/>
                  </a:ext>
                </a:extLst>
              </a:tr>
              <a:tr h="665161">
                <a:tc>
                  <a:txBody>
                    <a:bodyPr/>
                    <a:lstStyle/>
                    <a:p>
                      <a:r>
                        <a:rPr lang="en-US" sz="1800" dirty="0"/>
                        <a:t>Accessibility</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Public (anyone with the link)</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Private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Private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Public or Private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Private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743554599"/>
                  </a:ext>
                </a:extLst>
              </a:tr>
              <a:tr h="385371">
                <a:tc>
                  <a:txBody>
                    <a:bodyPr/>
                    <a:lstStyle/>
                    <a:p>
                      <a:r>
                        <a:rPr lang="en-US" sz="1800" dirty="0"/>
                        <a:t>Interactivity</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Yes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Yes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Yes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No</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Yes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930181476"/>
                  </a:ext>
                </a:extLst>
              </a:tr>
              <a:tr h="1235299">
                <a:tc>
                  <a:txBody>
                    <a:bodyPr/>
                    <a:lstStyle/>
                    <a:p>
                      <a:r>
                        <a:rPr lang="en-US" sz="1800" dirty="0"/>
                        <a:t>Best for</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Public sharing, broad audience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Internal collaboration, specific user groups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Organized sharing in teams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Static sharing, presentations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Custom applications, advanced embedding</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740033526"/>
                  </a:ext>
                </a:extLst>
              </a:tr>
              <a:tr h="1235299">
                <a:tc>
                  <a:txBody>
                    <a:bodyPr/>
                    <a:lstStyle/>
                    <a:p>
                      <a:r>
                        <a:rPr lang="en-US" sz="1800" dirty="0"/>
                        <a:t>Security</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No access control, public</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Access control within organization</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Access control within organization</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No access control once shared</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Access control through custom application</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19815732"/>
                  </a:ext>
                </a:extLst>
              </a:tr>
              <a:tr h="950230">
                <a:tc>
                  <a:txBody>
                    <a:bodyPr/>
                    <a:lstStyle/>
                    <a:p>
                      <a:r>
                        <a:rPr lang="en-US" sz="1800" dirty="0"/>
                        <a:t>Setup Complexity</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Low</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Low to Moderate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Moderate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Low</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High (requires development skills)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969565339"/>
                  </a:ext>
                </a:extLst>
              </a:tr>
            </a:tbl>
          </a:graphicData>
        </a:graphic>
      </p:graphicFrame>
    </p:spTree>
    <p:extLst>
      <p:ext uri="{BB962C8B-B14F-4D97-AF65-F5344CB8AC3E}">
        <p14:creationId xmlns:p14="http://schemas.microsoft.com/office/powerpoint/2010/main" val="2677382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F3DBC-914F-8E2D-D2CF-935BE0F30ED2}"/>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Which one?</a:t>
            </a:r>
          </a:p>
        </p:txBody>
      </p:sp>
      <p:graphicFrame>
        <p:nvGraphicFramePr>
          <p:cNvPr id="4" name="Table 3">
            <a:extLst>
              <a:ext uri="{FF2B5EF4-FFF2-40B4-BE49-F238E27FC236}">
                <a16:creationId xmlns:a16="http://schemas.microsoft.com/office/drawing/2014/main" id="{964C5FEA-B54A-9674-41D5-4BC823FCF702}"/>
              </a:ext>
            </a:extLst>
          </p:cNvPr>
          <p:cNvGraphicFramePr>
            <a:graphicFrameLocks noGrp="1"/>
          </p:cNvGraphicFramePr>
          <p:nvPr>
            <p:extLst>
              <p:ext uri="{D42A27DB-BD31-4B8C-83A1-F6EECF244321}">
                <p14:modId xmlns:p14="http://schemas.microsoft.com/office/powerpoint/2010/main" val="228412822"/>
              </p:ext>
            </p:extLst>
          </p:nvPr>
        </p:nvGraphicFramePr>
        <p:xfrm>
          <a:off x="668421" y="1537813"/>
          <a:ext cx="10946064" cy="5174724"/>
        </p:xfrm>
        <a:graphic>
          <a:graphicData uri="http://schemas.openxmlformats.org/drawingml/2006/table">
            <a:tbl>
              <a:tblPr firstRow="1" bandRow="1">
                <a:tableStyleId>{3B4B98B0-60AC-42C2-AFA5-B58CD77FA1E5}</a:tableStyleId>
              </a:tblPr>
              <a:tblGrid>
                <a:gridCol w="3648688">
                  <a:extLst>
                    <a:ext uri="{9D8B030D-6E8A-4147-A177-3AD203B41FA5}">
                      <a16:colId xmlns:a16="http://schemas.microsoft.com/office/drawing/2014/main" val="2474309570"/>
                    </a:ext>
                  </a:extLst>
                </a:gridCol>
                <a:gridCol w="3648688">
                  <a:extLst>
                    <a:ext uri="{9D8B030D-6E8A-4147-A177-3AD203B41FA5}">
                      <a16:colId xmlns:a16="http://schemas.microsoft.com/office/drawing/2014/main" val="1458637394"/>
                    </a:ext>
                  </a:extLst>
                </a:gridCol>
                <a:gridCol w="3648688">
                  <a:extLst>
                    <a:ext uri="{9D8B030D-6E8A-4147-A177-3AD203B41FA5}">
                      <a16:colId xmlns:a16="http://schemas.microsoft.com/office/drawing/2014/main" val="1474290654"/>
                    </a:ext>
                  </a:extLst>
                </a:gridCol>
              </a:tblGrid>
              <a:tr h="683779">
                <a:tc>
                  <a:txBody>
                    <a:bodyPr/>
                    <a:lstStyle/>
                    <a:p>
                      <a:pPr algn="ctr">
                        <a:lnSpc>
                          <a:spcPct val="150000"/>
                        </a:lnSpc>
                      </a:pP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Scenario</a:t>
                      </a:r>
                    </a:p>
                  </a:txBody>
                  <a:tcPr/>
                </a:tc>
                <a:tc>
                  <a:txBody>
                    <a:bodyPr/>
                    <a:lstStyle/>
                    <a:p>
                      <a:pPr algn="ctr">
                        <a:lnSpc>
                          <a:spcPct val="150000"/>
                        </a:lnSpc>
                      </a:pP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Best Method</a:t>
                      </a:r>
                    </a:p>
                  </a:txBody>
                  <a:tcPr/>
                </a:tc>
                <a:tc>
                  <a:txBody>
                    <a:bodyPr/>
                    <a:lstStyle/>
                    <a:p>
                      <a:pPr algn="ctr">
                        <a:lnSpc>
                          <a:spcPct val="150000"/>
                        </a:lnSpc>
                      </a:pPr>
                      <a:r>
                        <a:rPr lang="en-US" sz="20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Why it Works?</a:t>
                      </a:r>
                    </a:p>
                  </a:txBody>
                  <a:tcPr/>
                </a:tc>
                <a:extLst>
                  <a:ext uri="{0D108BD9-81ED-4DB2-BD59-A6C34878D82A}">
                    <a16:rowId xmlns:a16="http://schemas.microsoft.com/office/drawing/2014/main" val="1560423561"/>
                  </a:ext>
                </a:extLst>
              </a:tr>
              <a:tr h="624319">
                <a:tc>
                  <a:txBody>
                    <a:bodyPr/>
                    <a:lstStyle/>
                    <a:p>
                      <a:r>
                        <a:rPr lang="en-US" sz="1800" dirty="0"/>
                        <a:t>Interactive dashboards for clients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Embed Reports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Secure, customizable, license-efficient</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743554599"/>
                  </a:ext>
                </a:extLst>
              </a:tr>
              <a:tr h="600778">
                <a:tc>
                  <a:txBody>
                    <a:bodyPr/>
                    <a:lstStyle/>
                    <a:p>
                      <a:r>
                        <a:rPr lang="en-US" sz="1800" dirty="0"/>
                        <a:t>Executive summaries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Export/mail</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Simple, repeatable, no training needed</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930181476"/>
                  </a:ext>
                </a:extLst>
              </a:tr>
              <a:tr h="1159450">
                <a:tc>
                  <a:txBody>
                    <a:bodyPr/>
                    <a:lstStyle/>
                    <a:p>
                      <a:r>
                        <a:rPr lang="en-US" sz="1800" dirty="0"/>
                        <a:t>Internal hub with resources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Link via URL</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Centralizes all data-related tools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740033526"/>
                  </a:ext>
                </a:extLst>
              </a:tr>
              <a:tr h="1159450">
                <a:tc>
                  <a:txBody>
                    <a:bodyPr/>
                    <a:lstStyle/>
                    <a:p>
                      <a:r>
                        <a:rPr lang="en-US" sz="1800" dirty="0"/>
                        <a:t>Publicly available data</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Publish to Web</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Easy to share, but low control</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19815732"/>
                  </a:ext>
                </a:extLst>
              </a:tr>
              <a:tr h="891885">
                <a:tc>
                  <a:txBody>
                    <a:bodyPr/>
                    <a:lstStyle/>
                    <a:p>
                      <a:r>
                        <a:rPr lang="en-US" sz="1800" dirty="0"/>
                        <a:t>Cross-department  analytics at scale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Embed Reports</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1800" dirty="0"/>
                        <a:t>Consistent UX with centralized governance</a:t>
                      </a:r>
                      <a:endParaRPr lang="en-US" sz="18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969565339"/>
                  </a:ext>
                </a:extLst>
              </a:tr>
            </a:tbl>
          </a:graphicData>
        </a:graphic>
      </p:graphicFrame>
    </p:spTree>
    <p:extLst>
      <p:ext uri="{BB962C8B-B14F-4D97-AF65-F5344CB8AC3E}">
        <p14:creationId xmlns:p14="http://schemas.microsoft.com/office/powerpoint/2010/main" val="2869060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EC1F-7A50-A28E-D19B-B31110025570}"/>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Manage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Permissions</a:t>
            </a:r>
          </a:p>
        </p:txBody>
      </p:sp>
      <p:sp>
        <p:nvSpPr>
          <p:cNvPr id="3" name="Text Placeholder 2">
            <a:extLst>
              <a:ext uri="{FF2B5EF4-FFF2-40B4-BE49-F238E27FC236}">
                <a16:creationId xmlns:a16="http://schemas.microsoft.com/office/drawing/2014/main" id="{4BD63924-D258-3420-763C-3FACF5B0075D}"/>
              </a:ext>
            </a:extLst>
          </p:cNvPr>
          <p:cNvSpPr>
            <a:spLocks noGrp="1"/>
          </p:cNvSpPr>
          <p:nvPr>
            <p:ph type="body" sz="quarter" idx="14"/>
          </p:nvPr>
        </p:nvSpPr>
        <p:spPr>
          <a:xfrm>
            <a:off x="5662862" y="1331742"/>
            <a:ext cx="6304548" cy="5526258"/>
          </a:xfrm>
        </p:spPr>
        <p:txBody>
          <a:bodyPr>
            <a:normAutofit lnSpcReduction="10000"/>
          </a:bodyPr>
          <a:lstStyle/>
          <a:p>
            <a:pPr marL="457200" indent="-457200" algn="just">
              <a:buFont typeface="+mj-lt"/>
              <a:buAutoNum type="arabicPeriod"/>
            </a:pPr>
            <a:r>
              <a:rPr lang="en-US" sz="2600" dirty="0"/>
              <a:t>Select </a:t>
            </a:r>
            <a:r>
              <a:rPr lang="en-US" sz="2600" b="1" dirty="0"/>
              <a:t>More options (…) </a:t>
            </a:r>
            <a:r>
              <a:rPr lang="en-US" sz="2600" dirty="0"/>
              <a:t>in the sharing dialog, and then </a:t>
            </a:r>
            <a:r>
              <a:rPr lang="en-US" sz="2600" b="1" dirty="0"/>
              <a:t>select Manage permissions</a:t>
            </a:r>
            <a:r>
              <a:rPr lang="en-US" sz="2600" dirty="0"/>
              <a:t>.</a:t>
            </a:r>
          </a:p>
          <a:p>
            <a:pPr marL="457200" indent="-457200" algn="just">
              <a:buFont typeface="+mj-lt"/>
              <a:buAutoNum type="arabicPeriod"/>
            </a:pPr>
            <a:r>
              <a:rPr lang="en-US" sz="2600" dirty="0"/>
              <a:t>In the </a:t>
            </a:r>
            <a:r>
              <a:rPr lang="en-US" sz="2600" b="1" dirty="0"/>
              <a:t>Manage permissions </a:t>
            </a:r>
            <a:r>
              <a:rPr lang="en-US" sz="2600" dirty="0"/>
              <a:t>pane, you can</a:t>
            </a:r>
          </a:p>
          <a:p>
            <a:pPr algn="just">
              <a:buFont typeface="Wingdings" panose="05000000000000000000" pitchFamily="2" charset="2"/>
              <a:buChar char="Ø"/>
            </a:pPr>
            <a:r>
              <a:rPr lang="en-US" sz="2600" dirty="0"/>
              <a:t> Copy or change existing links</a:t>
            </a:r>
          </a:p>
          <a:p>
            <a:pPr algn="just">
              <a:buFont typeface="Wingdings" panose="05000000000000000000" pitchFamily="2" charset="2"/>
              <a:buChar char="Ø"/>
            </a:pPr>
            <a:r>
              <a:rPr lang="en-US" sz="2600" dirty="0"/>
              <a:t> Grant or remove direct access</a:t>
            </a:r>
          </a:p>
          <a:p>
            <a:pPr algn="just">
              <a:buFont typeface="Wingdings" panose="05000000000000000000" pitchFamily="2" charset="2"/>
              <a:buChar char="Ø"/>
            </a:pPr>
            <a:r>
              <a:rPr lang="en-US" sz="2600" dirty="0"/>
              <a:t> View pending requests and related content</a:t>
            </a:r>
          </a:p>
          <a:p>
            <a:pPr algn="just">
              <a:buFont typeface="Wingdings" panose="05000000000000000000" pitchFamily="2" charset="2"/>
              <a:buChar char="Ø"/>
            </a:pPr>
            <a:r>
              <a:rPr lang="en-US" sz="2600" dirty="0"/>
              <a:t> Use </a:t>
            </a:r>
            <a:r>
              <a:rPr lang="en-US" sz="2600" b="1" dirty="0"/>
              <a:t>Advanced</a:t>
            </a:r>
            <a:r>
              <a:rPr lang="en-US" sz="2600" dirty="0"/>
              <a:t> for more options</a:t>
            </a:r>
          </a:p>
          <a:p>
            <a:pPr algn="just">
              <a:buBlip>
                <a:blip r:embed="rId2"/>
              </a:buBlip>
            </a:pPr>
            <a:r>
              <a:rPr lang="en-US" sz="2600" b="1" dirty="0">
                <a:solidFill>
                  <a:srgbClr val="FFC000"/>
                </a:solidFill>
                <a:latin typeface="A0 Desta Unicode" panose="02000000000000000000" pitchFamily="2" charset="0"/>
              </a:rPr>
              <a:t>  </a:t>
            </a:r>
            <a:r>
              <a:rPr lang="en-US" sz="2600" b="1" dirty="0">
                <a:solidFill>
                  <a:srgbClr val="036C70"/>
                </a:solidFill>
                <a:latin typeface="A0 Desta Unicode" panose="02000000000000000000" pitchFamily="2" charset="0"/>
              </a:rPr>
              <a:t>Each report </a:t>
            </a:r>
            <a:r>
              <a:rPr lang="en-US" sz="2600" b="1" dirty="0">
                <a:solidFill>
                  <a:srgbClr val="FF0000"/>
                </a:solidFill>
                <a:latin typeface="A0 Desta Unicode" panose="02000000000000000000" pitchFamily="2" charset="0"/>
              </a:rPr>
              <a:t>can’t</a:t>
            </a:r>
            <a:r>
              <a:rPr lang="en-US" sz="2600" b="1" dirty="0">
                <a:solidFill>
                  <a:srgbClr val="036C70"/>
                </a:solidFill>
                <a:latin typeface="A0 Desta Unicode" panose="02000000000000000000" pitchFamily="2" charset="0"/>
              </a:rPr>
              <a:t> have more than 1,000 sharing links. If you reach this limit, remove links for “Specific people” and grant those user's direct access.</a:t>
            </a:r>
          </a:p>
        </p:txBody>
      </p:sp>
      <p:pic>
        <p:nvPicPr>
          <p:cNvPr id="4" name="Picture 3" descr="Screenshot of the Manage permissions pane in Power BI showing options to copy links, grant direct access, and view pending requests.">
            <a:extLst>
              <a:ext uri="{FF2B5EF4-FFF2-40B4-BE49-F238E27FC236}">
                <a16:creationId xmlns:a16="http://schemas.microsoft.com/office/drawing/2014/main" id="{594CD40D-749D-0BA5-EA8B-EE4013F6DEE2}"/>
              </a:ext>
            </a:extLst>
          </p:cNvPr>
          <p:cNvPicPr>
            <a:picLocks noChangeAspect="1"/>
          </p:cNvPicPr>
          <p:nvPr/>
        </p:nvPicPr>
        <p:blipFill>
          <a:blip r:embed="rId3"/>
          <a:stretch>
            <a:fillRect/>
          </a:stretch>
        </p:blipFill>
        <p:spPr>
          <a:xfrm>
            <a:off x="181265" y="2197768"/>
            <a:ext cx="5481597" cy="3056516"/>
          </a:xfrm>
          <a:prstGeom prst="rect">
            <a:avLst/>
          </a:prstGeom>
        </p:spPr>
      </p:pic>
    </p:spTree>
    <p:extLst>
      <p:ext uri="{BB962C8B-B14F-4D97-AF65-F5344CB8AC3E}">
        <p14:creationId xmlns:p14="http://schemas.microsoft.com/office/powerpoint/2010/main" val="14040841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264F-126F-79A1-7111-0A4E621E9D81}"/>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Dashboard &amp; Reports</a:t>
            </a:r>
          </a:p>
        </p:txBody>
      </p:sp>
      <p:sp>
        <p:nvSpPr>
          <p:cNvPr id="3" name="Text Placeholder 2">
            <a:extLst>
              <a:ext uri="{FF2B5EF4-FFF2-40B4-BE49-F238E27FC236}">
                <a16:creationId xmlns:a16="http://schemas.microsoft.com/office/drawing/2014/main" id="{DD62855C-8554-7EF3-DDD3-EFD5FE28CFF3}"/>
              </a:ext>
            </a:extLst>
          </p:cNvPr>
          <p:cNvSpPr>
            <a:spLocks noGrp="1"/>
          </p:cNvSpPr>
          <p:nvPr>
            <p:ph type="body" sz="quarter" idx="14"/>
          </p:nvPr>
        </p:nvSpPr>
        <p:spPr>
          <a:xfrm>
            <a:off x="547319" y="1524247"/>
            <a:ext cx="5933691" cy="3176090"/>
          </a:xfrm>
        </p:spPr>
        <p:txBody>
          <a:bodyPr/>
          <a:lstStyle/>
          <a:p>
            <a:pPr algn="just"/>
            <a:r>
              <a:rPr lang="en-US" dirty="0"/>
              <a:t> A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 BI dashboard </a:t>
            </a:r>
            <a:r>
              <a:rPr lang="en-US" dirty="0"/>
              <a:t>is a single page view that brings together selected visuals from one or more reports. It is useful for combining information from different reports or subject areas into one place, making it easy to monitor key metrics at a glance.</a:t>
            </a:r>
          </a:p>
          <a:p>
            <a:pPr marL="0" indent="0" algn="just">
              <a:buNone/>
            </a:pPr>
            <a:endParaRPr lang="en-US" dirty="0"/>
          </a:p>
        </p:txBody>
      </p:sp>
      <p:sp>
        <p:nvSpPr>
          <p:cNvPr id="4" name="Text Placeholder 2">
            <a:extLst>
              <a:ext uri="{FF2B5EF4-FFF2-40B4-BE49-F238E27FC236}">
                <a16:creationId xmlns:a16="http://schemas.microsoft.com/office/drawing/2014/main" id="{F9D22BE2-7B5C-9D72-CF03-DAA6EAC6898A}"/>
              </a:ext>
            </a:extLst>
          </p:cNvPr>
          <p:cNvSpPr txBox="1">
            <a:spLocks/>
          </p:cNvSpPr>
          <p:nvPr/>
        </p:nvSpPr>
        <p:spPr>
          <a:xfrm>
            <a:off x="6866024" y="1524247"/>
            <a:ext cx="4778658" cy="3176090"/>
          </a:xfrm>
          <a:prstGeom prst="rect">
            <a:avLst/>
          </a:prstGeom>
        </p:spPr>
        <p:txBody>
          <a:bodyPr>
            <a:normAutofit/>
          </a:bodyPr>
          <a:lstStyle>
            <a:lvl1pPr marL="200025" indent="-200025" algn="l" defTabSz="685800" rtl="0" eaLnBrk="1" latinLnBrk="0" hangingPunct="1">
              <a:lnSpc>
                <a:spcPct val="100000"/>
              </a:lnSpc>
              <a:spcBef>
                <a:spcPts val="0"/>
              </a:spcBef>
              <a:spcAft>
                <a:spcPts val="600"/>
              </a:spcAft>
              <a:buClr>
                <a:schemeClr val="accent1"/>
              </a:buClr>
              <a:buSzPct val="100000"/>
              <a:buFont typeface="Wingdings" panose="05000000000000000000" pitchFamily="2" charset="2"/>
              <a:buChar char="§"/>
              <a:defRPr sz="2400" kern="1200">
                <a:solidFill>
                  <a:srgbClr val="002060"/>
                </a:solidFill>
                <a:latin typeface="+mn-lt"/>
                <a:ea typeface="+mn-ea"/>
                <a:cs typeface="+mn-cs"/>
              </a:defRPr>
            </a:lvl1pPr>
            <a:lvl2pPr marL="28829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100000"/>
              </a:lnSpc>
              <a:spcBef>
                <a:spcPts val="150"/>
              </a:spcBef>
              <a:spcAft>
                <a:spcPts val="300"/>
              </a:spcAft>
              <a:buClr>
                <a:schemeClr val="accent1"/>
              </a:buClr>
              <a:buFont typeface="Wingdings" panose="05000000000000000000" pitchFamily="2" charset="2"/>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a:lstStyle>
          <a:p>
            <a:pPr algn="just"/>
            <a:r>
              <a:rPr lang="en-US" dirty="0"/>
              <a:t> A </a:t>
            </a:r>
            <a:r>
              <a:rPr lang="en-US" b="1"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Power BI report </a:t>
            </a:r>
            <a:r>
              <a:rPr lang="en-US" dirty="0"/>
              <a:t>is an interactive document that can contain or multiple pages and may use one or several data sources. Reports are designed for detailed analysis.</a:t>
            </a:r>
          </a:p>
          <a:p>
            <a:pPr marL="0" indent="0" algn="just">
              <a:buFont typeface="Wingdings" panose="05000000000000000000" pitchFamily="2" charset="2"/>
              <a:buNone/>
            </a:pPr>
            <a:endParaRPr lang="en-US" dirty="0"/>
          </a:p>
        </p:txBody>
      </p:sp>
      <p:pic>
        <p:nvPicPr>
          <p:cNvPr id="5" name="Picture 4" descr="Power BI report showing used car sales data with geospatial distribution, sales by vehicle type and fuel type, and sales trends by registration year and month">
            <a:extLst>
              <a:ext uri="{FF2B5EF4-FFF2-40B4-BE49-F238E27FC236}">
                <a16:creationId xmlns:a16="http://schemas.microsoft.com/office/drawing/2014/main" id="{ECC8BA15-BFE8-D323-EB3C-653AD249B235}"/>
              </a:ext>
            </a:extLst>
          </p:cNvPr>
          <p:cNvPicPr>
            <a:picLocks noChangeAspect="1"/>
          </p:cNvPicPr>
          <p:nvPr/>
        </p:nvPicPr>
        <p:blipFill>
          <a:blip r:embed="rId2"/>
          <a:stretch>
            <a:fillRect/>
          </a:stretch>
        </p:blipFill>
        <p:spPr>
          <a:xfrm>
            <a:off x="7036245" y="4017190"/>
            <a:ext cx="4778658" cy="2687995"/>
          </a:xfrm>
          <a:prstGeom prst="rect">
            <a:avLst/>
          </a:prstGeom>
        </p:spPr>
      </p:pic>
      <p:pic>
        <p:nvPicPr>
          <p:cNvPr id="6" name="Picture 5" descr="Power BI dashboard example for human resources">
            <a:extLst>
              <a:ext uri="{FF2B5EF4-FFF2-40B4-BE49-F238E27FC236}">
                <a16:creationId xmlns:a16="http://schemas.microsoft.com/office/drawing/2014/main" id="{31F7DB88-A51B-A84D-6581-660699DB2B2F}"/>
              </a:ext>
            </a:extLst>
          </p:cNvPr>
          <p:cNvPicPr>
            <a:picLocks noChangeAspect="1"/>
          </p:cNvPicPr>
          <p:nvPr/>
        </p:nvPicPr>
        <p:blipFill>
          <a:blip r:embed="rId3"/>
          <a:stretch>
            <a:fillRect/>
          </a:stretch>
        </p:blipFill>
        <p:spPr>
          <a:xfrm>
            <a:off x="1828798" y="4017190"/>
            <a:ext cx="4267202" cy="2689964"/>
          </a:xfrm>
          <a:prstGeom prst="rect">
            <a:avLst/>
          </a:prstGeom>
        </p:spPr>
      </p:pic>
    </p:spTree>
    <p:extLst>
      <p:ext uri="{BB962C8B-B14F-4D97-AF65-F5344CB8AC3E}">
        <p14:creationId xmlns:p14="http://schemas.microsoft.com/office/powerpoint/2010/main" val="17517816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EDC4F-42E5-4A5E-8600-D5F365F06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A8CBA-1DAF-2169-ABE7-61A8BBB7B387}"/>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Dashboard </a:t>
            </a:r>
            <a:r>
              <a:rPr lang="en-US"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Vs</a:t>
            </a:r>
            <a:r>
              <a:rPr lang="en-US" dirty="0">
                <a:latin typeface="ADLaM Display" panose="02010000000000000000" pitchFamily="2" charset="0"/>
                <a:ea typeface="ADLaM Display" panose="02010000000000000000" pitchFamily="2" charset="0"/>
                <a:cs typeface="ADLaM Display" panose="02010000000000000000" pitchFamily="2" charset="0"/>
              </a:rPr>
              <a:t> Reports</a:t>
            </a:r>
          </a:p>
        </p:txBody>
      </p:sp>
      <p:graphicFrame>
        <p:nvGraphicFramePr>
          <p:cNvPr id="9" name="Table 8">
            <a:extLst>
              <a:ext uri="{FF2B5EF4-FFF2-40B4-BE49-F238E27FC236}">
                <a16:creationId xmlns:a16="http://schemas.microsoft.com/office/drawing/2014/main" id="{A04A38B9-99DB-7FA6-6013-10B4220DBE61}"/>
              </a:ext>
            </a:extLst>
          </p:cNvPr>
          <p:cNvGraphicFramePr>
            <a:graphicFrameLocks noGrp="1"/>
          </p:cNvGraphicFramePr>
          <p:nvPr>
            <p:extLst>
              <p:ext uri="{D42A27DB-BD31-4B8C-83A1-F6EECF244321}">
                <p14:modId xmlns:p14="http://schemas.microsoft.com/office/powerpoint/2010/main" val="2079748"/>
              </p:ext>
            </p:extLst>
          </p:nvPr>
        </p:nvGraphicFramePr>
        <p:xfrm>
          <a:off x="668421" y="1514090"/>
          <a:ext cx="10079790" cy="3491047"/>
        </p:xfrm>
        <a:graphic>
          <a:graphicData uri="http://schemas.openxmlformats.org/drawingml/2006/table">
            <a:tbl>
              <a:tblPr firstRow="1" bandRow="1">
                <a:tableStyleId>{3B4B98B0-60AC-42C2-AFA5-B58CD77FA1E5}</a:tableStyleId>
              </a:tblPr>
              <a:tblGrid>
                <a:gridCol w="5039895">
                  <a:extLst>
                    <a:ext uri="{9D8B030D-6E8A-4147-A177-3AD203B41FA5}">
                      <a16:colId xmlns:a16="http://schemas.microsoft.com/office/drawing/2014/main" val="2474309570"/>
                    </a:ext>
                  </a:extLst>
                </a:gridCol>
                <a:gridCol w="5039895">
                  <a:extLst>
                    <a:ext uri="{9D8B030D-6E8A-4147-A177-3AD203B41FA5}">
                      <a16:colId xmlns:a16="http://schemas.microsoft.com/office/drawing/2014/main" val="1458637394"/>
                    </a:ext>
                  </a:extLst>
                </a:gridCol>
              </a:tblGrid>
              <a:tr h="683779">
                <a:tc>
                  <a:txBody>
                    <a:bodyPr/>
                    <a:lstStyle/>
                    <a:p>
                      <a:pPr algn="ctr">
                        <a:lnSpc>
                          <a:spcPct val="150000"/>
                        </a:lnSpc>
                      </a:pP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Dashboard</a:t>
                      </a:r>
                    </a:p>
                  </a:txBody>
                  <a:tcPr/>
                </a:tc>
                <a:tc>
                  <a:txBody>
                    <a:bodyPr/>
                    <a:lstStyle/>
                    <a:p>
                      <a:pPr algn="ctr">
                        <a:lnSpc>
                          <a:spcPct val="150000"/>
                        </a:lnSpc>
                      </a:pPr>
                      <a:r>
                        <a:rPr lang="en-US" sz="2400" dirty="0">
                          <a:solidFill>
                            <a:srgbClr val="036C70"/>
                          </a:solidFill>
                          <a:latin typeface="ADLaM Display" panose="02010000000000000000" pitchFamily="2" charset="0"/>
                          <a:ea typeface="ADLaM Display" panose="02010000000000000000" pitchFamily="2" charset="0"/>
                          <a:cs typeface="ADLaM Display" panose="02010000000000000000" pitchFamily="2" charset="0"/>
                        </a:rPr>
                        <a:t>Report</a:t>
                      </a:r>
                    </a:p>
                  </a:txBody>
                  <a:tcPr/>
                </a:tc>
                <a:extLst>
                  <a:ext uri="{0D108BD9-81ED-4DB2-BD59-A6C34878D82A}">
                    <a16:rowId xmlns:a16="http://schemas.microsoft.com/office/drawing/2014/main" val="1560423561"/>
                  </a:ext>
                </a:extLst>
              </a:tr>
              <a:tr h="624319">
                <a:tc>
                  <a:txBody>
                    <a:bodyPr/>
                    <a:lstStyle/>
                    <a:p>
                      <a:r>
                        <a:rPr lang="en-US" sz="2000" dirty="0"/>
                        <a:t>Visual and interactive</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000" dirty="0"/>
                        <a:t>Detailed and structured</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743554599"/>
                  </a:ext>
                </a:extLst>
              </a:tr>
              <a:tr h="600778">
                <a:tc>
                  <a:txBody>
                    <a:bodyPr/>
                    <a:lstStyle/>
                    <a:p>
                      <a:r>
                        <a:rPr lang="en-US" sz="2000" dirty="0"/>
                        <a:t>Real-time or live data</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000" dirty="0"/>
                        <a:t>Historical data</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930181476"/>
                  </a:ext>
                </a:extLst>
              </a:tr>
              <a:tr h="499669">
                <a:tc>
                  <a:txBody>
                    <a:bodyPr/>
                    <a:lstStyle/>
                    <a:p>
                      <a:r>
                        <a:rPr lang="en-US" sz="2000" dirty="0"/>
                        <a:t>Quick overview</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000" dirty="0"/>
                        <a:t>In-depth analysis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2740033526"/>
                  </a:ext>
                </a:extLst>
              </a:tr>
              <a:tr h="529389">
                <a:tc>
                  <a:txBody>
                    <a:bodyPr/>
                    <a:lstStyle/>
                    <a:p>
                      <a:r>
                        <a:rPr lang="en-US" sz="2000" dirty="0"/>
                        <a:t>Charts and KPIs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000" dirty="0"/>
                        <a:t>Tables and text</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1619815732"/>
                  </a:ext>
                </a:extLst>
              </a:tr>
              <a:tr h="553113">
                <a:tc>
                  <a:txBody>
                    <a:bodyPr/>
                    <a:lstStyle/>
                    <a:p>
                      <a:r>
                        <a:rPr lang="en-US" sz="2000" dirty="0"/>
                        <a:t>Used by managers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tc>
                  <a:txBody>
                    <a:bodyPr/>
                    <a:lstStyle/>
                    <a:p>
                      <a:r>
                        <a:rPr lang="en-US" sz="2000" dirty="0"/>
                        <a:t>Used by analysts/admins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a:txBody>
                  <a:tcPr>
                    <a:solidFill>
                      <a:schemeClr val="bg1"/>
                    </a:solidFill>
                  </a:tcPr>
                </a:tc>
                <a:extLst>
                  <a:ext uri="{0D108BD9-81ED-4DB2-BD59-A6C34878D82A}">
                    <a16:rowId xmlns:a16="http://schemas.microsoft.com/office/drawing/2014/main" val="969565339"/>
                  </a:ext>
                </a:extLst>
              </a:tr>
            </a:tbl>
          </a:graphicData>
        </a:graphic>
      </p:graphicFrame>
    </p:spTree>
    <p:extLst>
      <p:ext uri="{BB962C8B-B14F-4D97-AF65-F5344CB8AC3E}">
        <p14:creationId xmlns:p14="http://schemas.microsoft.com/office/powerpoint/2010/main" val="202869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6692</TotalTime>
  <Words>4333</Words>
  <Application>Microsoft Office PowerPoint</Application>
  <PresentationFormat>Widescreen</PresentationFormat>
  <Paragraphs>562</Paragraphs>
  <Slides>52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A0 Desta Unicode</vt:lpstr>
      <vt:lpstr>ADLaM Display</vt:lpstr>
      <vt:lpstr>Calibri</vt:lpstr>
      <vt:lpstr>Courier New</vt:lpstr>
      <vt:lpstr>Wingdings</vt:lpstr>
      <vt:lpstr>YESHUAH</vt:lpstr>
      <vt:lpstr>RetrospectVTI</vt:lpstr>
      <vt:lpstr>Power BI - Part II</vt:lpstr>
      <vt:lpstr>PowerPoint Presentation</vt:lpstr>
      <vt:lpstr>DAX – Data Analysis Expressions</vt:lpstr>
      <vt:lpstr>DAX Formula</vt:lpstr>
      <vt:lpstr>…</vt:lpstr>
      <vt:lpstr>Row Context &amp; Filter Context</vt:lpstr>
      <vt:lpstr>Row Context &amp; Filter Context</vt:lpstr>
      <vt:lpstr>Row Context Vs. Filter Context</vt:lpstr>
      <vt:lpstr>Calculated Columns</vt:lpstr>
      <vt:lpstr>Measure</vt:lpstr>
      <vt:lpstr>… Context</vt:lpstr>
      <vt:lpstr>… Storage</vt:lpstr>
      <vt:lpstr>Calculated Columns Vs. Measure</vt:lpstr>
      <vt:lpstr>COUNT functions in Power BI</vt:lpstr>
      <vt:lpstr>DATETIME functions in Power BI</vt:lpstr>
      <vt:lpstr>AGGREGATE functions in Power BI</vt:lpstr>
      <vt:lpstr>Logical functions in Power BI</vt:lpstr>
      <vt:lpstr>MATH functions in Power BI</vt:lpstr>
      <vt:lpstr>…</vt:lpstr>
      <vt:lpstr>TEXT functions in Power BI</vt:lpstr>
      <vt:lpstr>…</vt:lpstr>
      <vt:lpstr>Statistical functions in Power BI</vt:lpstr>
      <vt:lpstr>Filtering functions in Power BI</vt:lpstr>
      <vt:lpstr>Operators in DAX</vt:lpstr>
      <vt:lpstr>…</vt:lpstr>
      <vt:lpstr>…</vt:lpstr>
      <vt:lpstr>Conditional Statements</vt:lpstr>
      <vt:lpstr>…</vt:lpstr>
      <vt:lpstr>…</vt:lpstr>
      <vt:lpstr>Variables in DAX</vt:lpstr>
      <vt:lpstr>… Features of a variable</vt:lpstr>
      <vt:lpstr>Comments in DAX</vt:lpstr>
      <vt:lpstr>Publishing Power BI Reports</vt:lpstr>
      <vt:lpstr>… Steps</vt:lpstr>
      <vt:lpstr>Sharing Methods</vt:lpstr>
      <vt:lpstr>Features of Power BI Publish</vt:lpstr>
      <vt:lpstr>Power BI Workspace</vt:lpstr>
      <vt:lpstr>Types of Power BI Workspaces</vt:lpstr>
      <vt:lpstr>Create a Workspace</vt:lpstr>
      <vt:lpstr>Power BI Workspace Roles</vt:lpstr>
      <vt:lpstr>Why Power BI Workspaces?</vt:lpstr>
      <vt:lpstr>Enable Power BI Publish to web setting</vt:lpstr>
      <vt:lpstr>Publish to web</vt:lpstr>
      <vt:lpstr>…</vt:lpstr>
      <vt:lpstr>… Customize the embed code</vt:lpstr>
      <vt:lpstr>… Limitations of Publish to Web</vt:lpstr>
      <vt:lpstr>Different Share Methods</vt:lpstr>
      <vt:lpstr>Which one?</vt:lpstr>
      <vt:lpstr>Manage Permissions</vt:lpstr>
      <vt:lpstr>Dashboard &amp; Reports</vt:lpstr>
      <vt:lpstr>Dashboard Vs Reports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Mintesnot Iwunete</cp:lastModifiedBy>
  <cp:revision>731</cp:revision>
  <dcterms:created xsi:type="dcterms:W3CDTF">2020-02-06T00:04:00Z</dcterms:created>
  <dcterms:modified xsi:type="dcterms:W3CDTF">2026-06-13T07:08:32Z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1033-11.2.0.9937</vt:lpwstr>
  </property>
</Properties>
</file>