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411" r:id="rId2"/>
    <p:sldId id="410" r:id="rId3"/>
    <p:sldId id="500" r:id="rId4"/>
    <p:sldId id="501" r:id="rId5"/>
    <p:sldId id="502" r:id="rId6"/>
    <p:sldId id="503" r:id="rId7"/>
    <p:sldId id="504" r:id="rId8"/>
    <p:sldId id="505" r:id="rId9"/>
    <p:sldId id="506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6C70"/>
    <a:srgbClr val="37C6D0"/>
    <a:srgbClr val="0072C6"/>
    <a:srgbClr val="00A4EF"/>
    <a:srgbClr val="3333FF"/>
    <a:srgbClr val="FFDF00"/>
    <a:srgbClr val="75CDEA"/>
    <a:srgbClr val="ABE2F5"/>
    <a:srgbClr val="E7F7FE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6F72C-57AD-4C0C-B413-44A67FA7CD9B}" v="95" dt="2024-03-18T15:51:55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2" autoAdjust="0"/>
    <p:restoredTop sz="94639" autoAdjust="0"/>
  </p:normalViewPr>
  <p:slideViewPr>
    <p:cSldViewPr snapToGrid="0">
      <p:cViewPr>
        <p:scale>
          <a:sx n="36" d="100"/>
          <a:sy n="36" d="100"/>
        </p:scale>
        <p:origin x="172" y="6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1" d="100"/>
          <a:sy n="51" d="100"/>
        </p:scale>
        <p:origin x="2692" y="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5/29/2026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ECC495-5FEF-4C9C-502D-7281AA9BC4CE}"/>
              </a:ext>
            </a:extLst>
          </p:cNvPr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itle 1"/>
          <p:cNvSpPr txBox="1"/>
          <p:nvPr userDrawn="1"/>
        </p:nvSpPr>
        <p:spPr>
          <a:xfrm>
            <a:off x="-1707114" y="2422578"/>
            <a:ext cx="6145764" cy="11097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sz="2400" dirty="0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509750" y="2338493"/>
            <a:ext cx="3531146" cy="14507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/>
                </a:solidFill>
                <a:latin typeface="YESHUAH" panose="02000500000000000000" pitchFamily="2" charset="0"/>
              </a:defRPr>
            </a:lvl1pPr>
          </a:lstStyle>
          <a:p>
            <a:r>
              <a:rPr lang="en-US" dirty="0"/>
              <a:t>{ subject }</a:t>
            </a:r>
          </a:p>
        </p:txBody>
      </p:sp>
      <p:sp>
        <p:nvSpPr>
          <p:cNvPr id="1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7647842" y="6136265"/>
            <a:ext cx="4090199" cy="4531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2400" baseline="0">
                <a:solidFill>
                  <a:srgbClr val="25677D"/>
                </a:solidFill>
                <a:latin typeface="YESHUAH" panose="02000500000000000000" pitchFamily="2" charset="0"/>
              </a:defRPr>
            </a:lvl1pPr>
          </a:lstStyle>
          <a:p>
            <a:pPr lvl="0"/>
            <a:r>
              <a:rPr lang="en-US" dirty="0"/>
              <a:t> { write presenter name }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9" name="Group 18" descr="Info"/>
          <p:cNvGrpSpPr/>
          <p:nvPr userDrawn="1"/>
        </p:nvGrpSpPr>
        <p:grpSpPr>
          <a:xfrm>
            <a:off x="4642801" y="3133724"/>
            <a:ext cx="567374" cy="550865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20" name="Freeform: Shape 19"/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</p:grpSp>
      <p:sp>
        <p:nvSpPr>
          <p:cNvPr id="16" name="Title 1"/>
          <p:cNvSpPr txBox="1"/>
          <p:nvPr userDrawn="1"/>
        </p:nvSpPr>
        <p:spPr>
          <a:xfrm>
            <a:off x="474130" y="2639243"/>
            <a:ext cx="3334512" cy="108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bg1"/>
                </a:solidFill>
                <a:latin typeface="YESHUAH" panose="02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Objectives</a:t>
            </a:r>
            <a:endParaRPr lang="en-US" sz="3200" b="1" dirty="0">
              <a:solidFill>
                <a:schemeClr val="bg1"/>
              </a:solidFill>
              <a:latin typeface="YESHUAH" panose="02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908431" y="1603717"/>
            <a:ext cx="5524060" cy="3151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2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 { write your objectives}</a:t>
            </a:r>
          </a:p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EF92EB-1689-2416-7533-E53DBC8933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1400" y="2348890"/>
            <a:ext cx="2160220" cy="216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6921" y="618977"/>
            <a:ext cx="9393848" cy="712765"/>
          </a:xfrm>
          <a:prstGeom prst="rect">
            <a:avLst/>
          </a:prstGeom>
        </p:spPr>
        <p:txBody>
          <a:bodyPr/>
          <a:lstStyle>
            <a:lvl1pPr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{ Title }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156921" y="1603717"/>
            <a:ext cx="10275570" cy="47053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{write your bullet point }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 userDrawn="1"/>
        </p:nvSpPr>
        <p:spPr>
          <a:xfrm>
            <a:off x="1325880" y="638175"/>
            <a:ext cx="9942195" cy="6667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2060"/>
                </a:solidFill>
                <a:latin typeface="+mn-lt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325880" y="1524000"/>
            <a:ext cx="9681949" cy="3958659"/>
          </a:xfrm>
          <a:prstGeom prst="rect">
            <a:avLst/>
          </a:prstGeom>
        </p:spPr>
        <p:txBody>
          <a:bodyPr>
            <a:normAutofit/>
          </a:bodyPr>
          <a:lstStyle>
            <a:lvl1pPr marL="91440">
              <a:spcBef>
                <a:spcPts val="0"/>
              </a:spcBef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 link to reference1, example: http://app.icraftsoft.net }</a:t>
            </a:r>
          </a:p>
          <a:p>
            <a:pPr lvl="0"/>
            <a:r>
              <a:rPr lang="en-US" dirty="0"/>
              <a:t>{ link to reference1, example: http://app.icraftsoft.net }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84E36F-A443-7521-D49B-753C50A8A8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25952" y="973836"/>
            <a:ext cx="4910328" cy="491032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8621" y="625480"/>
            <a:ext cx="1036320" cy="6858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610600" y="6181726"/>
            <a:ext cx="2743200" cy="539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36B06-9FB6-4AA1-A097-666DD28834F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73852" y="205990"/>
            <a:ext cx="944645" cy="9446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 spc="-38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10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29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45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61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77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486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472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22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8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CDAC-6AB4-4A7B-90D7-87428ABE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2402501"/>
            <a:ext cx="4335272" cy="1450757"/>
          </a:xfrm>
        </p:spPr>
        <p:txBody>
          <a:bodyPr>
            <a:noAutofit/>
          </a:bodyPr>
          <a:lstStyle/>
          <a:p>
            <a:r>
              <a:rPr lang="en-US" sz="5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Web </a:t>
            </a:r>
            <a:r>
              <a:rPr lang="en-US" sz="4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Development</a:t>
            </a:r>
            <a:br>
              <a:rPr lang="en-US" sz="5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HTML 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+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CSS</a:t>
            </a:r>
            <a:endParaRPr lang="en-US" sz="6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905C-A1AA-3986-D28A-042DCEF789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mintesnot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EBC9E-4311-34A9-0C78-FA3EC3930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14544" y="1447038"/>
            <a:ext cx="6830568" cy="455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13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A5F557-19C5-3E57-5E7C-602DF20CA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52193" y="654839"/>
            <a:ext cx="6460032" cy="6440905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What is SharePoint Site Customization?</a:t>
            </a:r>
          </a:p>
          <a:p>
            <a:pPr>
              <a:buBlip>
                <a:blip r:embed="rId2"/>
              </a:buBlip>
            </a:pP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488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A6649-F971-92D2-5B9B-F2CA4114C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Web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4F305-3B4C-370F-BDB6-5F8A17C92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0" y="1331741"/>
            <a:ext cx="10338393" cy="5885487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 </a:t>
            </a:r>
            <a:r>
              <a:rPr lang="en-US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Web development </a:t>
            </a:r>
            <a:r>
              <a:rPr lang="en-US" dirty="0"/>
              <a:t>is the process of creating websites and web applications that run on the internet.</a:t>
            </a:r>
          </a:p>
          <a:p>
            <a:pPr algn="just"/>
            <a:r>
              <a:rPr lang="en-US" dirty="0"/>
              <a:t> It involves designing, building , and  maintaining webpages using different technologies.</a:t>
            </a:r>
          </a:p>
          <a:p>
            <a:pPr marL="0" indent="0">
              <a:buNone/>
            </a:pPr>
            <a:r>
              <a:rPr lang="en-US" b="1" dirty="0"/>
              <a:t>Main Purpose of Web Development</a:t>
            </a:r>
          </a:p>
          <a:p>
            <a:pPr marL="0" indent="0">
              <a:buNone/>
            </a:pPr>
            <a:r>
              <a:rPr lang="en-US" dirty="0"/>
              <a:t>🌐 Share information online</a:t>
            </a:r>
            <a:br>
              <a:rPr lang="en-US" dirty="0"/>
            </a:br>
            <a:r>
              <a:rPr lang="en-US" dirty="0"/>
              <a:t>🛒 Build e-commerce websites</a:t>
            </a:r>
            <a:br>
              <a:rPr lang="en-US" dirty="0"/>
            </a:br>
            <a:r>
              <a:rPr lang="en-US" dirty="0"/>
              <a:t>📚 Create educational platforms</a:t>
            </a:r>
            <a:br>
              <a:rPr lang="en-US" dirty="0"/>
            </a:br>
            <a:r>
              <a:rPr lang="en-US" dirty="0"/>
              <a:t>💼 Develop business websites</a:t>
            </a:r>
            <a:br>
              <a:rPr lang="en-US" dirty="0"/>
            </a:br>
            <a:r>
              <a:rPr lang="en-US" dirty="0"/>
              <a:t>📱 Create interactive web applications</a:t>
            </a:r>
          </a:p>
          <a:p>
            <a:pPr marL="0" indent="0">
              <a:buNone/>
            </a:pPr>
            <a:r>
              <a:rPr lang="en-US" b="1" dirty="0"/>
              <a:t>Key Takeaway</a:t>
            </a:r>
          </a:p>
          <a:p>
            <a:pPr>
              <a:buBlip>
                <a:blip r:embed="rId2"/>
              </a:buBlip>
            </a:pPr>
            <a:r>
              <a:rPr lang="en-US"/>
              <a:t> HTML </a:t>
            </a:r>
            <a:r>
              <a:rPr lang="en-US" dirty="0"/>
              <a:t>builds the structure, CSS adds beauty, and JavaScript adds intelligence.</a:t>
            </a:r>
          </a:p>
          <a:p>
            <a:pPr marL="0" indent="0">
              <a:buNone/>
            </a:pPr>
            <a:r>
              <a:rPr lang="en-US" b="1" dirty="0"/>
              <a:t>HTML = Skeleton 🦴</a:t>
            </a:r>
            <a:br>
              <a:rPr lang="en-US" dirty="0"/>
            </a:br>
            <a:r>
              <a:rPr lang="en-US" b="1" dirty="0"/>
              <a:t>CSS = Skin/Clothes 🎨</a:t>
            </a:r>
            <a:br>
              <a:rPr lang="en-US" dirty="0"/>
            </a:br>
            <a:r>
              <a:rPr lang="en-US" b="1" dirty="0"/>
              <a:t>JavaScript = Brain 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379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E1146-4561-6F96-4D5F-0DE078BED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 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Front-End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7257F-CEC3-A213-8D72-1B95F30CB9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50166" y="1078733"/>
            <a:ext cx="4541834" cy="586915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The </a:t>
            </a:r>
            <a:r>
              <a:rPr lang="en-US" b="1" dirty="0">
                <a:solidFill>
                  <a:srgbClr val="036C70"/>
                </a:solidFill>
              </a:rPr>
              <a:t>front-end </a:t>
            </a:r>
            <a:r>
              <a:rPr lang="en-US" dirty="0"/>
              <a:t>is the visible part of a website that users interact with.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Technologies Used: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HTML</a:t>
            </a:r>
            <a:r>
              <a:rPr lang="en-US" dirty="0"/>
              <a:t> → Structure of webpage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CSS</a:t>
            </a:r>
            <a:r>
              <a:rPr lang="en-US" dirty="0"/>
              <a:t> → Styling and design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JavaScript</a:t>
            </a:r>
            <a:r>
              <a:rPr lang="en-US" dirty="0"/>
              <a:t> → Interactivity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Example:</a:t>
            </a:r>
          </a:p>
          <a:p>
            <a:r>
              <a:rPr lang="en-US" dirty="0"/>
              <a:t>Buttons </a:t>
            </a:r>
          </a:p>
          <a:p>
            <a:r>
              <a:rPr lang="en-US" dirty="0"/>
              <a:t>Menus </a:t>
            </a:r>
          </a:p>
          <a:p>
            <a:r>
              <a:rPr lang="en-US" dirty="0"/>
              <a:t>Images </a:t>
            </a:r>
          </a:p>
          <a:p>
            <a:r>
              <a:rPr lang="en-US" dirty="0"/>
              <a:t>Layouts </a:t>
            </a:r>
          </a:p>
          <a:p>
            <a:r>
              <a:rPr lang="en-US" dirty="0"/>
              <a:t>Colors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179769-2355-97D6-EEC8-9D49ADD5F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5" y="1529402"/>
            <a:ext cx="7451731" cy="496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36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FB9EC-4C66-9A76-8CB1-6BB452CE9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0614-366A-D015-F3CE-439699FE4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2. 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Back-End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DA848-AC93-4498-EB68-C7D46102A1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37615" y="1389855"/>
            <a:ext cx="4966376" cy="5869158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36C70"/>
                </a:solidFill>
              </a:rPr>
              <a:t>back-end</a:t>
            </a:r>
            <a:r>
              <a:rPr lang="en-US" dirty="0">
                <a:solidFill>
                  <a:srgbClr val="036C70"/>
                </a:solidFill>
              </a:rPr>
              <a:t> </a:t>
            </a:r>
            <a:r>
              <a:rPr lang="en-US" dirty="0"/>
              <a:t>handles data processing and server operations.</a:t>
            </a:r>
          </a:p>
          <a:p>
            <a:pPr marL="0" indent="0">
              <a:buNone/>
            </a:pPr>
            <a:r>
              <a:rPr lang="en-US" dirty="0"/>
              <a:t>Common Technologies:</a:t>
            </a:r>
          </a:p>
          <a:p>
            <a:r>
              <a:rPr lang="en-US" dirty="0"/>
              <a:t>Python </a:t>
            </a:r>
          </a:p>
          <a:p>
            <a:r>
              <a:rPr lang="en-US" dirty="0"/>
              <a:t>Java </a:t>
            </a:r>
          </a:p>
          <a:p>
            <a:r>
              <a:rPr lang="en-US" dirty="0"/>
              <a:t>PHP </a:t>
            </a:r>
          </a:p>
          <a:p>
            <a:r>
              <a:rPr lang="en-US" dirty="0"/>
              <a:t>Node.js </a:t>
            </a:r>
          </a:p>
          <a:p>
            <a:r>
              <a:rPr lang="en-US" dirty="0"/>
              <a:t>Databases (SQL, MongoDB) 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Login systems </a:t>
            </a:r>
          </a:p>
          <a:p>
            <a:r>
              <a:rPr lang="en-US" dirty="0"/>
              <a:t>Databases </a:t>
            </a:r>
          </a:p>
          <a:p>
            <a:r>
              <a:rPr lang="en-US" dirty="0"/>
              <a:t>Payment processing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D25F6D-2064-2615-62EE-8B6CD62F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09" y="1389855"/>
            <a:ext cx="6625151" cy="530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621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03873-AC3F-E76F-AD5B-FE2B82EC1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F960D-1DA5-03E8-9A29-441F0EF7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 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Full-Stack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4766C-3E48-62F3-CC87-1D4DDE8971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25624" y="1135799"/>
            <a:ext cx="4966376" cy="5869158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36C70"/>
                </a:solidFill>
              </a:rPr>
              <a:t>full-stack developer</a:t>
            </a:r>
            <a:r>
              <a:rPr lang="en-US" dirty="0">
                <a:solidFill>
                  <a:srgbClr val="036C70"/>
                </a:solidFill>
              </a:rPr>
              <a:t> </a:t>
            </a:r>
            <a:r>
              <a:rPr lang="en-US" dirty="0"/>
              <a:t>works on both: Frontend + Backend.</a:t>
            </a:r>
          </a:p>
          <a:p>
            <a:r>
              <a:rPr lang="en-US" dirty="0"/>
              <a:t>Developers typically use predefined combinations of technologies – known as “</a:t>
            </a:r>
            <a:r>
              <a:rPr lang="en-US" b="1" dirty="0"/>
              <a:t>stack</a:t>
            </a:r>
            <a:r>
              <a:rPr lang="en-US" dirty="0"/>
              <a:t>” – to build modern applications.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MERN Stack:</a:t>
            </a:r>
            <a:r>
              <a:rPr lang="en-US" dirty="0"/>
              <a:t> </a:t>
            </a:r>
            <a:r>
              <a:rPr lang="en-US" b="1" dirty="0"/>
              <a:t>M</a:t>
            </a:r>
            <a:r>
              <a:rPr lang="en-US" dirty="0"/>
              <a:t>ongoDB, </a:t>
            </a:r>
            <a:r>
              <a:rPr lang="en-US" b="1" dirty="0"/>
              <a:t>E</a:t>
            </a:r>
            <a:r>
              <a:rPr lang="en-US" dirty="0"/>
              <a:t>xpress.js, </a:t>
            </a:r>
            <a:r>
              <a:rPr lang="en-US" b="1" dirty="0"/>
              <a:t>R</a:t>
            </a:r>
            <a:r>
              <a:rPr lang="en-US" dirty="0"/>
              <a:t>eact, </a:t>
            </a:r>
            <a:r>
              <a:rPr lang="en-US" b="1" dirty="0"/>
              <a:t>N</a:t>
            </a:r>
            <a:r>
              <a:rPr lang="en-US" dirty="0"/>
              <a:t>ode.js. (One of the most popular JavaScript-based ecosystems).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PERN Stack:</a:t>
            </a:r>
            <a:r>
              <a:rPr lang="en-US" dirty="0"/>
              <a:t> </a:t>
            </a:r>
            <a:r>
              <a:rPr lang="en-US" b="1" dirty="0"/>
              <a:t>P</a:t>
            </a:r>
            <a:r>
              <a:rPr lang="en-US" dirty="0"/>
              <a:t>ostgreSQL, </a:t>
            </a:r>
            <a:r>
              <a:rPr lang="en-US" b="1" dirty="0"/>
              <a:t>E</a:t>
            </a:r>
            <a:r>
              <a:rPr lang="en-US" dirty="0"/>
              <a:t>xpress.js, </a:t>
            </a:r>
            <a:r>
              <a:rPr lang="en-US" b="1" dirty="0"/>
              <a:t>R</a:t>
            </a:r>
            <a:r>
              <a:rPr lang="en-US" dirty="0"/>
              <a:t>eact, </a:t>
            </a:r>
            <a:r>
              <a:rPr lang="en-US" b="1" dirty="0"/>
              <a:t>N</a:t>
            </a:r>
            <a:r>
              <a:rPr lang="en-US" dirty="0"/>
              <a:t>ode.js.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LAMP / LEMP Stack:</a:t>
            </a:r>
            <a:r>
              <a:rPr lang="en-US" dirty="0"/>
              <a:t> </a:t>
            </a:r>
            <a:r>
              <a:rPr lang="en-US" b="1" dirty="0"/>
              <a:t>L</a:t>
            </a:r>
            <a:r>
              <a:rPr lang="en-US" dirty="0"/>
              <a:t>inux, </a:t>
            </a:r>
            <a:r>
              <a:rPr lang="en-US" b="1" dirty="0"/>
              <a:t>A</a:t>
            </a:r>
            <a:r>
              <a:rPr lang="en-US" dirty="0"/>
              <a:t>pache/</a:t>
            </a:r>
            <a:r>
              <a:rPr lang="en-US" b="1" dirty="0"/>
              <a:t>N</a:t>
            </a:r>
            <a:r>
              <a:rPr lang="en-US" dirty="0"/>
              <a:t>ginx, </a:t>
            </a:r>
            <a:r>
              <a:rPr lang="en-US" b="1" dirty="0"/>
              <a:t>M</a:t>
            </a:r>
            <a:r>
              <a:rPr lang="en-US" dirty="0"/>
              <a:t>ySQL, </a:t>
            </a:r>
            <a:r>
              <a:rPr lang="en-US" b="1" dirty="0"/>
              <a:t>P</a:t>
            </a:r>
            <a:r>
              <a:rPr lang="en-US" dirty="0"/>
              <a:t>HP.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A35942-728A-CED9-D464-A749B9BCEA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008" y="1603876"/>
            <a:ext cx="7037615" cy="469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463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23ECF-F9F6-ED6F-3F62-F06D04C0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How Websites Work?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FBBEC-7942-3DB8-1B70-581D00120D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60228" y="1331742"/>
            <a:ext cx="4008455" cy="5526258"/>
          </a:xfrm>
        </p:spPr>
        <p:txBody>
          <a:bodyPr>
            <a:normAutofit/>
          </a:bodyPr>
          <a:lstStyle/>
          <a:p>
            <a:r>
              <a:rPr lang="en-US" dirty="0"/>
              <a:t>User Opens Website ⬇</a:t>
            </a:r>
          </a:p>
          <a:p>
            <a:r>
              <a:rPr lang="en-US" dirty="0"/>
              <a:t>Browser Sends Request ⬇</a:t>
            </a:r>
          </a:p>
          <a:p>
            <a:r>
              <a:rPr lang="en-US" dirty="0"/>
              <a:t>Web Server Responds ⬇</a:t>
            </a:r>
          </a:p>
          <a:p>
            <a:r>
              <a:rPr lang="en-US" dirty="0"/>
              <a:t>HTML + CSS + JavaScript Loaded ⬇</a:t>
            </a:r>
          </a:p>
          <a:p>
            <a:r>
              <a:rPr lang="en-US" dirty="0"/>
              <a:t>Website Displayed in Browser</a:t>
            </a:r>
          </a:p>
          <a:p>
            <a:pPr marL="0" indent="0">
              <a:buNone/>
            </a:pPr>
            <a:r>
              <a:rPr lang="en-US" b="1" dirty="0"/>
              <a:t>Popular Web Browsers</a:t>
            </a:r>
          </a:p>
          <a:p>
            <a:pPr>
              <a:buBlip>
                <a:blip r:embed="rId2"/>
              </a:buBlip>
            </a:pPr>
            <a:r>
              <a:rPr lang="en-US" b="1" dirty="0">
                <a:solidFill>
                  <a:srgbClr val="036C70"/>
                </a:solidFill>
              </a:rPr>
              <a:t> Google Chrome</a:t>
            </a:r>
          </a:p>
          <a:p>
            <a:pPr>
              <a:buBlip>
                <a:blip r:embed="rId2"/>
              </a:buBlip>
            </a:pPr>
            <a:r>
              <a:rPr lang="en-US" b="1" dirty="0">
                <a:solidFill>
                  <a:srgbClr val="036C70"/>
                </a:solidFill>
              </a:rPr>
              <a:t> Mozilla Firefox</a:t>
            </a:r>
          </a:p>
          <a:p>
            <a:pPr>
              <a:buBlip>
                <a:blip r:embed="rId2"/>
              </a:buBlip>
            </a:pPr>
            <a:r>
              <a:rPr lang="en-US" b="1" dirty="0">
                <a:solidFill>
                  <a:srgbClr val="036C70"/>
                </a:solidFill>
              </a:rPr>
              <a:t> Microsoft Edge</a:t>
            </a:r>
          </a:p>
          <a:p>
            <a:pPr>
              <a:buBlip>
                <a:blip r:embed="rId2"/>
              </a:buBlip>
            </a:pPr>
            <a:r>
              <a:rPr lang="en-US" b="1" dirty="0">
                <a:solidFill>
                  <a:srgbClr val="036C70"/>
                </a:solidFill>
              </a:rPr>
              <a:t> Safari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DCFBDF-4B3D-7B90-C570-694E2E4E5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57" y="1368028"/>
            <a:ext cx="7903028" cy="526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739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46145-EDB2-0D9A-EDAD-067375B5F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HTML?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F1F82-768E-71A1-4679-AE6B500DE4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576671"/>
            <a:ext cx="10275570" cy="552625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 </a:t>
            </a:r>
            <a:r>
              <a:rPr lang="en-US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HTML</a:t>
            </a:r>
            <a:r>
              <a:rPr lang="en-US" dirty="0"/>
              <a:t> stands for </a:t>
            </a:r>
            <a:r>
              <a:rPr lang="en-US" b="1" dirty="0"/>
              <a:t>HyperText</a:t>
            </a:r>
            <a:r>
              <a:rPr lang="en-US" dirty="0"/>
              <a:t>  </a:t>
            </a:r>
            <a:r>
              <a:rPr lang="en-US" b="1" dirty="0"/>
              <a:t>Markup Language</a:t>
            </a:r>
            <a:r>
              <a:rPr lang="en-US" dirty="0"/>
              <a:t>.</a:t>
            </a:r>
          </a:p>
          <a:p>
            <a:r>
              <a:rPr lang="en-US" dirty="0"/>
              <a:t> It is the standard language used to create the structure of webpages.</a:t>
            </a:r>
          </a:p>
          <a:p>
            <a:r>
              <a:rPr lang="en-US" dirty="0"/>
              <a:t> HTML tells the browser:</a:t>
            </a:r>
          </a:p>
          <a:p>
            <a:pPr marL="0" indent="0">
              <a:buNone/>
            </a:pPr>
            <a:r>
              <a:rPr lang="en-US" dirty="0"/>
              <a:t>✅ What content to display</a:t>
            </a:r>
            <a:br>
              <a:rPr lang="en-US" dirty="0"/>
            </a:br>
            <a:r>
              <a:rPr lang="en-US" dirty="0"/>
              <a:t>✅ Where content should appear</a:t>
            </a:r>
            <a:br>
              <a:rPr lang="en-US" dirty="0"/>
            </a:br>
            <a:r>
              <a:rPr lang="en-US" dirty="0"/>
              <a:t>✅ How webpage elements are organized</a:t>
            </a:r>
          </a:p>
          <a:p>
            <a:pPr marL="0" indent="0">
              <a:buNone/>
            </a:pPr>
            <a:r>
              <a:rPr lang="en-US" dirty="0"/>
              <a:t>Without HTML, a webpage would have </a:t>
            </a:r>
            <a:r>
              <a:rPr lang="en-US" b="1" dirty="0"/>
              <a:t>no structure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Why Do We Use HTML?</a:t>
            </a:r>
          </a:p>
          <a:p>
            <a:pPr marL="0" indent="0">
              <a:buNone/>
            </a:pPr>
            <a:r>
              <a:rPr lang="en-US" dirty="0"/>
              <a:t>HTML is used to:</a:t>
            </a:r>
          </a:p>
          <a:p>
            <a:pPr marL="0" indent="0">
              <a:buNone/>
            </a:pPr>
            <a:r>
              <a:rPr lang="en-US" dirty="0"/>
              <a:t>📝 Add text to webpages</a:t>
            </a:r>
            <a:br>
              <a:rPr lang="en-US" dirty="0"/>
            </a:br>
            <a:r>
              <a:rPr lang="en-US" dirty="0"/>
              <a:t>🖼️ Display images</a:t>
            </a:r>
            <a:br>
              <a:rPr lang="en-US" dirty="0"/>
            </a:br>
            <a:r>
              <a:rPr lang="en-US" dirty="0"/>
              <a:t>🔗 Create links between pages</a:t>
            </a:r>
            <a:br>
              <a:rPr lang="en-US" dirty="0"/>
            </a:br>
            <a:r>
              <a:rPr lang="en-US" dirty="0"/>
              <a:t>📋 Create tables and lists</a:t>
            </a:r>
            <a:br>
              <a:rPr lang="en-US" dirty="0"/>
            </a:br>
            <a:r>
              <a:rPr lang="en-US" dirty="0"/>
              <a:t>📥 Build forms for user input</a:t>
            </a:r>
            <a:br>
              <a:rPr lang="en-US" dirty="0"/>
            </a:br>
            <a:r>
              <a:rPr lang="en-US" dirty="0"/>
              <a:t>🎥 Add videos and multimedia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726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6A6FF-BF2D-F3AF-2777-34B8BFAA5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Features of HTML5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9F884-966F-2F68-68B2-F744F2F2CE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4042" y="1104650"/>
            <a:ext cx="4468585" cy="591663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✅ Easy to learn</a:t>
            </a:r>
            <a:br>
              <a:rPr lang="en-US" dirty="0"/>
            </a:br>
            <a:r>
              <a:rPr lang="en-US" dirty="0"/>
              <a:t>✅ Platform independent</a:t>
            </a:r>
            <a:br>
              <a:rPr lang="en-US" dirty="0"/>
            </a:br>
            <a:r>
              <a:rPr lang="en-US" dirty="0"/>
              <a:t>✅ Supported by all browsers</a:t>
            </a:r>
            <a:br>
              <a:rPr lang="en-US" dirty="0"/>
            </a:br>
            <a:r>
              <a:rPr lang="en-US" dirty="0"/>
              <a:t>✅ Works with CSS and JavaScript</a:t>
            </a:r>
            <a:br>
              <a:rPr lang="en-US" dirty="0"/>
            </a:br>
            <a:r>
              <a:rPr lang="en-US" dirty="0"/>
              <a:t>✅ Used to create webpages</a:t>
            </a:r>
          </a:p>
          <a:p>
            <a:pPr>
              <a:buBlip>
                <a:blip r:embed="rId2"/>
              </a:buBlip>
            </a:pPr>
            <a:r>
              <a:rPr lang="en-US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HTML5? </a:t>
            </a:r>
            <a:r>
              <a:rPr lang="en-US" b="1" dirty="0"/>
              <a:t>- HTML5</a:t>
            </a:r>
            <a:r>
              <a:rPr lang="en-US" dirty="0"/>
              <a:t> is the latest version of HTML.</a:t>
            </a:r>
          </a:p>
          <a:p>
            <a:pPr marL="0" indent="0">
              <a:buNone/>
            </a:pPr>
            <a:r>
              <a:rPr lang="en-US" dirty="0"/>
              <a:t>🎥 Video support</a:t>
            </a:r>
            <a:br>
              <a:rPr lang="en-US" dirty="0"/>
            </a:br>
            <a:r>
              <a:rPr lang="en-US" dirty="0"/>
              <a:t>🎵 Audio support</a:t>
            </a:r>
            <a:br>
              <a:rPr lang="en-US" dirty="0"/>
            </a:br>
            <a:r>
              <a:rPr lang="en-US" dirty="0"/>
              <a:t>📍 Geolocation</a:t>
            </a:r>
            <a:br>
              <a:rPr lang="en-US" dirty="0"/>
            </a:br>
            <a:r>
              <a:rPr lang="en-US" dirty="0"/>
              <a:t>📱 Better mobile support</a:t>
            </a:r>
            <a:br>
              <a:rPr lang="en-US" dirty="0"/>
            </a:br>
            <a:r>
              <a:rPr lang="en-US" dirty="0"/>
              <a:t>🧩 Semantic elements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Real-Life Analogy</a:t>
            </a:r>
          </a:p>
          <a:p>
            <a:pPr marL="0" indent="0">
              <a:buNone/>
            </a:pPr>
            <a:r>
              <a:rPr lang="en-US" dirty="0"/>
              <a:t>Think of a website like a </a:t>
            </a:r>
            <a:r>
              <a:rPr lang="en-US" b="1" dirty="0"/>
              <a:t>house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🏠 HTML = Structure of the house (walls, doors, rooms)</a:t>
            </a:r>
            <a:br>
              <a:rPr lang="en-US" dirty="0"/>
            </a:br>
            <a:r>
              <a:rPr lang="en-US" dirty="0"/>
              <a:t>🎨 CSS = Decoration and paint</a:t>
            </a:r>
            <a:br>
              <a:rPr lang="en-US" dirty="0"/>
            </a:br>
            <a:r>
              <a:rPr lang="en-US" dirty="0"/>
              <a:t>⚡ JavaScript = Electricity and smart systems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965E98-B356-9C18-B093-A5FA32021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529" y="1817415"/>
            <a:ext cx="7563648" cy="425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862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7717</TotalTime>
  <Words>533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ADLaM Display</vt:lpstr>
      <vt:lpstr>Calibri</vt:lpstr>
      <vt:lpstr>Courier New</vt:lpstr>
      <vt:lpstr>Wingdings</vt:lpstr>
      <vt:lpstr>YESHUAH</vt:lpstr>
      <vt:lpstr>RetrospectVTI</vt:lpstr>
      <vt:lpstr>Web Development - HTML + CSS</vt:lpstr>
      <vt:lpstr>PowerPoint Presentation</vt:lpstr>
      <vt:lpstr>Web Development</vt:lpstr>
      <vt:lpstr>1. Front-End Development</vt:lpstr>
      <vt:lpstr>2. Back-End Development</vt:lpstr>
      <vt:lpstr>3. Full-Stack Development</vt:lpstr>
      <vt:lpstr>How Websites Work?</vt:lpstr>
      <vt:lpstr>What is HTML?</vt:lpstr>
      <vt:lpstr>Features of HTML5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Mintesnot Iwunete</cp:lastModifiedBy>
  <cp:revision>894</cp:revision>
  <dcterms:created xsi:type="dcterms:W3CDTF">2020-02-06T00:04:00Z</dcterms:created>
  <dcterms:modified xsi:type="dcterms:W3CDTF">2026-05-29T13:21:21Z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1033-11.2.0.9937</vt:lpwstr>
  </property>
</Properties>
</file>