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411" r:id="rId2"/>
    <p:sldId id="410" r:id="rId3"/>
    <p:sldId id="424" r:id="rId4"/>
    <p:sldId id="486" r:id="rId5"/>
    <p:sldId id="487" r:id="rId6"/>
    <p:sldId id="482" r:id="rId7"/>
    <p:sldId id="483" r:id="rId8"/>
    <p:sldId id="484" r:id="rId9"/>
    <p:sldId id="485" r:id="rId10"/>
    <p:sldId id="481" r:id="rId11"/>
    <p:sldId id="488" r:id="rId12"/>
    <p:sldId id="489" r:id="rId13"/>
    <p:sldId id="490" r:id="rId14"/>
    <p:sldId id="493" r:id="rId15"/>
    <p:sldId id="491" r:id="rId16"/>
    <p:sldId id="492" r:id="rId17"/>
    <p:sldId id="26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6C70"/>
    <a:srgbClr val="37C6D0"/>
    <a:srgbClr val="0072C6"/>
    <a:srgbClr val="00A4EF"/>
    <a:srgbClr val="3333FF"/>
    <a:srgbClr val="FFDF00"/>
    <a:srgbClr val="75CDEA"/>
    <a:srgbClr val="ABE2F5"/>
    <a:srgbClr val="E7F7FE"/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36F72C-57AD-4C0C-B413-44A67FA7CD9B}" v="95" dt="2024-03-18T15:51:55.6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39" autoAdjust="0"/>
  </p:normalViewPr>
  <p:slideViewPr>
    <p:cSldViewPr snapToGrid="0">
      <p:cViewPr>
        <p:scale>
          <a:sx n="40" d="100"/>
          <a:sy n="40" d="100"/>
        </p:scale>
        <p:origin x="44" y="54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51" d="100"/>
          <a:sy n="51" d="100"/>
        </p:scale>
        <p:origin x="2692" y="2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48E1AF-6343-46AA-8AEF-4C12F4118850}" type="datetimeFigureOut">
              <a:rPr lang="en-US" smtClean="0"/>
              <a:t>5/20/2026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2858E0-3D38-47B7-97D4-4FE08D90D3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9D2517-63AA-420A-887D-BE60360A8F4D}" type="datetimeFigureOut">
              <a:rPr lang="en-US" noProof="0" smtClean="0"/>
              <a:t>5/20/2026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4ECAD9-32EE-4091-BDA5-6BD15ACC5E58}" type="slidenum">
              <a:rPr lang="en-US" noProof="0" smtClean="0"/>
              <a:t>‹#›</a:t>
            </a:fld>
            <a:endParaRPr lang="en-US" noProof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ECC495-5FEF-4C9C-502D-7281AA9BC4CE}"/>
              </a:ext>
            </a:extLst>
          </p:cNvPr>
          <p:cNvSpPr/>
          <p:nvPr userDrawn="1"/>
        </p:nvSpPr>
        <p:spPr>
          <a:xfrm>
            <a:off x="-64008" y="0"/>
            <a:ext cx="4723782" cy="6858000"/>
          </a:xfrm>
          <a:prstGeom prst="rect">
            <a:avLst/>
          </a:prstGeom>
          <a:solidFill>
            <a:srgbClr val="2567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Title 1"/>
          <p:cNvSpPr txBox="1"/>
          <p:nvPr userDrawn="1"/>
        </p:nvSpPr>
        <p:spPr>
          <a:xfrm>
            <a:off x="-1707114" y="2422578"/>
            <a:ext cx="6145764" cy="110975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spc="-38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en-US" sz="2400" dirty="0"/>
          </a:p>
        </p:txBody>
      </p:sp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509750" y="2338493"/>
            <a:ext cx="3531146" cy="145075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400" b="1" baseline="0">
                <a:solidFill>
                  <a:schemeClr val="bg1"/>
                </a:solidFill>
                <a:latin typeface="YESHUAH" panose="02000500000000000000" pitchFamily="2" charset="0"/>
              </a:defRPr>
            </a:lvl1pPr>
          </a:lstStyle>
          <a:p>
            <a:r>
              <a:rPr lang="en-US" dirty="0"/>
              <a:t>{ subject }</a:t>
            </a:r>
          </a:p>
        </p:txBody>
      </p:sp>
      <p:sp>
        <p:nvSpPr>
          <p:cNvPr id="19" name="Content Placeholder 8"/>
          <p:cNvSpPr>
            <a:spLocks noGrp="1"/>
          </p:cNvSpPr>
          <p:nvPr>
            <p:ph sz="quarter" idx="13" hasCustomPrompt="1"/>
          </p:nvPr>
        </p:nvSpPr>
        <p:spPr>
          <a:xfrm>
            <a:off x="7647842" y="6136265"/>
            <a:ext cx="4090199" cy="45313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2400" baseline="0">
                <a:solidFill>
                  <a:srgbClr val="25677D"/>
                </a:solidFill>
                <a:latin typeface="YESHUAH" panose="02000500000000000000" pitchFamily="2" charset="0"/>
              </a:defRPr>
            </a:lvl1pPr>
          </a:lstStyle>
          <a:p>
            <a:pPr lvl="0"/>
            <a:r>
              <a:rPr lang="en-US" dirty="0"/>
              <a:t> { write presenter name }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 userDrawn="1"/>
        </p:nvSpPr>
        <p:spPr>
          <a:xfrm>
            <a:off x="-64008" y="0"/>
            <a:ext cx="4723782" cy="6858000"/>
          </a:xfrm>
          <a:prstGeom prst="rect">
            <a:avLst/>
          </a:prstGeom>
          <a:solidFill>
            <a:srgbClr val="2567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9" name="Group 18" descr="Info"/>
          <p:cNvGrpSpPr/>
          <p:nvPr userDrawn="1"/>
        </p:nvGrpSpPr>
        <p:grpSpPr>
          <a:xfrm>
            <a:off x="4642801" y="3133724"/>
            <a:ext cx="567374" cy="550865"/>
            <a:chOff x="4914764" y="3319462"/>
            <a:chExt cx="619125" cy="619125"/>
          </a:xfrm>
          <a:solidFill>
            <a:schemeClr val="bg1"/>
          </a:solidFill>
        </p:grpSpPr>
        <p:sp>
          <p:nvSpPr>
            <p:cNvPr id="20" name="Freeform: Shape 19"/>
            <p:cNvSpPr/>
            <p:nvPr/>
          </p:nvSpPr>
          <p:spPr>
            <a:xfrm>
              <a:off x="4914764" y="3319462"/>
              <a:ext cx="619125" cy="619125"/>
            </a:xfrm>
            <a:custGeom>
              <a:avLst/>
              <a:gdLst>
                <a:gd name="connsiteX0" fmla="*/ 309563 w 619125"/>
                <a:gd name="connsiteY0" fmla="*/ 0 h 619125"/>
                <a:gd name="connsiteX1" fmla="*/ 0 w 619125"/>
                <a:gd name="connsiteY1" fmla="*/ 309563 h 619125"/>
                <a:gd name="connsiteX2" fmla="*/ 309563 w 619125"/>
                <a:gd name="connsiteY2" fmla="*/ 619125 h 619125"/>
                <a:gd name="connsiteX3" fmla="*/ 619125 w 619125"/>
                <a:gd name="connsiteY3" fmla="*/ 309563 h 619125"/>
                <a:gd name="connsiteX4" fmla="*/ 309563 w 619125"/>
                <a:gd name="connsiteY4" fmla="*/ 0 h 619125"/>
                <a:gd name="connsiteX5" fmla="*/ 309563 w 619125"/>
                <a:gd name="connsiteY5" fmla="*/ 581025 h 619125"/>
                <a:gd name="connsiteX6" fmla="*/ 38100 w 619125"/>
                <a:gd name="connsiteY6" fmla="*/ 309563 h 619125"/>
                <a:gd name="connsiteX7" fmla="*/ 309563 w 619125"/>
                <a:gd name="connsiteY7" fmla="*/ 38100 h 619125"/>
                <a:gd name="connsiteX8" fmla="*/ 581025 w 619125"/>
                <a:gd name="connsiteY8" fmla="*/ 309563 h 619125"/>
                <a:gd name="connsiteX9" fmla="*/ 309563 w 619125"/>
                <a:gd name="connsiteY9" fmla="*/ 581025 h 619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19125" h="619125">
                  <a:moveTo>
                    <a:pt x="309563" y="0"/>
                  </a:moveTo>
                  <a:cubicBezTo>
                    <a:pt x="138875" y="0"/>
                    <a:pt x="0" y="138865"/>
                    <a:pt x="0" y="309563"/>
                  </a:cubicBezTo>
                  <a:cubicBezTo>
                    <a:pt x="0" y="480260"/>
                    <a:pt x="138875" y="619125"/>
                    <a:pt x="309563" y="619125"/>
                  </a:cubicBezTo>
                  <a:cubicBezTo>
                    <a:pt x="480250" y="619125"/>
                    <a:pt x="619125" y="480260"/>
                    <a:pt x="619125" y="309563"/>
                  </a:cubicBezTo>
                  <a:cubicBezTo>
                    <a:pt x="619125" y="138865"/>
                    <a:pt x="480250" y="0"/>
                    <a:pt x="309563" y="0"/>
                  </a:cubicBezTo>
                  <a:close/>
                  <a:moveTo>
                    <a:pt x="309563" y="581025"/>
                  </a:moveTo>
                  <a:cubicBezTo>
                    <a:pt x="159877" y="581025"/>
                    <a:pt x="38100" y="459248"/>
                    <a:pt x="38100" y="309563"/>
                  </a:cubicBezTo>
                  <a:cubicBezTo>
                    <a:pt x="38100" y="159877"/>
                    <a:pt x="159877" y="38100"/>
                    <a:pt x="309563" y="38100"/>
                  </a:cubicBezTo>
                  <a:cubicBezTo>
                    <a:pt x="459248" y="38100"/>
                    <a:pt x="581025" y="159877"/>
                    <a:pt x="581025" y="309563"/>
                  </a:cubicBezTo>
                  <a:cubicBezTo>
                    <a:pt x="581025" y="459248"/>
                    <a:pt x="459248" y="581025"/>
                    <a:pt x="309563" y="58102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 dirty="0"/>
            </a:p>
          </p:txBody>
        </p:sp>
        <p:sp>
          <p:nvSpPr>
            <p:cNvPr id="21" name="Freeform: Shape 20"/>
            <p:cNvSpPr/>
            <p:nvPr/>
          </p:nvSpPr>
          <p:spPr>
            <a:xfrm>
              <a:off x="5195751" y="3473729"/>
              <a:ext cx="57150" cy="57150"/>
            </a:xfrm>
            <a:custGeom>
              <a:avLst/>
              <a:gdLst>
                <a:gd name="connsiteX0" fmla="*/ 63722 w 57150"/>
                <a:gd name="connsiteY0" fmla="*/ 31861 h 57150"/>
                <a:gd name="connsiteX1" fmla="*/ 31861 w 57150"/>
                <a:gd name="connsiteY1" fmla="*/ 63722 h 57150"/>
                <a:gd name="connsiteX2" fmla="*/ 0 w 57150"/>
                <a:gd name="connsiteY2" fmla="*/ 31861 h 57150"/>
                <a:gd name="connsiteX3" fmla="*/ 31861 w 57150"/>
                <a:gd name="connsiteY3" fmla="*/ 0 h 57150"/>
                <a:gd name="connsiteX4" fmla="*/ 63722 w 57150"/>
                <a:gd name="connsiteY4" fmla="*/ 31861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63722" y="31861"/>
                  </a:moveTo>
                  <a:cubicBezTo>
                    <a:pt x="63722" y="49458"/>
                    <a:pt x="49458" y="63722"/>
                    <a:pt x="31861" y="63722"/>
                  </a:cubicBezTo>
                  <a:cubicBezTo>
                    <a:pt x="14265" y="63722"/>
                    <a:pt x="0" y="49458"/>
                    <a:pt x="0" y="31861"/>
                  </a:cubicBezTo>
                  <a:cubicBezTo>
                    <a:pt x="0" y="14265"/>
                    <a:pt x="14265" y="0"/>
                    <a:pt x="31861" y="0"/>
                  </a:cubicBezTo>
                  <a:cubicBezTo>
                    <a:pt x="49458" y="0"/>
                    <a:pt x="63722" y="14265"/>
                    <a:pt x="63722" y="3186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 dirty="0"/>
            </a:p>
          </p:txBody>
        </p:sp>
        <p:sp>
          <p:nvSpPr>
            <p:cNvPr id="22" name="Freeform: Shape 21"/>
            <p:cNvSpPr/>
            <p:nvPr/>
          </p:nvSpPr>
          <p:spPr>
            <a:xfrm>
              <a:off x="5205276" y="3589420"/>
              <a:ext cx="38100" cy="200025"/>
            </a:xfrm>
            <a:custGeom>
              <a:avLst/>
              <a:gdLst>
                <a:gd name="connsiteX0" fmla="*/ 19050 w 38100"/>
                <a:gd name="connsiteY0" fmla="*/ 0 h 200025"/>
                <a:gd name="connsiteX1" fmla="*/ 0 w 38100"/>
                <a:gd name="connsiteY1" fmla="*/ 19050 h 200025"/>
                <a:gd name="connsiteX2" fmla="*/ 0 w 38100"/>
                <a:gd name="connsiteY2" fmla="*/ 180975 h 200025"/>
                <a:gd name="connsiteX3" fmla="*/ 19050 w 38100"/>
                <a:gd name="connsiteY3" fmla="*/ 200025 h 200025"/>
                <a:gd name="connsiteX4" fmla="*/ 38100 w 38100"/>
                <a:gd name="connsiteY4" fmla="*/ 180975 h 200025"/>
                <a:gd name="connsiteX5" fmla="*/ 38100 w 38100"/>
                <a:gd name="connsiteY5" fmla="*/ 19050 h 200025"/>
                <a:gd name="connsiteX6" fmla="*/ 19050 w 38100"/>
                <a:gd name="connsiteY6" fmla="*/ 0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100" h="200025">
                  <a:moveTo>
                    <a:pt x="19050" y="0"/>
                  </a:moveTo>
                  <a:cubicBezTo>
                    <a:pt x="8534" y="0"/>
                    <a:pt x="0" y="8534"/>
                    <a:pt x="0" y="19050"/>
                  </a:cubicBezTo>
                  <a:lnTo>
                    <a:pt x="0" y="180975"/>
                  </a:lnTo>
                  <a:cubicBezTo>
                    <a:pt x="0" y="191491"/>
                    <a:pt x="8534" y="200025"/>
                    <a:pt x="19050" y="200025"/>
                  </a:cubicBezTo>
                  <a:cubicBezTo>
                    <a:pt x="29566" y="200025"/>
                    <a:pt x="38100" y="191491"/>
                    <a:pt x="38100" y="180975"/>
                  </a:cubicBezTo>
                  <a:lnTo>
                    <a:pt x="38100" y="19050"/>
                  </a:lnTo>
                  <a:cubicBezTo>
                    <a:pt x="38100" y="8525"/>
                    <a:pt x="29566" y="0"/>
                    <a:pt x="1905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 dirty="0"/>
            </a:p>
          </p:txBody>
        </p:sp>
      </p:grpSp>
      <p:sp>
        <p:nvSpPr>
          <p:cNvPr id="16" name="Title 1"/>
          <p:cNvSpPr txBox="1"/>
          <p:nvPr userDrawn="1"/>
        </p:nvSpPr>
        <p:spPr>
          <a:xfrm>
            <a:off x="474130" y="2639243"/>
            <a:ext cx="3334512" cy="108011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spc="-38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6000" b="1" dirty="0">
                <a:solidFill>
                  <a:schemeClr val="bg1"/>
                </a:solidFill>
                <a:latin typeface="YESHUAH" panose="020005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Objectives</a:t>
            </a:r>
            <a:endParaRPr lang="en-US" sz="3200" b="1" dirty="0">
              <a:solidFill>
                <a:schemeClr val="bg1"/>
              </a:solidFill>
              <a:latin typeface="YESHUAH" panose="020005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908431" y="1603717"/>
            <a:ext cx="5524060" cy="31511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3200">
                <a:solidFill>
                  <a:srgbClr val="002060"/>
                </a:solidFill>
              </a:defRPr>
            </a:lvl1pPr>
          </a:lstStyle>
          <a:p>
            <a:pPr lvl="0"/>
            <a:r>
              <a:rPr lang="en-US" dirty="0"/>
              <a:t> { write your objectives}</a:t>
            </a:r>
          </a:p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EF92EB-1689-2416-7533-E53DBC8933F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81400" y="2348890"/>
            <a:ext cx="2160220" cy="216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156921" y="618977"/>
            <a:ext cx="9393848" cy="712765"/>
          </a:xfrm>
          <a:prstGeom prst="rect">
            <a:avLst/>
          </a:prstGeom>
        </p:spPr>
        <p:txBody>
          <a:bodyPr/>
          <a:lstStyle>
            <a:lvl1pPr>
              <a:defRPr lang="en-US" sz="3600" b="1" kern="1200" spc="-38" baseline="0" dirty="0">
                <a:solidFill>
                  <a:srgbClr val="002060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dirty="0"/>
              <a:t>{ Title }</a:t>
            </a:r>
          </a:p>
        </p:txBody>
      </p:sp>
      <p:sp>
        <p:nvSpPr>
          <p:cNvPr id="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1156921" y="1603717"/>
            <a:ext cx="10275570" cy="470535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2400">
                <a:solidFill>
                  <a:srgbClr val="002060"/>
                </a:solidFill>
              </a:defRPr>
            </a:lvl1pPr>
          </a:lstStyle>
          <a:p>
            <a:pPr lvl="0"/>
            <a:r>
              <a:rPr lang="en-US" dirty="0"/>
              <a:t>{write your bullet point }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/>
          <p:nvPr userDrawn="1"/>
        </p:nvSpPr>
        <p:spPr>
          <a:xfrm>
            <a:off x="1325880" y="638175"/>
            <a:ext cx="9942195" cy="66675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spc="-38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002060"/>
                </a:solidFill>
                <a:latin typeface="+mn-lt"/>
                <a:ea typeface="Cambria" panose="02040503050406030204" pitchFamily="18" charset="0"/>
              </a:rPr>
              <a:t>References</a:t>
            </a:r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1325880" y="1524000"/>
            <a:ext cx="9681949" cy="3958659"/>
          </a:xfrm>
          <a:prstGeom prst="rect">
            <a:avLst/>
          </a:prstGeom>
        </p:spPr>
        <p:txBody>
          <a:bodyPr>
            <a:normAutofit/>
          </a:bodyPr>
          <a:lstStyle>
            <a:lvl1pPr marL="91440">
              <a:spcBef>
                <a:spcPts val="0"/>
              </a:spcBef>
              <a:defRPr sz="2400">
                <a:solidFill>
                  <a:srgbClr val="002060"/>
                </a:solidFill>
              </a:defRPr>
            </a:lvl1pPr>
          </a:lstStyle>
          <a:p>
            <a:pPr lvl="0"/>
            <a:r>
              <a:rPr lang="en-US" dirty="0"/>
              <a:t>{ link to reference1, example: http://app.icraftsoft.net }</a:t>
            </a:r>
          </a:p>
          <a:p>
            <a:pPr lvl="0"/>
            <a:r>
              <a:rPr lang="en-US" dirty="0"/>
              <a:t>{ link to reference1, example: http://app.icraftsoft.net }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384E36F-A443-7521-D49B-753C50A8A8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25952" y="973836"/>
            <a:ext cx="4910328" cy="4910328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-8621" y="625480"/>
            <a:ext cx="1036320" cy="685800"/>
          </a:xfrm>
          <a:prstGeom prst="rect">
            <a:avLst/>
          </a:prstGeom>
          <a:solidFill>
            <a:srgbClr val="2567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610600" y="6181726"/>
            <a:ext cx="2743200" cy="539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36B06-9FB6-4AA1-A097-666DD28834F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073852" y="205990"/>
            <a:ext cx="944645" cy="94464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600" b="1" kern="1200" spc="-38" baseline="0">
          <a:solidFill>
            <a:schemeClr val="tx1">
              <a:lumMod val="75000"/>
              <a:lumOff val="25000"/>
            </a:schemeClr>
          </a:solidFill>
          <a:latin typeface="+mn-lt"/>
          <a:ea typeface="+mj-ea"/>
          <a:cs typeface="+mj-cs"/>
        </a:defRPr>
      </a:lvl1pPr>
    </p:titleStyle>
    <p:bodyStyle>
      <a:lvl1pPr marL="200025" indent="-200025" algn="l" defTabSz="685800" rtl="0" eaLnBrk="1" latinLnBrk="0" hangingPunct="1">
        <a:lnSpc>
          <a:spcPct val="10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Wingdings" panose="05000000000000000000" pitchFamily="2" charset="2"/>
        <a:buChar char="§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290" indent="-137160" algn="l" defTabSz="685800" rtl="0" eaLnBrk="1" latinLnBrk="0" hangingPunct="1">
        <a:lnSpc>
          <a:spcPct val="10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" panose="05000000000000000000" pitchFamily="2" charset="2"/>
        <a:buChar char="§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450" indent="-137160" algn="l" defTabSz="685800" rtl="0" eaLnBrk="1" latinLnBrk="0" hangingPunct="1">
        <a:lnSpc>
          <a:spcPct val="10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" panose="05000000000000000000" pitchFamily="2" charset="2"/>
        <a:buChar char="§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610" indent="-137160" algn="l" defTabSz="685800" rtl="0" eaLnBrk="1" latinLnBrk="0" hangingPunct="1">
        <a:lnSpc>
          <a:spcPct val="10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" panose="05000000000000000000" pitchFamily="2" charset="2"/>
        <a:buChar char="§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770" indent="-137160" algn="l" defTabSz="685800" rtl="0" eaLnBrk="1" latinLnBrk="0" hangingPunct="1">
        <a:lnSpc>
          <a:spcPct val="10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" panose="05000000000000000000" pitchFamily="2" charset="2"/>
        <a:buChar char="§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4865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anose="020F0502020204030204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4725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anose="020F0502020204030204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22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anose="020F0502020204030204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8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anose="020F0502020204030204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ECDAC-6AB4-4A7B-90D7-87428ABE7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888" y="2402501"/>
            <a:ext cx="4014216" cy="1450757"/>
          </a:xfrm>
        </p:spPr>
        <p:txBody>
          <a:bodyPr>
            <a:noAutofit/>
          </a:bodyPr>
          <a:lstStyle/>
          <a:p>
            <a:r>
              <a:rPr lang="en-US" sz="6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Microsoft</a:t>
            </a:r>
            <a:br>
              <a:rPr lang="en-US" sz="6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US" sz="4000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SharePoint Sites</a:t>
            </a:r>
            <a:endParaRPr lang="en-US" sz="7200" dirty="0">
              <a:solidFill>
                <a:srgbClr val="FFC0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0905C-A1AA-3986-D28A-042DCEF7892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mintesnot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CEBC9E-4311-34A9-0C78-FA3EC39303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14544" y="1447038"/>
            <a:ext cx="6830568" cy="45537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4E5B7AF-AF86-115E-43E7-0C4D4A85CF4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32760" y="3277017"/>
            <a:ext cx="3063240" cy="3063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913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DA5F557-19C5-3E57-5E7C-602DF20CAEE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52193" y="654839"/>
            <a:ext cx="6460032" cy="6440905"/>
          </a:xfrm>
        </p:spPr>
        <p:txBody>
          <a:bodyPr>
            <a:normAutofit/>
          </a:bodyPr>
          <a:lstStyle/>
          <a:p>
            <a:pPr>
              <a:buBlip>
                <a:blip r:embed="rId2"/>
              </a:buBlip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What is a SharePoint Site?</a:t>
            </a:r>
          </a:p>
          <a:p>
            <a:pPr>
              <a:buBlip>
                <a:blip r:embed="rId2"/>
              </a:buBlip>
            </a:pPr>
            <a:r>
              <a:rPr lang="en-US" b="1" dirty="0">
                <a:solidFill>
                  <a:srgbClr val="036C7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Key differences Classic Vs Modern</a:t>
            </a:r>
          </a:p>
          <a:p>
            <a:pPr>
              <a:buBlip>
                <a:blip r:embed="rId2"/>
              </a:buBlip>
            </a:pPr>
            <a:r>
              <a:rPr lang="en-US" dirty="0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Key Features</a:t>
            </a:r>
          </a:p>
          <a:p>
            <a:pPr>
              <a:buBlip>
                <a:blip r:embed="rId2"/>
              </a:buBlip>
            </a:pPr>
            <a:r>
              <a:rPr lang="en-US" dirty="0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Components of SharePoint</a:t>
            </a:r>
          </a:p>
          <a:p>
            <a:pPr>
              <a:buBlip>
                <a:blip r:embed="rId2"/>
              </a:buBlip>
            </a:pPr>
            <a:r>
              <a:rPr lang="en-US" dirty="0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Integrate with Microsoft 365 Ecosystem</a:t>
            </a:r>
          </a:p>
          <a:p>
            <a:pPr>
              <a:buBlip>
                <a:blip r:embed="rId2"/>
              </a:buBlip>
            </a:pPr>
            <a:r>
              <a:rPr lang="en-US" dirty="0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SharePoint Version Evolution</a:t>
            </a:r>
          </a:p>
          <a:p>
            <a:pPr>
              <a:buBlip>
                <a:blip r:embed="rId2"/>
              </a:buBlip>
            </a:pPr>
            <a:r>
              <a:rPr lang="en-US" dirty="0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Types of SharePoint Users</a:t>
            </a:r>
          </a:p>
          <a:p>
            <a:pPr>
              <a:buBlip>
                <a:blip r:embed="rId2"/>
              </a:buBlip>
            </a:pPr>
            <a:r>
              <a:rPr lang="en-US" dirty="0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SharePoint Admin Center</a:t>
            </a:r>
          </a:p>
          <a:p>
            <a:pPr>
              <a:buBlip>
                <a:blip r:embed="rId2"/>
              </a:buBlip>
            </a:pPr>
            <a:r>
              <a:rPr lang="en-US" dirty="0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SharePoint Vs OneDrive</a:t>
            </a:r>
          </a:p>
        </p:txBody>
      </p:sp>
    </p:spTree>
    <p:extLst>
      <p:ext uri="{BB962C8B-B14F-4D97-AF65-F5344CB8AC3E}">
        <p14:creationId xmlns:p14="http://schemas.microsoft.com/office/powerpoint/2010/main" val="1664880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8F284-8221-F663-451F-7F2D50BD1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7966E-1110-530F-7600-543FEB249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921" y="616107"/>
            <a:ext cx="9393848" cy="712765"/>
          </a:xfrm>
        </p:spPr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What is a SharePoint Site?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E9033-FE72-4EBC-37BD-236552CD9C8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1220" y="1328872"/>
            <a:ext cx="5630779" cy="4913021"/>
          </a:xfrm>
        </p:spPr>
        <p:txBody>
          <a:bodyPr>
            <a:normAutofit/>
          </a:bodyPr>
          <a:lstStyle/>
          <a:p>
            <a:r>
              <a:rPr lang="en-US" sz="2800" dirty="0"/>
              <a:t> A SharePoint Site is a collaborative workspace used to: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 Store documents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 Share information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 Manage content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 Collaborate with teams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 Automate business processes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FDC6455-E530-5576-A5F7-2E569BBA38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52" y="1514642"/>
            <a:ext cx="6464968" cy="4309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438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F55B2-2E8C-97CD-CC57-6C6E1091B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B203ACB-9836-916D-F531-D38C8A2033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775" y="1851320"/>
            <a:ext cx="6922046" cy="461469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5A4363E-D772-ED68-F757-99BEC08DC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Classic Sites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6750FB-2428-4D64-C28C-D8195723E2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70821" y="1459338"/>
            <a:ext cx="4764505" cy="5398662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/>
              <a:t> </a:t>
            </a:r>
            <a:r>
              <a:rPr lang="en-US" b="1" dirty="0">
                <a:solidFill>
                  <a:srgbClr val="036C7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Class sites </a:t>
            </a:r>
            <a:r>
              <a:rPr lang="en-US" dirty="0"/>
              <a:t>are the older SharePoint user interface and architecture used before the modern experience.</a:t>
            </a:r>
          </a:p>
          <a:p>
            <a:pPr algn="just"/>
            <a:r>
              <a:rPr lang="en-US" dirty="0"/>
              <a:t> They are commonly found in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b="1" dirty="0"/>
              <a:t> Older SharePoint environments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b="1" dirty="0"/>
              <a:t> Legacy systems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b="1" dirty="0"/>
              <a:t> Customized enterprise portals</a:t>
            </a:r>
          </a:p>
          <a:p>
            <a:pPr algn="just"/>
            <a:r>
              <a:rPr lang="en-US" dirty="0"/>
              <a:t> Features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b="1" dirty="0"/>
              <a:t> Traditional  page design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b="1" dirty="0"/>
              <a:t> Ribbon interface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b="1" dirty="0"/>
              <a:t> Heavy customization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b="1" dirty="0"/>
              <a:t> Web Part Pages</a:t>
            </a:r>
          </a:p>
        </p:txBody>
      </p:sp>
    </p:spTree>
    <p:extLst>
      <p:ext uri="{BB962C8B-B14F-4D97-AF65-F5344CB8AC3E}">
        <p14:creationId xmlns:p14="http://schemas.microsoft.com/office/powerpoint/2010/main" val="15057850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CF7D4-922E-EA37-2B0E-01B500192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6717F48-A705-2558-720E-F871E91118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68886"/>
            <a:ext cx="6555205" cy="437013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E92B-2A0F-40AB-B929-5EB6C733F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Modern Sites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DADB6D-DE36-97B4-29A7-A8C07B513D2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55205" y="1354623"/>
            <a:ext cx="5486400" cy="5398662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 </a:t>
            </a:r>
            <a:r>
              <a:rPr lang="en-US" b="1" dirty="0">
                <a:solidFill>
                  <a:srgbClr val="036C7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Modern SharePoint sites </a:t>
            </a:r>
            <a:r>
              <a:rPr lang="en-US" dirty="0"/>
              <a:t>are the new responsive and user-friendly SharePoint experience introduced in newer versions of SharePoint and SharePoint Online.</a:t>
            </a:r>
          </a:p>
          <a:p>
            <a:pPr algn="just"/>
            <a:r>
              <a:rPr lang="en-US" dirty="0"/>
              <a:t> Designed for: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b="1" dirty="0"/>
              <a:t> Better collaboration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b="1" dirty="0"/>
              <a:t> Mobile responsiveness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b="1" dirty="0"/>
              <a:t> Faster performance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b="1" dirty="0"/>
              <a:t> Easier content creation</a:t>
            </a:r>
          </a:p>
        </p:txBody>
      </p:sp>
    </p:spTree>
    <p:extLst>
      <p:ext uri="{BB962C8B-B14F-4D97-AF65-F5344CB8AC3E}">
        <p14:creationId xmlns:p14="http://schemas.microsoft.com/office/powerpoint/2010/main" val="6965440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5AC7B-04BC-F64F-721F-7D3AF774F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Architectural &amp; Design Core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4290E8-2F0D-3C23-E05D-060AC17761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algn="just"/>
            <a:r>
              <a:rPr lang="en-US" dirty="0"/>
              <a:t> The most fundamental shift isn’t just cosmetic; it’s how data and sites are structured.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74888FA-A63C-D355-AE43-F88E3FA829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9008328"/>
              </p:ext>
            </p:extLst>
          </p:nvPr>
        </p:nvGraphicFramePr>
        <p:xfrm>
          <a:off x="208546" y="2374233"/>
          <a:ext cx="11678653" cy="4362949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181728">
                  <a:extLst>
                    <a:ext uri="{9D8B030D-6E8A-4147-A177-3AD203B41FA5}">
                      <a16:colId xmlns:a16="http://schemas.microsoft.com/office/drawing/2014/main" val="470776211"/>
                    </a:ext>
                  </a:extLst>
                </a:gridCol>
                <a:gridCol w="4807600">
                  <a:extLst>
                    <a:ext uri="{9D8B030D-6E8A-4147-A177-3AD203B41FA5}">
                      <a16:colId xmlns:a16="http://schemas.microsoft.com/office/drawing/2014/main" val="1019660400"/>
                    </a:ext>
                  </a:extLst>
                </a:gridCol>
                <a:gridCol w="4689325">
                  <a:extLst>
                    <a:ext uri="{9D8B030D-6E8A-4147-A177-3AD203B41FA5}">
                      <a16:colId xmlns:a16="http://schemas.microsoft.com/office/drawing/2014/main" val="375588374"/>
                    </a:ext>
                  </a:extLst>
                </a:gridCol>
              </a:tblGrid>
              <a:tr h="497169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rgbClr val="036C7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rgbClr val="036C7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Classic Experience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rgbClr val="036C7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Modern Experience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9263078"/>
                  </a:ext>
                </a:extLst>
              </a:tr>
              <a:tr h="1338530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Site Architecture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036C7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Deep Hierarchies</a:t>
                      </a:r>
                      <a:r>
                        <a:rPr lang="en-US" sz="1800" dirty="0"/>
                        <a:t>: Relies on a single top-level Site Collection with multiple nested subsites (parent-child relationship). Rigid and hard to recognize.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036C7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Flat Architecture</a:t>
                      </a:r>
                      <a:r>
                        <a:rPr lang="en-US" sz="1800" dirty="0"/>
                        <a:t>: Every site is an independent Site Collection. Reorganizations are managed dynamically using Hub Sites to group related sites together.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7398213"/>
                  </a:ext>
                </a:extLst>
              </a:tr>
              <a:tr h="1032580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Mobile Responsiveness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036C7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Poor/Manual</a:t>
                      </a:r>
                      <a:r>
                        <a:rPr lang="en-US" sz="1800" dirty="0"/>
                        <a:t>: Pages do not scale automatically. Requires extensive custom CSS or separate mobile views to look decent on a phone.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036C7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Native Responsiveness</a:t>
                      </a:r>
                      <a:r>
                        <a:rPr lang="en-US" sz="1800" dirty="0"/>
                        <a:t>: Every page, list, library, and web part adapts automatically to mobile devices, tablets, and desktops out-of-the-box.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7047288"/>
                  </a:ext>
                </a:extLst>
              </a:tr>
              <a:tr h="1338530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Branding &amp; Layout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036C7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Rigid Layouts / High Code</a:t>
                      </a:r>
                      <a:r>
                        <a:rPr lang="en-US" sz="1800" dirty="0"/>
                        <a:t>: Uses master pages, alternative CSS, and fixed web part zones. Changing layout configurations after creation is nearly impossible.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036C7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Flexible Layout / Low Code</a:t>
                      </a:r>
                      <a:r>
                        <a:rPr lang="en-US" sz="1800" dirty="0"/>
                        <a:t>: Uses can be updated on the fly using a drag-and-drop editor. No master pages. 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67043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1479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9E710-0F80-5497-437B-17D26E5F5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E822C31-CF0C-C96A-C0E5-64336A407E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15692"/>
            <a:ext cx="6799851" cy="45332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C1BD11-AC3E-3F20-48F0-9A568C680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921" y="616107"/>
            <a:ext cx="9393848" cy="712765"/>
          </a:xfrm>
        </p:spPr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Technical &amp; Functional Breakdown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533C78-1BDE-989E-EA23-13CB671E101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93305" y="1328872"/>
            <a:ext cx="5470358" cy="5745696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b="1" dirty="0">
                <a:solidFill>
                  <a:srgbClr val="036C7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Team Sites &amp; Ecosystem Integration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sz="2800" dirty="0"/>
              <a:t>  </a:t>
            </a:r>
            <a:r>
              <a:rPr lang="en-US" sz="2800" b="1" dirty="0"/>
              <a:t>Classic</a:t>
            </a:r>
            <a:r>
              <a:rPr lang="en-US" sz="2800" dirty="0"/>
              <a:t>: Independent, standalone environments. If you wanted a shared calendar or a task list, you had to build custom SharePoint lists that didn’t natively talk to Exchange or Outlook.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sz="2800" dirty="0"/>
              <a:t> </a:t>
            </a:r>
            <a:r>
              <a:rPr lang="en-US" sz="2800" b="1" dirty="0"/>
              <a:t>Modern</a:t>
            </a:r>
            <a:r>
              <a:rPr lang="en-US" sz="2800" dirty="0"/>
              <a:t>: Inherently tied to Microsoft 365 Groups. Creating a modern Team site automatically provisions a shared Outlook inbox, an Exchange calendar, a Planner board, a OneNote notebook, and a Microsoft Teams channel.</a:t>
            </a:r>
          </a:p>
        </p:txBody>
      </p:sp>
    </p:spTree>
    <p:extLst>
      <p:ext uri="{BB962C8B-B14F-4D97-AF65-F5344CB8AC3E}">
        <p14:creationId xmlns:p14="http://schemas.microsoft.com/office/powerpoint/2010/main" val="1234233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7DDB6-087A-6EFD-C983-116CF2F87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BA2E6-DCB4-EF6A-B93C-18F54BEFC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921" y="616107"/>
            <a:ext cx="9393848" cy="712765"/>
          </a:xfrm>
        </p:spPr>
        <p:txBody>
          <a:bodyPr/>
          <a:lstStyle/>
          <a:p>
            <a:r>
              <a:rPr lang="en-US" dirty="0">
                <a:solidFill>
                  <a:srgbClr val="036C7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…</a:t>
            </a:r>
            <a:endParaRPr lang="en-US" dirty="0">
              <a:solidFill>
                <a:srgbClr val="036C7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F428B5-B74C-9040-6082-911BB2BF8F4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85811" y="972489"/>
            <a:ext cx="5388623" cy="6141351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en-US" sz="2800" b="1" dirty="0">
                <a:solidFill>
                  <a:srgbClr val="036C7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Pages and Web Parts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sz="2800" dirty="0"/>
              <a:t>  </a:t>
            </a:r>
            <a:r>
              <a:rPr lang="en-US" sz="2800" b="1" dirty="0"/>
              <a:t>Classic</a:t>
            </a:r>
            <a:r>
              <a:rPr lang="en-US" sz="2800" dirty="0"/>
              <a:t>: Relies on Wiki pages or Web Part pages. It supports the execution of custom script injections (like Script Editor or Content Editor web parts), allowing developers to inject arbitrary JavaScript (</a:t>
            </a:r>
            <a:r>
              <a:rPr lang="en-US" sz="2800" dirty="0">
                <a:highlight>
                  <a:srgbClr val="808080"/>
                </a:highlight>
              </a:rPr>
              <a:t>JScript</a:t>
            </a:r>
            <a:r>
              <a:rPr lang="en-US" sz="2800" dirty="0"/>
              <a:t>). While highly customizable, this introduces massive security risks and breaks during platform updates.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sz="2800" dirty="0"/>
              <a:t> </a:t>
            </a:r>
            <a:r>
              <a:rPr lang="en-US" sz="2800" b="1" dirty="0"/>
              <a:t>Modern</a:t>
            </a:r>
            <a:r>
              <a:rPr lang="en-US" sz="2800" dirty="0"/>
              <a:t>: Built on the SharePoint Framework (SPFx). Script injection is strictly disabled for security. Instead, users utilize safe, pre-built modern web parts (News, Quick Links, Highlighted Content). For advanced custom needs, developers build secure SPFx components that run entirely client-side.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4C92223-307E-5119-B856-22C5EE1AB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66" y="1685254"/>
            <a:ext cx="6768245" cy="4512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8717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22DCB-DDA5-5CCE-303E-B601FB77F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EDA63-534F-EDBB-E17E-0657A7E56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921" y="616107"/>
            <a:ext cx="9393848" cy="712765"/>
          </a:xfrm>
        </p:spPr>
        <p:txBody>
          <a:bodyPr/>
          <a:lstStyle/>
          <a:p>
            <a:r>
              <a:rPr lang="en-US" dirty="0">
                <a:solidFill>
                  <a:srgbClr val="036C7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…</a:t>
            </a:r>
            <a:endParaRPr lang="en-US" dirty="0">
              <a:solidFill>
                <a:srgbClr val="036C7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C50EB0-4775-5A77-65A3-EC9FAB2FEF5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49979" y="985619"/>
            <a:ext cx="5164034" cy="5620816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US" sz="2800" b="1" dirty="0">
                <a:solidFill>
                  <a:srgbClr val="036C7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Document Libraries and Lists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sz="2800" dirty="0"/>
              <a:t>  </a:t>
            </a:r>
            <a:r>
              <a:rPr lang="en-US" sz="2800" b="1" dirty="0"/>
              <a:t>Classic</a:t>
            </a:r>
            <a:r>
              <a:rPr lang="en-US" sz="2800" dirty="0"/>
              <a:t>: Slower performance because the interface renders on the server. Moving or copying files requires multi-step manual processes  or old-school open-with-explorer tools.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sz="2800" dirty="0"/>
              <a:t> </a:t>
            </a:r>
            <a:r>
              <a:rPr lang="en-US" sz="2800" b="1" dirty="0"/>
              <a:t>Modern</a:t>
            </a:r>
            <a:r>
              <a:rPr lang="en-US" sz="2800" dirty="0"/>
              <a:t>: Fluid, client-side interface. Users can easily copy/move files using a top command bar, pin important documents to the top, apply conditional formatting, and perform inline editing without page refreshes.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2F2802-5308-9DFA-D8D6-F5BC6C32CA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07" y="1514036"/>
            <a:ext cx="6872945" cy="4581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058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807BB-9CF5-84D4-A58C-23A8DCA46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24757-9E24-5C02-0A70-C5803F621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921" y="616107"/>
            <a:ext cx="9393848" cy="712765"/>
          </a:xfrm>
        </p:spPr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Key Differences: Classic Vs. Modern</a:t>
            </a: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F5A9262-1564-AC88-FDED-6C8BDCBA63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9111850"/>
              </p:ext>
            </p:extLst>
          </p:nvPr>
        </p:nvGraphicFramePr>
        <p:xfrm>
          <a:off x="256674" y="1459832"/>
          <a:ext cx="11710738" cy="528187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256556">
                  <a:extLst>
                    <a:ext uri="{9D8B030D-6E8A-4147-A177-3AD203B41FA5}">
                      <a16:colId xmlns:a16="http://schemas.microsoft.com/office/drawing/2014/main" val="470776211"/>
                    </a:ext>
                  </a:extLst>
                </a:gridCol>
                <a:gridCol w="4751973">
                  <a:extLst>
                    <a:ext uri="{9D8B030D-6E8A-4147-A177-3AD203B41FA5}">
                      <a16:colId xmlns:a16="http://schemas.microsoft.com/office/drawing/2014/main" val="1019660400"/>
                    </a:ext>
                  </a:extLst>
                </a:gridCol>
                <a:gridCol w="4702209">
                  <a:extLst>
                    <a:ext uri="{9D8B030D-6E8A-4147-A177-3AD203B41FA5}">
                      <a16:colId xmlns:a16="http://schemas.microsoft.com/office/drawing/2014/main" val="375588374"/>
                    </a:ext>
                  </a:extLst>
                </a:gridCol>
              </a:tblGrid>
              <a:tr h="378860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rgbClr val="036C7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rgbClr val="036C7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Classic Sites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rgbClr val="036C7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Modern Sites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9263078"/>
                  </a:ext>
                </a:extLst>
              </a:tr>
              <a:tr h="450986">
                <a:tc>
                  <a:txBody>
                    <a:bodyPr/>
                    <a:lstStyle/>
                    <a:p>
                      <a:r>
                        <a:rPr lang="en-US" sz="1600" b="1" dirty="0"/>
                        <a:t>User  Interface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Outdated ribbon interface, cluttered, less intuitive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Clean, modern, intuitive, command bar; highly visual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7398213"/>
                  </a:ext>
                </a:extLst>
              </a:tr>
              <a:tr h="503425">
                <a:tc>
                  <a:txBody>
                    <a:bodyPr/>
                    <a:lstStyle/>
                    <a:p>
                      <a:r>
                        <a:rPr lang="en-US" sz="1600" b="1" dirty="0"/>
                        <a:t>Mobile Responsiveness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Limited; requires custom work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Full responsive; excellent on phones, tablets, desktops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7047288"/>
                  </a:ext>
                </a:extLst>
              </a:tr>
              <a:tr h="553719">
                <a:tc>
                  <a:txBody>
                    <a:bodyPr/>
                    <a:lstStyle/>
                    <a:p>
                      <a:r>
                        <a:rPr lang="en-US" sz="1600" b="1" dirty="0"/>
                        <a:t>Architecture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Subsite hierarchy (complex navigation &amp; permissions)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Flat architecture; independent sites connected via Hub Sites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6704357"/>
                  </a:ext>
                </a:extLst>
              </a:tr>
              <a:tr h="553719">
                <a:tc>
                  <a:txBody>
                    <a:bodyPr/>
                    <a:lstStyle/>
                    <a:p>
                      <a:r>
                        <a:rPr lang="en-US" sz="1600" b="1" dirty="0"/>
                        <a:t>Microsoft 365 Groups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No native integration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Team sites are connected to M365 Groups (Teams, Planner, etc.).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0567304"/>
                  </a:ext>
                </a:extLst>
              </a:tr>
              <a:tr h="493193">
                <a:tc>
                  <a:txBody>
                    <a:bodyPr/>
                    <a:lstStyle/>
                    <a:p>
                      <a:r>
                        <a:rPr lang="en-US" sz="1600" b="1" dirty="0"/>
                        <a:t>Pages &amp; Web Parts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Classic web parts, wiki pages; more coding needed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Modern web parts (drag-and-drop); responsive pages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2006373"/>
                  </a:ext>
                </a:extLst>
              </a:tr>
              <a:tr h="553719">
                <a:tc>
                  <a:txBody>
                    <a:bodyPr/>
                    <a:lstStyle/>
                    <a:p>
                      <a:r>
                        <a:rPr lang="en-US" sz="1600" b="1" dirty="0"/>
                        <a:t>Lists &amp; Libraries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Older view; full page reloads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Faster, inline editing, conditional formatting, quick filters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3131654"/>
                  </a:ext>
                </a:extLst>
              </a:tr>
              <a:tr h="320574">
                <a:tc>
                  <a:txBody>
                    <a:bodyPr/>
                    <a:lstStyle/>
                    <a:p>
                      <a:r>
                        <a:rPr lang="en-US" sz="1600" b="1" dirty="0"/>
                        <a:t>Search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Classic search experience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Microsoft Search (more intelligent, contextual)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7577836"/>
                  </a:ext>
                </a:extLst>
              </a:tr>
              <a:tr h="320574">
                <a:tc>
                  <a:txBody>
                    <a:bodyPr/>
                    <a:lstStyle/>
                    <a:p>
                      <a:r>
                        <a:rPr lang="en-US" sz="1600" b="1" dirty="0"/>
                        <a:t>Performance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Slower, especially with customizations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Faster load times and better scalability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8402394"/>
                  </a:ext>
                </a:extLst>
              </a:tr>
              <a:tr h="450986">
                <a:tc>
                  <a:txBody>
                    <a:bodyPr/>
                    <a:lstStyle/>
                    <a:p>
                      <a:r>
                        <a:rPr lang="en-US" sz="1600" b="1" dirty="0"/>
                        <a:t>Customization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Deep (master pages, custom code, farm solutions)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Easier (themes, SPFx, extensions); less code required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3519028"/>
                  </a:ext>
                </a:extLst>
              </a:tr>
              <a:tr h="553719">
                <a:tc>
                  <a:txBody>
                    <a:bodyPr/>
                    <a:lstStyle/>
                    <a:p>
                      <a:r>
                        <a:rPr lang="en-US" sz="1600" b="1" dirty="0"/>
                        <a:t>Integration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Limited with modern Microsoft 365  tools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Seamless with Teams, Power Automate, Power Apps, etc.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13515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04831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6FA82-114D-A3E4-5ACD-183F39100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A9CFE-4CFD-1A8A-3E98-D0928F162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921" y="616107"/>
            <a:ext cx="9393848" cy="712765"/>
          </a:xfrm>
        </p:spPr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Comparison Table</a:t>
            </a: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53C7270-7172-64A9-1D6C-66F223BA77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5392864"/>
              </p:ext>
            </p:extLst>
          </p:nvPr>
        </p:nvGraphicFramePr>
        <p:xfrm>
          <a:off x="256674" y="1459832"/>
          <a:ext cx="11710738" cy="4547535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4026568">
                  <a:extLst>
                    <a:ext uri="{9D8B030D-6E8A-4147-A177-3AD203B41FA5}">
                      <a16:colId xmlns:a16="http://schemas.microsoft.com/office/drawing/2014/main" val="470776211"/>
                    </a:ext>
                  </a:extLst>
                </a:gridCol>
                <a:gridCol w="2981961">
                  <a:extLst>
                    <a:ext uri="{9D8B030D-6E8A-4147-A177-3AD203B41FA5}">
                      <a16:colId xmlns:a16="http://schemas.microsoft.com/office/drawing/2014/main" val="1019660400"/>
                    </a:ext>
                  </a:extLst>
                </a:gridCol>
                <a:gridCol w="4702209">
                  <a:extLst>
                    <a:ext uri="{9D8B030D-6E8A-4147-A177-3AD203B41FA5}">
                      <a16:colId xmlns:a16="http://schemas.microsoft.com/office/drawing/2014/main" val="375588374"/>
                    </a:ext>
                  </a:extLst>
                </a:gridCol>
              </a:tblGrid>
              <a:tr h="378860">
                <a:tc>
                  <a:txBody>
                    <a:bodyPr/>
                    <a:lstStyle/>
                    <a:p>
                      <a:r>
                        <a:rPr lang="en-US" sz="2800" b="0" dirty="0">
                          <a:solidFill>
                            <a:srgbClr val="036C7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0" dirty="0">
                          <a:solidFill>
                            <a:srgbClr val="036C7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Classic Site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0" dirty="0">
                          <a:solidFill>
                            <a:srgbClr val="036C7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Modern Site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9263078"/>
                  </a:ext>
                </a:extLst>
              </a:tr>
              <a:tr h="450986">
                <a:tc>
                  <a:txBody>
                    <a:bodyPr/>
                    <a:lstStyle/>
                    <a:p>
                      <a:r>
                        <a:rPr lang="en-US" sz="2400" b="1" dirty="0"/>
                        <a:t>Interface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Traditional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Modern UI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7398213"/>
                  </a:ext>
                </a:extLst>
              </a:tr>
              <a:tr h="503425">
                <a:tc>
                  <a:txBody>
                    <a:bodyPr/>
                    <a:lstStyle/>
                    <a:p>
                      <a:r>
                        <a:rPr lang="en-US" sz="2400" b="1" dirty="0"/>
                        <a:t>Mobile Friendly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❌ No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✅ Yes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7047288"/>
                  </a:ext>
                </a:extLst>
              </a:tr>
              <a:tr h="553719">
                <a:tc>
                  <a:txBody>
                    <a:bodyPr/>
                    <a:lstStyle/>
                    <a:p>
                      <a:r>
                        <a:rPr lang="en-US" sz="2400" b="1" dirty="0"/>
                        <a:t>Performance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Slower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Faster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6704357"/>
                  </a:ext>
                </a:extLst>
              </a:tr>
              <a:tr h="553719">
                <a:tc>
                  <a:txBody>
                    <a:bodyPr/>
                    <a:lstStyle/>
                    <a:p>
                      <a:r>
                        <a:rPr lang="en-US" sz="2400" b="1" dirty="0"/>
                        <a:t>Customization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Slower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Faster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0567304"/>
                  </a:ext>
                </a:extLst>
              </a:tr>
              <a:tr h="493193">
                <a:tc>
                  <a:txBody>
                    <a:bodyPr/>
                    <a:lstStyle/>
                    <a:p>
                      <a:r>
                        <a:rPr lang="en-US" sz="2400" b="1" dirty="0"/>
                        <a:t>User Experience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Complex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Simple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2006373"/>
                  </a:ext>
                </a:extLst>
              </a:tr>
              <a:tr h="553719">
                <a:tc>
                  <a:txBody>
                    <a:bodyPr/>
                    <a:lstStyle/>
                    <a:p>
                      <a:r>
                        <a:rPr lang="en-US" sz="2400" b="1" dirty="0"/>
                        <a:t>Microsoft 365 Integration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Limited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Strong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3131654"/>
                  </a:ext>
                </a:extLst>
              </a:tr>
              <a:tr h="320574">
                <a:tc>
                  <a:txBody>
                    <a:bodyPr/>
                    <a:lstStyle/>
                    <a:p>
                      <a:r>
                        <a:rPr lang="en-US" sz="2400" b="1" dirty="0"/>
                        <a:t>Responsive Design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No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Yes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7577836"/>
                  </a:ext>
                </a:extLst>
              </a:tr>
              <a:tr h="320574">
                <a:tc>
                  <a:txBody>
                    <a:bodyPr/>
                    <a:lstStyle/>
                    <a:p>
                      <a:r>
                        <a:rPr lang="en-US" sz="2400" b="1" dirty="0"/>
                        <a:t>Future Support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Limited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Recommended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84023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03350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661CD-5BEC-4851-4CC1-3E12698BF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BE0348F-C057-5BF9-BC4C-409D867B5C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64" y="1331742"/>
            <a:ext cx="7375389" cy="49169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8D9EAC7-B2DB-9887-3B90-F5ADE31F4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Visual Comparison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1EB457-1997-BA44-BD90-21A557C7B0D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411453" y="1459338"/>
            <a:ext cx="5839326" cy="5398662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3600" b="1" dirty="0">
                <a:solidFill>
                  <a:srgbClr val="036C7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Classic Site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sz="3600" dirty="0"/>
              <a:t>  Ribbon menu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sz="3600" dirty="0"/>
              <a:t>  Older layout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sz="3600" dirty="0"/>
              <a:t>  Complex navigation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600" b="1" dirty="0">
                <a:solidFill>
                  <a:srgbClr val="036C7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Modern Site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sz="3600" dirty="0"/>
              <a:t> Cleaner interface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sz="3600" dirty="0"/>
              <a:t> Mobile responsive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sz="3600" dirty="0"/>
              <a:t> Better user experience</a:t>
            </a:r>
          </a:p>
        </p:txBody>
      </p:sp>
    </p:spTree>
    <p:extLst>
      <p:ext uri="{BB962C8B-B14F-4D97-AF65-F5344CB8AC3E}">
        <p14:creationId xmlns:p14="http://schemas.microsoft.com/office/powerpoint/2010/main" val="16115799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D0035-44B5-BEF3-09BB-9C8730D3C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SharePoint Site Collection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936FD-D6A0-7805-5D9F-E9451C55E03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4400" y="1524000"/>
            <a:ext cx="11004883" cy="5334000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/>
              <a:t> A site collection is a logical container (grouping) in SharePoint consisting of: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 One top-level site + any associated subsites (in classic setups).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800" dirty="0"/>
              <a:t> Shared administrative settings, features, permissions, quotas, and content  databases (in on-premises).</a:t>
            </a:r>
          </a:p>
          <a:p>
            <a:pPr algn="just"/>
            <a:r>
              <a:rPr lang="en-US" sz="2800" dirty="0"/>
              <a:t> It serves as a boundary for: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sz="2800" dirty="0"/>
              <a:t> Permissions &amp; security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sz="2800" dirty="0"/>
              <a:t> Site features &amp; templates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sz="2800" dirty="0"/>
              <a:t> Storage quotas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sz="2800" dirty="0"/>
              <a:t> Navigation &amp; branding (in classic)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800" dirty="0"/>
              <a:t> </a:t>
            </a:r>
            <a:r>
              <a:rPr lang="en-US" sz="2800" b="1" u="sng" dirty="0"/>
              <a:t>Modern Note</a:t>
            </a:r>
            <a:r>
              <a:rPr lang="en-US" sz="2800" dirty="0"/>
              <a:t>: In SharePoint Online / Microsoft 365, every new site is essentially its own site collection (flat model), and we often just call them “sites”.</a:t>
            </a:r>
          </a:p>
        </p:txBody>
      </p:sp>
    </p:spTree>
    <p:extLst>
      <p:ext uri="{BB962C8B-B14F-4D97-AF65-F5344CB8AC3E}">
        <p14:creationId xmlns:p14="http://schemas.microsoft.com/office/powerpoint/2010/main" val="16278278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260EC-E065-4F33-846D-D0DF27417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DFFB6-48E8-6437-E892-54D0BAD26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Components of a Site Collection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4A0F70-07A0-2B21-09AE-59CBF75ABDF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218947" y="1331742"/>
            <a:ext cx="6673515" cy="5526258"/>
          </a:xfrm>
        </p:spPr>
        <p:txBody>
          <a:bodyPr>
            <a:normAutofit/>
          </a:bodyPr>
          <a:lstStyle/>
          <a:p>
            <a:r>
              <a:rPr lang="en-US" sz="2600" dirty="0">
                <a:solidFill>
                  <a:srgbClr val="036C7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sz="2600" b="1" dirty="0">
                <a:solidFill>
                  <a:srgbClr val="036C7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Top-Level Site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200" dirty="0">
                <a:latin typeface="Agency FB" panose="020B0503020202020204" pitchFamily="34" charset="0"/>
              </a:rPr>
              <a:t> Main parent site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200" dirty="0">
                <a:latin typeface="Agency FB" panose="020B0503020202020204" pitchFamily="34" charset="0"/>
              </a:rPr>
              <a:t> Controls settings and permissions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200" dirty="0">
                <a:latin typeface="Agency FB" panose="020B0503020202020204" pitchFamily="34" charset="0"/>
              </a:rPr>
              <a:t> Entry point of the site collection</a:t>
            </a:r>
            <a:endParaRPr lang="en-US" sz="1750" dirty="0"/>
          </a:p>
          <a:p>
            <a:r>
              <a:rPr lang="en-US" sz="2600" b="1" dirty="0">
                <a:solidFill>
                  <a:srgbClr val="036C7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Subsites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000" dirty="0">
                <a:latin typeface="Agency FB" panose="020B0503020202020204" pitchFamily="34" charset="0"/>
              </a:rPr>
              <a:t>  Child sites created under the parent site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000" dirty="0">
                <a:latin typeface="Agency FB" panose="020B0503020202020204" pitchFamily="34" charset="0"/>
              </a:rPr>
              <a:t>  Used for departments or projects</a:t>
            </a:r>
            <a:endParaRPr lang="en-US" sz="3600" dirty="0">
              <a:latin typeface="Agency FB" panose="020B0503020202020204" pitchFamily="34" charset="0"/>
            </a:endParaRPr>
          </a:p>
          <a:p>
            <a:r>
              <a:rPr lang="en-US" sz="2600" dirty="0"/>
              <a:t> </a:t>
            </a:r>
            <a:r>
              <a:rPr lang="en-US" sz="2600" b="1" dirty="0">
                <a:solidFill>
                  <a:srgbClr val="036C7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Shared Resources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200" dirty="0">
                <a:latin typeface="Agency FB" panose="020B0503020202020204" pitchFamily="34" charset="0"/>
              </a:rPr>
              <a:t> Permissions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200" dirty="0">
                <a:latin typeface="Agency FB" panose="020B0503020202020204" pitchFamily="34" charset="0"/>
              </a:rPr>
              <a:t> Site columns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200" dirty="0">
                <a:latin typeface="Agency FB" panose="020B0503020202020204" pitchFamily="34" charset="0"/>
              </a:rPr>
              <a:t> Templates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200" dirty="0">
                <a:latin typeface="Agency FB" panose="020B0503020202020204" pitchFamily="34" charset="0"/>
              </a:rPr>
              <a:t> Storage quota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200" dirty="0">
                <a:latin typeface="Agency FB" panose="020B0503020202020204" pitchFamily="34" charset="0"/>
              </a:rPr>
              <a:t> Navigation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06D1B0-507A-AF80-F242-B3B46C38D6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53" y="1724659"/>
            <a:ext cx="7110636" cy="4740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1225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A92A2-77DE-F625-27AE-E26D6258E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D9B31-0D1E-C9FB-1261-3F0CC3B58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Key Features of Site Collections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0810CF-3CA2-6CE6-ADDA-472975813AD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4400" y="1524000"/>
            <a:ext cx="11004883" cy="533400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 Unique URL (e.g., </a:t>
            </a:r>
            <a:r>
              <a:rPr lang="en-US" sz="2800" dirty="0">
                <a:solidFill>
                  <a:schemeClr val="bg1"/>
                </a:solidFill>
                <a:highlight>
                  <a:srgbClr val="036C70"/>
                </a:highlight>
              </a:rPr>
              <a:t>craftsofttech.sharepoint.com/sites/Department</a:t>
            </a:r>
            <a:r>
              <a:rPr lang="en-US" sz="2800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 Independent permissions (own owners, members, visitors).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 Site collection features (e.g., workflows, content types, custom solutions).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 Storage quota &amp; resource management.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 Recycle bin scoped at collection level.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 Support for content types, templates, and apps.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 Integration with Microsoft 365 Groups (for Team Sites).</a:t>
            </a:r>
          </a:p>
        </p:txBody>
      </p:sp>
    </p:spTree>
    <p:extLst>
      <p:ext uri="{BB962C8B-B14F-4D97-AF65-F5344CB8AC3E}">
        <p14:creationId xmlns:p14="http://schemas.microsoft.com/office/powerpoint/2010/main" val="25240620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19101-AF97-09E7-C5B8-45889B657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4EB54-7B35-52E2-7EB9-2451E60A0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Site Collection Vs. Site Vs. Subsite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096355-4077-F777-2BBF-B0FC9700D58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10653" y="5406189"/>
            <a:ext cx="11004883" cy="1235242"/>
          </a:xfrm>
        </p:spPr>
        <p:txBody>
          <a:bodyPr>
            <a:normAutofit/>
          </a:bodyPr>
          <a:lstStyle/>
          <a:p>
            <a:pPr>
              <a:buBlip>
                <a:blip r:embed="rId2"/>
              </a:buBlip>
            </a:pPr>
            <a:r>
              <a:rPr lang="en-US" sz="2800" b="1" dirty="0">
                <a:solidFill>
                  <a:srgbClr val="036C7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Rule of thumb</a:t>
            </a:r>
            <a:r>
              <a:rPr lang="en-US" sz="2800" dirty="0"/>
              <a:t>: Create a new site (site collection) for each discrete unit of work, team, project, or department.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7AB65D0-D191-CAAB-1798-C28E4B8E92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452810"/>
              </p:ext>
            </p:extLst>
          </p:nvPr>
        </p:nvGraphicFramePr>
        <p:xfrm>
          <a:off x="1130966" y="1652337"/>
          <a:ext cx="10499560" cy="3753851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610122">
                  <a:extLst>
                    <a:ext uri="{9D8B030D-6E8A-4147-A177-3AD203B41FA5}">
                      <a16:colId xmlns:a16="http://schemas.microsoft.com/office/drawing/2014/main" val="470776211"/>
                    </a:ext>
                  </a:extLst>
                </a:gridCol>
                <a:gridCol w="2673553">
                  <a:extLst>
                    <a:ext uri="{9D8B030D-6E8A-4147-A177-3AD203B41FA5}">
                      <a16:colId xmlns:a16="http://schemas.microsoft.com/office/drawing/2014/main" val="1019660400"/>
                    </a:ext>
                  </a:extLst>
                </a:gridCol>
                <a:gridCol w="4215885">
                  <a:extLst>
                    <a:ext uri="{9D8B030D-6E8A-4147-A177-3AD203B41FA5}">
                      <a16:colId xmlns:a16="http://schemas.microsoft.com/office/drawing/2014/main" val="375588374"/>
                    </a:ext>
                  </a:extLst>
                </a:gridCol>
              </a:tblGrid>
              <a:tr h="599019"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rgbClr val="036C7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Concept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rgbClr val="036C7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rgbClr val="036C7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Modern Recommendation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9263078"/>
                  </a:ext>
                </a:extLst>
              </a:tr>
              <a:tr h="918495">
                <a:tc>
                  <a:txBody>
                    <a:bodyPr/>
                    <a:lstStyle/>
                    <a:p>
                      <a:r>
                        <a:rPr lang="en-US" sz="2400" b="1" dirty="0"/>
                        <a:t>Site Collection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Top-level container with shared settings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Every new “site” is one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7398213"/>
                  </a:ext>
                </a:extLst>
              </a:tr>
              <a:tr h="1317842">
                <a:tc>
                  <a:txBody>
                    <a:bodyPr/>
                    <a:lstStyle/>
                    <a:p>
                      <a:r>
                        <a:rPr lang="en-US" sz="2400" b="1" dirty="0"/>
                        <a:t>Site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The actual workspace (Team or Communication)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Primary building block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7047288"/>
                  </a:ext>
                </a:extLst>
              </a:tr>
              <a:tr h="918495">
                <a:tc>
                  <a:txBody>
                    <a:bodyPr/>
                    <a:lstStyle/>
                    <a:p>
                      <a:r>
                        <a:rPr lang="en-US" sz="2400" b="1" dirty="0"/>
                        <a:t>Subsite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Nested site under a collection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Avoid – use separate sites + Hubs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67043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44181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2193</TotalTime>
  <Words>1216</Words>
  <Application>Microsoft Office PowerPoint</Application>
  <PresentationFormat>Widescreen</PresentationFormat>
  <Paragraphs>179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ADLaM Display</vt:lpstr>
      <vt:lpstr>Agency FB</vt:lpstr>
      <vt:lpstr>Arial</vt:lpstr>
      <vt:lpstr>Calibri</vt:lpstr>
      <vt:lpstr>Courier New</vt:lpstr>
      <vt:lpstr>Wingdings</vt:lpstr>
      <vt:lpstr>YESHUAH</vt:lpstr>
      <vt:lpstr>RetrospectVTI</vt:lpstr>
      <vt:lpstr>Microsoft SharePoint Sites</vt:lpstr>
      <vt:lpstr>PowerPoint Presentation</vt:lpstr>
      <vt:lpstr>What is a SharePoint Site?</vt:lpstr>
      <vt:lpstr>Classic Sites</vt:lpstr>
      <vt:lpstr>Modern Sites</vt:lpstr>
      <vt:lpstr>Architectural &amp; Design Core</vt:lpstr>
      <vt:lpstr>Technical &amp; Functional Breakdown</vt:lpstr>
      <vt:lpstr>…</vt:lpstr>
      <vt:lpstr>…</vt:lpstr>
      <vt:lpstr>Key Differences: Classic Vs. Modern</vt:lpstr>
      <vt:lpstr>Comparison Table</vt:lpstr>
      <vt:lpstr>Visual Comparison</vt:lpstr>
      <vt:lpstr>SharePoint Site Collection</vt:lpstr>
      <vt:lpstr>Components of a Site Collection</vt:lpstr>
      <vt:lpstr>Key Features of Site Collections</vt:lpstr>
      <vt:lpstr>Site Collection Vs. Site Vs. Subsite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Mintesnot Iwunete</cp:lastModifiedBy>
  <cp:revision>253</cp:revision>
  <dcterms:created xsi:type="dcterms:W3CDTF">2020-02-06T00:04:00Z</dcterms:created>
  <dcterms:modified xsi:type="dcterms:W3CDTF">2026-05-20T13:18:07Z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1033-11.2.0.9937</vt:lpwstr>
  </property>
</Properties>
</file>