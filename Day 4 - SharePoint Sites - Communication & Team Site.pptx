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11" r:id="rId2"/>
    <p:sldId id="410" r:id="rId3"/>
    <p:sldId id="482" r:id="rId4"/>
    <p:sldId id="497" r:id="rId5"/>
    <p:sldId id="499" r:id="rId6"/>
    <p:sldId id="502" r:id="rId7"/>
    <p:sldId id="503" r:id="rId8"/>
    <p:sldId id="498" r:id="rId9"/>
    <p:sldId id="500" r:id="rId10"/>
    <p:sldId id="501" r:id="rId11"/>
    <p:sldId id="504" r:id="rId12"/>
    <p:sldId id="481" r:id="rId13"/>
    <p:sldId id="494" r:id="rId14"/>
    <p:sldId id="495" r:id="rId15"/>
    <p:sldId id="496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40" d="100"/>
          <a:sy n="40" d="100"/>
        </p:scale>
        <p:origin x="44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014216" cy="145075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Microsoft</a:t>
            </a:r>
            <a:b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40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Sites</a:t>
            </a:r>
            <a:br>
              <a:rPr lang="en-US" sz="40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Part II</a:t>
            </a:r>
            <a:endParaRPr lang="en-US" sz="7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a SharePoint Site?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differences Classic Vs Modern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Key Features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Components of SharePoint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Integrate with Microsoft 365 Ecosystem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SharePoint Version Evolution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Types of SharePoint Users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SharePoint Admin Center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SharePoint Vs OneDrive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AC7B-04BC-F64F-721F-7D3AF774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Modern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290E8-2F0D-3C23-E05D-060AC17761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9513" y="1475380"/>
            <a:ext cx="10617984" cy="53826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SharePoint in Microsoft 365 offers two primary modern site templates: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Team Sites</a:t>
            </a:r>
            <a:r>
              <a:rPr lang="en-US" dirty="0"/>
              <a:t> and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Communication Sites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 Both support modern pages, web parts, responsive design, and powerful customization, but they serve fundamentally different purposes.</a:t>
            </a:r>
          </a:p>
          <a:p>
            <a:pPr algn="just"/>
            <a:r>
              <a:rPr lang="en-US" dirty="0"/>
              <a:t> </a:t>
            </a:r>
            <a:r>
              <a:rPr lang="en-US" b="1" u="sng" dirty="0"/>
              <a:t>Core Philosophy</a:t>
            </a:r>
            <a:r>
              <a:rPr lang="en-US" b="1" dirty="0"/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Team Sites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” “Where the work gets done” – private, collaborative, workspaces.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Communication Sites</a:t>
            </a:r>
            <a:r>
              <a:rPr lang="en-US" dirty="0"/>
              <a:t>: “Where information is shared” – broadcasting and storytelling platforms.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Blip>
                <a:blip r:embed="rId2"/>
              </a:buBlip>
            </a:pPr>
            <a:r>
              <a:rPr lang="en-US" dirty="0"/>
              <a:t> </a:t>
            </a:r>
            <a:r>
              <a:rPr lang="en-US" sz="3600" b="1" dirty="0">
                <a:solidFill>
                  <a:srgbClr val="FF0000"/>
                </a:solidFill>
                <a:latin typeface="Agency FB" panose="020B0503020202020204" pitchFamily="34" charset="0"/>
              </a:rPr>
              <a:t>Important Note</a:t>
            </a:r>
            <a:r>
              <a:rPr lang="en-US" dirty="0"/>
              <a:t>: You cannot easily convert one site type to the other after creation. Planning the purpose upfront is critical.</a:t>
            </a:r>
          </a:p>
        </p:txBody>
      </p:sp>
    </p:spTree>
    <p:extLst>
      <p:ext uri="{BB962C8B-B14F-4D97-AF65-F5344CB8AC3E}">
        <p14:creationId xmlns:p14="http://schemas.microsoft.com/office/powerpoint/2010/main" val="363147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70C-B478-30B5-B96E-363269C6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403F-8D76-97E8-5515-2D812FC2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Communication Site?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9E9FD-63E1-4DF3-D544-718BB6A58D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39326" y="1195384"/>
            <a:ext cx="6352674" cy="566261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 A </a:t>
            </a:r>
            <a:r>
              <a:rPr lang="en-US" b="1" dirty="0">
                <a:solidFill>
                  <a:srgbClr val="036C70"/>
                </a:solidFill>
              </a:rPr>
              <a:t>Communication Site </a:t>
            </a:r>
            <a:r>
              <a:rPr lang="en-US" dirty="0"/>
              <a:t>is a SharePoint site designed to broadcast information to a larger audience.</a:t>
            </a:r>
          </a:p>
          <a:p>
            <a:pPr algn="just"/>
            <a:r>
              <a:rPr lang="en-US" dirty="0"/>
              <a:t> Its main goal is One-to-many communication.</a:t>
            </a:r>
          </a:p>
          <a:p>
            <a:pPr algn="just"/>
            <a:r>
              <a:rPr lang="en-US" dirty="0"/>
              <a:t> It focuses on: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Announcements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News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Company information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Policies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Training materials</a:t>
            </a:r>
          </a:p>
          <a:p>
            <a:pPr algn="just"/>
            <a:r>
              <a:rPr lang="en-US" dirty="0"/>
              <a:t> Examples Use Cases: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HR Portal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Company News Portal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Training Center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Executive Updates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Department Information Site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C3DF92-5270-29BA-2D42-4E27BA4BD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6" y="1619945"/>
            <a:ext cx="5771789" cy="461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1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10C7F-18C7-F045-EDA2-03C38C9B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E3B1-2712-1DAA-7F23-BE08B1AF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Characteristics of Communication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88772-1D29-DBD9-9215-2387DE91A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9513" y="1475380"/>
            <a:ext cx="10617984" cy="538262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Few Content Creators</a:t>
            </a:r>
          </a:p>
          <a:p>
            <a:pPr algn="just"/>
            <a:r>
              <a:rPr lang="en-US" dirty="0"/>
              <a:t> Only selected users publish content.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b="1" dirty="0">
                <a:latin typeface="Agency FB" panose="020B0503020202020204" pitchFamily="34" charset="0"/>
              </a:rPr>
              <a:t> Large Audience</a:t>
            </a:r>
          </a:p>
          <a:p>
            <a:pPr algn="just"/>
            <a:r>
              <a:rPr lang="en-US" dirty="0"/>
              <a:t> Many employees consume information.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b="1" dirty="0">
                <a:latin typeface="Agency FB" panose="020B0503020202020204" pitchFamily="34" charset="0"/>
              </a:rPr>
              <a:t> Attractive Design</a:t>
            </a:r>
          </a:p>
          <a:p>
            <a:pPr algn="just"/>
            <a:r>
              <a:rPr lang="en-US" dirty="0"/>
              <a:t> Modern layouts and visual pages</a:t>
            </a:r>
          </a:p>
          <a:p>
            <a:pPr marL="457200" indent="-457200" algn="just">
              <a:buFont typeface="+mj-lt"/>
              <a:buAutoNum type="arabicPeriod" startAt="4"/>
            </a:pPr>
            <a:r>
              <a:rPr lang="en-US" b="1" dirty="0">
                <a:latin typeface="Agency FB" panose="020B0503020202020204" pitchFamily="34" charset="0"/>
              </a:rPr>
              <a:t> Read-Oriented</a:t>
            </a:r>
          </a:p>
          <a:p>
            <a:pPr algn="just"/>
            <a:r>
              <a:rPr lang="en-US" dirty="0"/>
              <a:t> Focuses more on viewing than editing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b="1" dirty="0">
                <a:latin typeface="Agency FB" panose="020B0503020202020204" pitchFamily="34" charset="0"/>
              </a:rPr>
              <a:t> Organized information</a:t>
            </a:r>
          </a:p>
          <a:p>
            <a:pPr algn="just"/>
            <a:r>
              <a:rPr lang="en-US" dirty="0"/>
              <a:t> Content categorized neatly</a:t>
            </a:r>
          </a:p>
        </p:txBody>
      </p:sp>
    </p:spTree>
    <p:extLst>
      <p:ext uri="{BB962C8B-B14F-4D97-AF65-F5344CB8AC3E}">
        <p14:creationId xmlns:p14="http://schemas.microsoft.com/office/powerpoint/2010/main" val="2793563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8FD6-CB2B-C301-2AB3-5FF94942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048F-06CE-6107-E31B-4A3EBFCB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8977"/>
            <a:ext cx="9928174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Real-world examples of Communication Sites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F38AB9-2AF9-5080-F4A9-B2DA40EDD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9" y="1331742"/>
            <a:ext cx="8229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62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672DF-AEBF-172A-644B-F3F6B411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B646-F560-FF3F-BECB-918CC45B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Limitations of Communication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56455-9A65-3A47-237A-11716F3D11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9513" y="1475380"/>
            <a:ext cx="10617984" cy="538262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Limited Collaboration – </a:t>
            </a:r>
            <a:r>
              <a:rPr lang="en-US" dirty="0"/>
              <a:t>Not ideal for teams actively working together.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Few Contributors – </a:t>
            </a:r>
            <a:r>
              <a:rPr lang="en-US" dirty="0"/>
              <a:t>Usually only authorized users edit content.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Less Interactive – </a:t>
            </a:r>
            <a:r>
              <a:rPr lang="en-US" dirty="0"/>
              <a:t>Employees mainly consume information.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Not Project-Oriented – </a:t>
            </a:r>
            <a:r>
              <a:rPr lang="en-US" dirty="0"/>
              <a:t>Poor choice for project teamwork.</a:t>
            </a:r>
          </a:p>
          <a:p>
            <a:pPr marL="457200" indent="-457200" algn="just">
              <a:buFont typeface="+mj-lt"/>
              <a:buAutoNum type="arabicPeriod"/>
            </a:pPr>
            <a:endParaRPr lang="en-US" b="1" dirty="0">
              <a:latin typeface="Agency FB" panose="020B050302020202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latin typeface="Agency FB" panose="020B0503020202020204" pitchFamily="34" charset="0"/>
              </a:rPr>
              <a:t> Avoid using Communication Sites For:</a:t>
            </a:r>
          </a:p>
          <a:p>
            <a:pPr marL="0" indent="0">
              <a:buNone/>
            </a:pPr>
            <a:r>
              <a:rPr lang="en-US" dirty="0"/>
              <a:t>❌ Daily team collaboration</a:t>
            </a:r>
          </a:p>
          <a:p>
            <a:pPr marL="0" indent="0">
              <a:buNone/>
            </a:pPr>
            <a:r>
              <a:rPr lang="en-US" dirty="0"/>
              <a:t>❌ Task management</a:t>
            </a:r>
          </a:p>
          <a:p>
            <a:pPr marL="0" indent="0">
              <a:buNone/>
            </a:pPr>
            <a:r>
              <a:rPr lang="en-US" dirty="0"/>
              <a:t>❌ Team project work</a:t>
            </a:r>
          </a:p>
          <a:p>
            <a:pPr marL="0" indent="0">
              <a:buNone/>
            </a:pPr>
            <a:r>
              <a:rPr lang="en-US" dirty="0"/>
              <a:t>❌ Heavy document co-authoring</a:t>
            </a:r>
          </a:p>
          <a:p>
            <a:pPr marL="0" indent="0" algn="just">
              <a:buNone/>
            </a:pPr>
            <a:endParaRPr lang="en-US" b="1" dirty="0">
              <a:latin typeface="Agency FB" panose="020B050302020202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55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9A1B1-E72D-8FF5-9AF0-2A47CFCC6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D127-9711-8F69-2CE2-6FB74C44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Team Site?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53CA2-A6FD-E89E-7DE6-9546459189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2806" y="1195384"/>
            <a:ext cx="6449193" cy="566261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 A </a:t>
            </a:r>
            <a:r>
              <a:rPr lang="en-US" b="1" dirty="0">
                <a:solidFill>
                  <a:srgbClr val="036C70"/>
                </a:solidFill>
              </a:rPr>
              <a:t>Team Site </a:t>
            </a:r>
            <a:r>
              <a:rPr lang="en-US" dirty="0"/>
              <a:t>is a SharePoint site designed for collaboration among team members.</a:t>
            </a:r>
          </a:p>
          <a:p>
            <a:pPr algn="just"/>
            <a:r>
              <a:rPr lang="en-US" dirty="0"/>
              <a:t> Its main goal is Many-to-many collaboration.</a:t>
            </a:r>
          </a:p>
          <a:p>
            <a:pPr algn="just"/>
            <a:r>
              <a:rPr lang="en-US" dirty="0"/>
              <a:t> It focuses on: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Share files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Edit documents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Manage tasks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Communication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Track progress</a:t>
            </a:r>
          </a:p>
          <a:p>
            <a:pPr algn="just"/>
            <a:r>
              <a:rPr lang="en-US" dirty="0"/>
              <a:t> Examples Use Cases: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Project teams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IT department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Marketing team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Finance department</a:t>
            </a:r>
          </a:p>
          <a:p>
            <a:pPr algn="just">
              <a:buBlip>
                <a:blip r:embed="rId2"/>
              </a:buBlip>
            </a:pPr>
            <a:r>
              <a:rPr lang="en-US" dirty="0"/>
              <a:t> Student group projects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03ADD-75B5-F5F1-639C-C931422B5A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683" y="1323388"/>
            <a:ext cx="4585885" cy="540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1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BCB11-EE79-BD5C-DED3-82ABE6FD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1DFA-57DD-B900-AC01-DD2BD9AD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Characteristics of Team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83E4C-9449-BEDD-F4B6-A56E57ED7E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9513" y="1475380"/>
            <a:ext cx="10617984" cy="538262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Collaborative Environment</a:t>
            </a:r>
          </a:p>
          <a:p>
            <a:pPr algn="just"/>
            <a:r>
              <a:rPr lang="en-US" dirty="0"/>
              <a:t> Everyone works together.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b="1" dirty="0">
                <a:latin typeface="Agency FB" panose="020B0503020202020204" pitchFamily="34" charset="0"/>
              </a:rPr>
              <a:t> Shared Ownership</a:t>
            </a:r>
          </a:p>
          <a:p>
            <a:pPr algn="just"/>
            <a:r>
              <a:rPr lang="en-US" dirty="0"/>
              <a:t> Members can contribute content.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b="1" dirty="0">
                <a:latin typeface="Agency FB" panose="020B0503020202020204" pitchFamily="34" charset="0"/>
              </a:rPr>
              <a:t> Document Co-Authoring</a:t>
            </a:r>
          </a:p>
          <a:p>
            <a:pPr algn="just"/>
            <a:r>
              <a:rPr lang="en-US" dirty="0"/>
              <a:t> Multiple users edit files simultaneously.</a:t>
            </a:r>
          </a:p>
          <a:p>
            <a:pPr marL="457200" indent="-457200" algn="just">
              <a:buFont typeface="+mj-lt"/>
              <a:buAutoNum type="arabicPeriod" startAt="4"/>
            </a:pPr>
            <a:r>
              <a:rPr lang="en-US" b="1" dirty="0">
                <a:latin typeface="Agency FB" panose="020B0503020202020204" pitchFamily="34" charset="0"/>
              </a:rPr>
              <a:t> Permission-Based Access</a:t>
            </a:r>
          </a:p>
          <a:p>
            <a:pPr algn="just"/>
            <a:r>
              <a:rPr lang="en-US" dirty="0"/>
              <a:t> Only team members access content.</a:t>
            </a:r>
          </a:p>
          <a:p>
            <a:pPr marL="457200" indent="-457200" algn="just">
              <a:buFont typeface="+mj-lt"/>
              <a:buAutoNum type="arabicPeriod" startAt="5"/>
            </a:pPr>
            <a:r>
              <a:rPr lang="en-US" b="1" dirty="0">
                <a:latin typeface="Agency FB" panose="020B0503020202020204" pitchFamily="34" charset="0"/>
              </a:rPr>
              <a:t> Integration with Microsoft Teams</a:t>
            </a:r>
          </a:p>
          <a:p>
            <a:pPr algn="just"/>
            <a:r>
              <a:rPr lang="en-US" dirty="0"/>
              <a:t> Supports meetings and chats.</a:t>
            </a:r>
          </a:p>
        </p:txBody>
      </p:sp>
    </p:spTree>
    <p:extLst>
      <p:ext uri="{BB962C8B-B14F-4D97-AF65-F5344CB8AC3E}">
        <p14:creationId xmlns:p14="http://schemas.microsoft.com/office/powerpoint/2010/main" val="220419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5F35-588A-374C-3F78-8BD1BEA8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E8B2-9E93-1E76-EB3F-5DF1CFE1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Real-world examples of Team Sites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DEA8B6-59E3-4B2F-78A9-8A3F6ED1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31742"/>
            <a:ext cx="822960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98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B799-B936-D623-02E5-FD7AF859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3475-ECD0-49B1-EA03-CDB16C46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Limitations of Team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01BE8-A33E-248F-4258-AEEF030994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9513" y="1475380"/>
            <a:ext cx="10617984" cy="538262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Can Become Disorganized – </a:t>
            </a:r>
            <a:r>
              <a:rPr lang="en-US" dirty="0"/>
              <a:t>Poor governance causes clutter.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Too Many Permissions – </a:t>
            </a:r>
            <a:r>
              <a:rPr lang="en-US" dirty="0"/>
              <a:t>Complex access settings.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Storage Management – </a:t>
            </a:r>
            <a:r>
              <a:rPr lang="en-US" dirty="0"/>
              <a:t>Unused files accumulate.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Agency FB" panose="020B0503020202020204" pitchFamily="34" charset="0"/>
              </a:rPr>
              <a:t> Requires User Training – </a:t>
            </a:r>
            <a:r>
              <a:rPr lang="en-US" dirty="0"/>
              <a:t>Employees must understand collaboration rules.</a:t>
            </a:r>
          </a:p>
          <a:p>
            <a:pPr marL="457200" indent="-457200" algn="just">
              <a:buFont typeface="+mj-lt"/>
              <a:buAutoNum type="arabicPeriod"/>
            </a:pPr>
            <a:endParaRPr lang="en-US" b="1" dirty="0">
              <a:latin typeface="Agency FB" panose="020B050302020202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latin typeface="Agency FB" panose="020B0503020202020204" pitchFamily="34" charset="0"/>
              </a:rPr>
              <a:t> Common Problems</a:t>
            </a:r>
            <a:r>
              <a:rPr lang="en-US" dirty="0">
                <a:latin typeface="Agency FB" panose="020B0503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/>
              <a:t>❌ Duplicate files</a:t>
            </a:r>
          </a:p>
          <a:p>
            <a:pPr marL="0" indent="0">
              <a:buNone/>
            </a:pPr>
            <a:r>
              <a:rPr lang="en-US" dirty="0"/>
              <a:t>❌ Poor folder structure</a:t>
            </a:r>
          </a:p>
          <a:p>
            <a:pPr marL="0" indent="0">
              <a:buNone/>
            </a:pPr>
            <a:r>
              <a:rPr lang="en-US" dirty="0"/>
              <a:t>❌ Permission confusion</a:t>
            </a:r>
          </a:p>
          <a:p>
            <a:pPr marL="0" indent="0">
              <a:buNone/>
            </a:pPr>
            <a:r>
              <a:rPr lang="en-US" dirty="0"/>
              <a:t>❌ Unused content</a:t>
            </a:r>
          </a:p>
          <a:p>
            <a:pPr marL="0" indent="0" algn="just">
              <a:buNone/>
            </a:pPr>
            <a:endParaRPr lang="en-US" b="1" dirty="0">
              <a:latin typeface="Agency FB" panose="020B050302020202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14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807BB-9CF5-84D4-A58C-23A8DCA4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4757-9E24-5C02-0A70-C5803F62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Detailed Feature Comparison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5A9262-1564-AC88-FDED-6C8BDCBA6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50119"/>
              </p:ext>
            </p:extLst>
          </p:nvPr>
        </p:nvGraphicFramePr>
        <p:xfrm>
          <a:off x="256674" y="1459832"/>
          <a:ext cx="11710738" cy="52508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56556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4751973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  <a:gridCol w="4702209">
                  <a:extLst>
                    <a:ext uri="{9D8B030D-6E8A-4147-A177-3AD203B41FA5}">
                      <a16:colId xmlns:a16="http://schemas.microsoft.com/office/drawing/2014/main" val="375588374"/>
                    </a:ext>
                  </a:extLst>
                </a:gridCol>
              </a:tblGrid>
              <a:tr h="37886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Team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Communication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450986">
                <a:tc>
                  <a:txBody>
                    <a:bodyPr/>
                    <a:lstStyle/>
                    <a:p>
                      <a:r>
                        <a:rPr lang="en-US" sz="2000" b="1" dirty="0"/>
                        <a:t>Primary Goal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Collaboration (many-to-many)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Broadcasting (one-to-many)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98213"/>
                  </a:ext>
                </a:extLst>
              </a:tr>
              <a:tr h="503425">
                <a:tc>
                  <a:txBody>
                    <a:bodyPr/>
                    <a:lstStyle/>
                    <a:p>
                      <a:r>
                        <a:rPr lang="en-US" sz="2000" b="1" dirty="0"/>
                        <a:t>Microsoft 365 Group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 (mailbox, calendar, Planner, Teams)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288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000" b="1" dirty="0"/>
                        <a:t>Default Audience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Closed / Private team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Broad / Organization-wide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4357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000" b="1" dirty="0"/>
                        <a:t>Content Authors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All members by default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 authors (controlled)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67304"/>
                  </a:ext>
                </a:extLst>
              </a:tr>
              <a:tr h="493193">
                <a:tc>
                  <a:txBody>
                    <a:bodyPr/>
                    <a:lstStyle/>
                    <a:p>
                      <a:r>
                        <a:rPr lang="en-US" sz="2000" b="1" dirty="0"/>
                        <a:t>Navigation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Left-hand (Quick Launch)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Top navigation only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06373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000" b="1" dirty="0"/>
                        <a:t>Permissions Model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Microsoft 365 Groups (easier for teams)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SharePoint Groups (more granular)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31654"/>
                  </a:ext>
                </a:extLst>
              </a:tr>
              <a:tr h="320574">
                <a:tc>
                  <a:txBody>
                    <a:bodyPr/>
                    <a:lstStyle/>
                    <a:p>
                      <a:r>
                        <a:rPr lang="en-US" sz="2000" b="1" dirty="0"/>
                        <a:t>External Sharing (Default)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Often enabled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Disabled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7836"/>
                  </a:ext>
                </a:extLst>
              </a:tr>
              <a:tr h="320574">
                <a:tc>
                  <a:txBody>
                    <a:bodyPr/>
                    <a:lstStyle/>
                    <a:p>
                      <a:r>
                        <a:rPr lang="en-US" sz="2000" b="1" dirty="0"/>
                        <a:t>Visual Design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Functional &amp; practical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Highly visual, full-width sections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02394"/>
                  </a:ext>
                </a:extLst>
              </a:tr>
              <a:tr h="450986">
                <a:tc>
                  <a:txBody>
                    <a:bodyPr/>
                    <a:lstStyle/>
                    <a:p>
                      <a:r>
                        <a:rPr lang="en-US" sz="2000" b="1" dirty="0"/>
                        <a:t>News &amp; Events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Supported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Optimized (better engagement tools)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519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48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07B6D-4850-C9E4-AC33-731C8242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BEC5-CF3D-209F-F682-35476C7A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en-US" dirty="0">
              <a:solidFill>
                <a:srgbClr val="036C7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74300A-9D2A-B517-A624-CBE0D8C3A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9107"/>
              </p:ext>
            </p:extLst>
          </p:nvPr>
        </p:nvGraphicFramePr>
        <p:xfrm>
          <a:off x="256674" y="1459832"/>
          <a:ext cx="11710738" cy="25958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04673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4748464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375588374"/>
                    </a:ext>
                  </a:extLst>
                </a:gridCol>
              </a:tblGrid>
              <a:tr h="37886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Team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Communication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450986">
                <a:tc>
                  <a:txBody>
                    <a:bodyPr/>
                    <a:lstStyle/>
                    <a:p>
                      <a:r>
                        <a:rPr lang="en-US" sz="2400" b="1" dirty="0"/>
                        <a:t>Additional Tools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Planner, OneNote, Shared Email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Hero web part, News carousel, Spotlight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98213"/>
                  </a:ext>
                </a:extLst>
              </a:tr>
              <a:tr h="503425">
                <a:tc>
                  <a:txBody>
                    <a:bodyPr/>
                    <a:lstStyle/>
                    <a:p>
                      <a:r>
                        <a:rPr lang="en-US" sz="2400" b="1" dirty="0"/>
                        <a:t>Web Parts Availability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More collaboration – focused options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Stronger publishing options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288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400" b="1" dirty="0"/>
                        <a:t>Conversion Possible?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4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62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6C2F1-85DB-B503-5583-03D9F107E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D4D0-1E32-9D52-2CDB-47853BC86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When to Choose a Team 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A4F2F-E4C5-4583-E4AD-0DCB92F612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6653" y="1475380"/>
            <a:ext cx="5065295" cy="53826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When You need:</a:t>
            </a:r>
          </a:p>
          <a:p>
            <a:pPr marL="0" indent="0">
              <a:buNone/>
            </a:pPr>
            <a:r>
              <a:rPr lang="en-US" dirty="0"/>
              <a:t>✅ Team collaboration</a:t>
            </a:r>
          </a:p>
          <a:p>
            <a:pPr marL="0" indent="0">
              <a:buNone/>
            </a:pPr>
            <a:r>
              <a:rPr lang="en-US" dirty="0"/>
              <a:t>✅ Shared editing</a:t>
            </a:r>
          </a:p>
          <a:p>
            <a:pPr marL="0" indent="0">
              <a:buNone/>
            </a:pPr>
            <a:r>
              <a:rPr lang="en-US" dirty="0"/>
              <a:t>✅ Project management</a:t>
            </a:r>
          </a:p>
          <a:p>
            <a:pPr marL="0" indent="0">
              <a:buNone/>
            </a:pPr>
            <a:r>
              <a:rPr lang="en-US" dirty="0"/>
              <a:t>✅ Task tracking</a:t>
            </a:r>
          </a:p>
          <a:p>
            <a:pPr marL="0" indent="0">
              <a:buNone/>
            </a:pPr>
            <a:r>
              <a:rPr lang="en-US" dirty="0"/>
              <a:t>✅ Department teamwork</a:t>
            </a:r>
          </a:p>
          <a:p>
            <a:pPr marL="0" indent="0">
              <a:buNone/>
            </a:pPr>
            <a:r>
              <a:rPr lang="en-US" dirty="0"/>
              <a:t>✅ File collaboration</a:t>
            </a:r>
          </a:p>
          <a:p>
            <a:pPr algn="just"/>
            <a:r>
              <a:rPr lang="en-US" dirty="0"/>
              <a:t> </a:t>
            </a:r>
            <a:r>
              <a:rPr lang="en-US" b="1" u="sng" dirty="0"/>
              <a:t>Example Scenarios</a:t>
            </a:r>
            <a:r>
              <a:rPr lang="en-US" dirty="0"/>
              <a:t>: Marketing Team – Campaign collaboration, IT Team – System documentation, Construction Team – Project coordination.</a:t>
            </a:r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86092-27ED-38F4-A0F0-9FCAE412E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1" y="1636294"/>
            <a:ext cx="7098633" cy="473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68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ED8A-1C06-0C1D-2E9B-E59C3ED8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4172-8AC5-8DED-0D3F-0564B552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When to Choose a Communication 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64AFC-6B18-06D2-440C-6959B6E9C3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6653" y="1475380"/>
            <a:ext cx="5065295" cy="53826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When You need:</a:t>
            </a:r>
          </a:p>
          <a:p>
            <a:pPr marL="0" indent="0">
              <a:buNone/>
            </a:pPr>
            <a:r>
              <a:rPr lang="en-US" dirty="0"/>
              <a:t>✅ Organization-wide announcements</a:t>
            </a:r>
          </a:p>
          <a:p>
            <a:pPr marL="0" indent="0">
              <a:buNone/>
            </a:pPr>
            <a:r>
              <a:rPr lang="en-US" dirty="0"/>
              <a:t>✅ Knowledge sharing</a:t>
            </a:r>
          </a:p>
          <a:p>
            <a:pPr marL="0" indent="0">
              <a:buNone/>
            </a:pPr>
            <a:r>
              <a:rPr lang="en-US" dirty="0"/>
              <a:t>✅ Company news</a:t>
            </a:r>
          </a:p>
          <a:p>
            <a:pPr marL="0" indent="0">
              <a:buNone/>
            </a:pPr>
            <a:r>
              <a:rPr lang="en-US" dirty="0"/>
              <a:t>✅ Training materials</a:t>
            </a:r>
          </a:p>
          <a:p>
            <a:pPr marL="0" indent="0">
              <a:buNone/>
            </a:pPr>
            <a:r>
              <a:rPr lang="en-US" dirty="0"/>
              <a:t>✅ Policy management</a:t>
            </a:r>
          </a:p>
          <a:p>
            <a:pPr marL="0" indent="0">
              <a:buNone/>
            </a:pPr>
            <a:r>
              <a:rPr lang="en-US" dirty="0"/>
              <a:t>✅ Department information portal</a:t>
            </a:r>
          </a:p>
          <a:p>
            <a:r>
              <a:rPr lang="en-US" dirty="0"/>
              <a:t> </a:t>
            </a:r>
            <a:r>
              <a:rPr lang="en-US" b="1" u="sng" dirty="0"/>
              <a:t>Example Scenarios</a:t>
            </a:r>
            <a:r>
              <a:rPr lang="en-US" dirty="0"/>
              <a:t>: HR Department – Employee handbook, CEO Office – Company updates, University Administration – Student announcements.</a:t>
            </a:r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21667-DEB2-7A79-D252-D9DFAB03B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51" y="1636294"/>
            <a:ext cx="7098633" cy="473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14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781</Words>
  <Application>Microsoft Office PowerPoint</Application>
  <PresentationFormat>Widescreen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ADLaM Display</vt:lpstr>
      <vt:lpstr>Agency FB</vt:lpstr>
      <vt:lpstr>Calibri</vt:lpstr>
      <vt:lpstr>Wingdings</vt:lpstr>
      <vt:lpstr>YESHUAH</vt:lpstr>
      <vt:lpstr>RetrospectVTI</vt:lpstr>
      <vt:lpstr>Microsoft SharePoint Sites Part II</vt:lpstr>
      <vt:lpstr>PowerPoint Presentation</vt:lpstr>
      <vt:lpstr>SharePoint Modern Sites</vt:lpstr>
      <vt:lpstr>What is a Communication Site?</vt:lpstr>
      <vt:lpstr>Characteristics of Communication Sites</vt:lpstr>
      <vt:lpstr>Real-world examples of Communication Sites</vt:lpstr>
      <vt:lpstr>Limitations of Communication Sites</vt:lpstr>
      <vt:lpstr>What is a Team Site?</vt:lpstr>
      <vt:lpstr>Characteristics of Team Sites</vt:lpstr>
      <vt:lpstr>Real-world examples of Team Sites</vt:lpstr>
      <vt:lpstr>Limitations of Team Sites</vt:lpstr>
      <vt:lpstr>Detailed Feature Comparison</vt:lpstr>
      <vt:lpstr>…</vt:lpstr>
      <vt:lpstr>When to Choose a Team Site</vt:lpstr>
      <vt:lpstr>When to Choose a Communication Site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264</cp:revision>
  <dcterms:created xsi:type="dcterms:W3CDTF">2020-02-06T00:04:00Z</dcterms:created>
  <dcterms:modified xsi:type="dcterms:W3CDTF">2026-05-20T20:31:42Z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