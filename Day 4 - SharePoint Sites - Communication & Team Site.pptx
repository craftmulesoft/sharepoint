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handoutMasterIdLst>
    <p:handoutMasterId r:id="rId22"/>
  </p:handoutMasterIdLst>
  <p:sldIdLst>
    <p:sldId id="411" r:id="rId2"/>
    <p:sldId id="410" r:id="rId3"/>
    <p:sldId id="482" r:id="rId4"/>
    <p:sldId id="497" r:id="rId5"/>
    <p:sldId id="499" r:id="rId6"/>
    <p:sldId id="507" r:id="rId7"/>
    <p:sldId id="502" r:id="rId8"/>
    <p:sldId id="503" r:id="rId9"/>
    <p:sldId id="498" r:id="rId10"/>
    <p:sldId id="500" r:id="rId11"/>
    <p:sldId id="506" r:id="rId12"/>
    <p:sldId id="501" r:id="rId13"/>
    <p:sldId id="504" r:id="rId14"/>
    <p:sldId id="505" r:id="rId15"/>
    <p:sldId id="481" r:id="rId16"/>
    <p:sldId id="494" r:id="rId17"/>
    <p:sldId id="495" r:id="rId18"/>
    <p:sldId id="496" r:id="rId19"/>
    <p:sldId id="260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36C70"/>
    <a:srgbClr val="37C6D0"/>
    <a:srgbClr val="0072C6"/>
    <a:srgbClr val="00A4EF"/>
    <a:srgbClr val="3333FF"/>
    <a:srgbClr val="FFDF00"/>
    <a:srgbClr val="75CDEA"/>
    <a:srgbClr val="ABE2F5"/>
    <a:srgbClr val="E7F7FE"/>
    <a:srgbClr val="0020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736F72C-57AD-4C0C-B413-44A67FA7CD9B}" v="95" dt="2024-03-18T15:51:55.6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39" autoAdjust="0"/>
  </p:normalViewPr>
  <p:slideViewPr>
    <p:cSldViewPr snapToGrid="0">
      <p:cViewPr varScale="1">
        <p:scale>
          <a:sx n="40" d="100"/>
          <a:sy n="40" d="100"/>
        </p:scale>
        <p:origin x="44" y="54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51" d="100"/>
          <a:sy n="51" d="100"/>
        </p:scale>
        <p:origin x="2692" y="2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Relationship Id="rId27" Type="http://schemas.microsoft.com/office/2015/10/relationships/revisionInfo" Target="revisionInfo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8E1AF-6343-46AA-8AEF-4C12F4118850}" type="datetimeFigureOut">
              <a:rPr lang="en-US" smtClean="0"/>
              <a:t>5/21/2026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2858E0-3D38-47B7-97D4-4FE08D90D35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9D2517-63AA-420A-887D-BE60360A8F4D}" type="datetimeFigureOut">
              <a:rPr lang="en-US" noProof="0" smtClean="0"/>
              <a:t>5/20/2026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4ECAD9-32EE-4091-BDA5-6BD15ACC5E58}" type="slidenum">
              <a:rPr lang="en-US" noProof="0" smtClean="0"/>
              <a:t>‹#›</a:t>
            </a:fld>
            <a:endParaRPr lang="en-US" noProof="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ECC495-5FEF-4C9C-502D-7281AA9BC4CE}"/>
              </a:ext>
            </a:extLst>
          </p:cNvPr>
          <p:cNvSpPr/>
          <p:nvPr userDrawn="1"/>
        </p:nvSpPr>
        <p:spPr>
          <a:xfrm>
            <a:off x="-64008" y="0"/>
            <a:ext cx="4723782" cy="6858000"/>
          </a:xfrm>
          <a:prstGeom prst="rect">
            <a:avLst/>
          </a:prstGeom>
          <a:solidFill>
            <a:srgbClr val="25677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7" name="Title 1"/>
          <p:cNvSpPr txBox="1"/>
          <p:nvPr userDrawn="1"/>
        </p:nvSpPr>
        <p:spPr>
          <a:xfrm>
            <a:off x="-1707114" y="2422578"/>
            <a:ext cx="6145764" cy="110975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spc="-38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endParaRPr lang="en-US" sz="2400" dirty="0"/>
          </a:p>
        </p:txBody>
      </p:sp>
      <p:sp>
        <p:nvSpPr>
          <p:cNvPr id="18" name="Title 1"/>
          <p:cNvSpPr>
            <a:spLocks noGrp="1"/>
          </p:cNvSpPr>
          <p:nvPr>
            <p:ph type="title" hasCustomPrompt="1"/>
          </p:nvPr>
        </p:nvSpPr>
        <p:spPr>
          <a:xfrm>
            <a:off x="509750" y="2338493"/>
            <a:ext cx="3531146" cy="145075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4400" b="1" baseline="0">
                <a:solidFill>
                  <a:schemeClr val="bg1"/>
                </a:solidFill>
                <a:latin typeface="YESHUAH" panose="02000500000000000000" pitchFamily="2" charset="0"/>
              </a:defRPr>
            </a:lvl1pPr>
          </a:lstStyle>
          <a:p>
            <a:r>
              <a:rPr lang="en-US" dirty="0"/>
              <a:t>{ subject }</a:t>
            </a:r>
          </a:p>
        </p:txBody>
      </p:sp>
      <p:sp>
        <p:nvSpPr>
          <p:cNvPr id="19" name="Content Placeholder 8"/>
          <p:cNvSpPr>
            <a:spLocks noGrp="1"/>
          </p:cNvSpPr>
          <p:nvPr>
            <p:ph sz="quarter" idx="13" hasCustomPrompt="1"/>
          </p:nvPr>
        </p:nvSpPr>
        <p:spPr>
          <a:xfrm>
            <a:off x="7647842" y="6136265"/>
            <a:ext cx="4090199" cy="45313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r">
              <a:buNone/>
              <a:defRPr sz="2400" baseline="0">
                <a:solidFill>
                  <a:srgbClr val="25677D"/>
                </a:solidFill>
                <a:latin typeface="YESHUAH" panose="02000500000000000000" pitchFamily="2" charset="0"/>
              </a:defRPr>
            </a:lvl1pPr>
          </a:lstStyle>
          <a:p>
            <a:pPr lvl="0"/>
            <a:r>
              <a:rPr lang="en-US" dirty="0"/>
              <a:t> { write presenter name }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/>
          <p:cNvSpPr/>
          <p:nvPr userDrawn="1"/>
        </p:nvSpPr>
        <p:spPr>
          <a:xfrm>
            <a:off x="-64008" y="0"/>
            <a:ext cx="4723782" cy="6858000"/>
          </a:xfrm>
          <a:prstGeom prst="rect">
            <a:avLst/>
          </a:prstGeom>
          <a:solidFill>
            <a:srgbClr val="25677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19" name="Group 18" descr="Info"/>
          <p:cNvGrpSpPr/>
          <p:nvPr userDrawn="1"/>
        </p:nvGrpSpPr>
        <p:grpSpPr>
          <a:xfrm>
            <a:off x="4642801" y="3133724"/>
            <a:ext cx="567374" cy="550865"/>
            <a:chOff x="4914764" y="3319462"/>
            <a:chExt cx="619125" cy="619125"/>
          </a:xfrm>
          <a:solidFill>
            <a:schemeClr val="bg1"/>
          </a:solidFill>
        </p:grpSpPr>
        <p:sp>
          <p:nvSpPr>
            <p:cNvPr id="20" name="Freeform: Shape 19"/>
            <p:cNvSpPr/>
            <p:nvPr/>
          </p:nvSpPr>
          <p:spPr>
            <a:xfrm>
              <a:off x="4914764" y="3319462"/>
              <a:ext cx="619125" cy="619125"/>
            </a:xfrm>
            <a:custGeom>
              <a:avLst/>
              <a:gdLst>
                <a:gd name="connsiteX0" fmla="*/ 309563 w 619125"/>
                <a:gd name="connsiteY0" fmla="*/ 0 h 619125"/>
                <a:gd name="connsiteX1" fmla="*/ 0 w 619125"/>
                <a:gd name="connsiteY1" fmla="*/ 309563 h 619125"/>
                <a:gd name="connsiteX2" fmla="*/ 309563 w 619125"/>
                <a:gd name="connsiteY2" fmla="*/ 619125 h 619125"/>
                <a:gd name="connsiteX3" fmla="*/ 619125 w 619125"/>
                <a:gd name="connsiteY3" fmla="*/ 309563 h 619125"/>
                <a:gd name="connsiteX4" fmla="*/ 309563 w 619125"/>
                <a:gd name="connsiteY4" fmla="*/ 0 h 619125"/>
                <a:gd name="connsiteX5" fmla="*/ 309563 w 619125"/>
                <a:gd name="connsiteY5" fmla="*/ 581025 h 619125"/>
                <a:gd name="connsiteX6" fmla="*/ 38100 w 619125"/>
                <a:gd name="connsiteY6" fmla="*/ 309563 h 619125"/>
                <a:gd name="connsiteX7" fmla="*/ 309563 w 619125"/>
                <a:gd name="connsiteY7" fmla="*/ 38100 h 619125"/>
                <a:gd name="connsiteX8" fmla="*/ 581025 w 619125"/>
                <a:gd name="connsiteY8" fmla="*/ 309563 h 619125"/>
                <a:gd name="connsiteX9" fmla="*/ 309563 w 619125"/>
                <a:gd name="connsiteY9" fmla="*/ 581025 h 619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19125" h="619125">
                  <a:moveTo>
                    <a:pt x="309563" y="0"/>
                  </a:moveTo>
                  <a:cubicBezTo>
                    <a:pt x="138875" y="0"/>
                    <a:pt x="0" y="138865"/>
                    <a:pt x="0" y="309563"/>
                  </a:cubicBezTo>
                  <a:cubicBezTo>
                    <a:pt x="0" y="480260"/>
                    <a:pt x="138875" y="619125"/>
                    <a:pt x="309563" y="619125"/>
                  </a:cubicBezTo>
                  <a:cubicBezTo>
                    <a:pt x="480250" y="619125"/>
                    <a:pt x="619125" y="480260"/>
                    <a:pt x="619125" y="309563"/>
                  </a:cubicBezTo>
                  <a:cubicBezTo>
                    <a:pt x="619125" y="138865"/>
                    <a:pt x="480250" y="0"/>
                    <a:pt x="309563" y="0"/>
                  </a:cubicBezTo>
                  <a:close/>
                  <a:moveTo>
                    <a:pt x="309563" y="581025"/>
                  </a:moveTo>
                  <a:cubicBezTo>
                    <a:pt x="159877" y="581025"/>
                    <a:pt x="38100" y="459248"/>
                    <a:pt x="38100" y="309563"/>
                  </a:cubicBezTo>
                  <a:cubicBezTo>
                    <a:pt x="38100" y="159877"/>
                    <a:pt x="159877" y="38100"/>
                    <a:pt x="309563" y="38100"/>
                  </a:cubicBezTo>
                  <a:cubicBezTo>
                    <a:pt x="459248" y="38100"/>
                    <a:pt x="581025" y="159877"/>
                    <a:pt x="581025" y="309563"/>
                  </a:cubicBezTo>
                  <a:cubicBezTo>
                    <a:pt x="581025" y="459248"/>
                    <a:pt x="459248" y="581025"/>
                    <a:pt x="309563" y="58102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 dirty="0"/>
            </a:p>
          </p:txBody>
        </p:sp>
        <p:sp>
          <p:nvSpPr>
            <p:cNvPr id="21" name="Freeform: Shape 20"/>
            <p:cNvSpPr/>
            <p:nvPr/>
          </p:nvSpPr>
          <p:spPr>
            <a:xfrm>
              <a:off x="5195751" y="3473729"/>
              <a:ext cx="57150" cy="57150"/>
            </a:xfrm>
            <a:custGeom>
              <a:avLst/>
              <a:gdLst>
                <a:gd name="connsiteX0" fmla="*/ 63722 w 57150"/>
                <a:gd name="connsiteY0" fmla="*/ 31861 h 57150"/>
                <a:gd name="connsiteX1" fmla="*/ 31861 w 57150"/>
                <a:gd name="connsiteY1" fmla="*/ 63722 h 57150"/>
                <a:gd name="connsiteX2" fmla="*/ 0 w 57150"/>
                <a:gd name="connsiteY2" fmla="*/ 31861 h 57150"/>
                <a:gd name="connsiteX3" fmla="*/ 31861 w 57150"/>
                <a:gd name="connsiteY3" fmla="*/ 0 h 57150"/>
                <a:gd name="connsiteX4" fmla="*/ 63722 w 57150"/>
                <a:gd name="connsiteY4" fmla="*/ 31861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150" h="57150">
                  <a:moveTo>
                    <a:pt x="63722" y="31861"/>
                  </a:moveTo>
                  <a:cubicBezTo>
                    <a:pt x="63722" y="49458"/>
                    <a:pt x="49458" y="63722"/>
                    <a:pt x="31861" y="63722"/>
                  </a:cubicBezTo>
                  <a:cubicBezTo>
                    <a:pt x="14265" y="63722"/>
                    <a:pt x="0" y="49458"/>
                    <a:pt x="0" y="31861"/>
                  </a:cubicBezTo>
                  <a:cubicBezTo>
                    <a:pt x="0" y="14265"/>
                    <a:pt x="14265" y="0"/>
                    <a:pt x="31861" y="0"/>
                  </a:cubicBezTo>
                  <a:cubicBezTo>
                    <a:pt x="49458" y="0"/>
                    <a:pt x="63722" y="14265"/>
                    <a:pt x="63722" y="3186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 dirty="0"/>
            </a:p>
          </p:txBody>
        </p:sp>
        <p:sp>
          <p:nvSpPr>
            <p:cNvPr id="22" name="Freeform: Shape 21"/>
            <p:cNvSpPr/>
            <p:nvPr/>
          </p:nvSpPr>
          <p:spPr>
            <a:xfrm>
              <a:off x="5205276" y="3589420"/>
              <a:ext cx="38100" cy="200025"/>
            </a:xfrm>
            <a:custGeom>
              <a:avLst/>
              <a:gdLst>
                <a:gd name="connsiteX0" fmla="*/ 19050 w 38100"/>
                <a:gd name="connsiteY0" fmla="*/ 0 h 200025"/>
                <a:gd name="connsiteX1" fmla="*/ 0 w 38100"/>
                <a:gd name="connsiteY1" fmla="*/ 19050 h 200025"/>
                <a:gd name="connsiteX2" fmla="*/ 0 w 38100"/>
                <a:gd name="connsiteY2" fmla="*/ 180975 h 200025"/>
                <a:gd name="connsiteX3" fmla="*/ 19050 w 38100"/>
                <a:gd name="connsiteY3" fmla="*/ 200025 h 200025"/>
                <a:gd name="connsiteX4" fmla="*/ 38100 w 38100"/>
                <a:gd name="connsiteY4" fmla="*/ 180975 h 200025"/>
                <a:gd name="connsiteX5" fmla="*/ 38100 w 38100"/>
                <a:gd name="connsiteY5" fmla="*/ 19050 h 200025"/>
                <a:gd name="connsiteX6" fmla="*/ 19050 w 38100"/>
                <a:gd name="connsiteY6" fmla="*/ 0 h 200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100" h="200025">
                  <a:moveTo>
                    <a:pt x="19050" y="0"/>
                  </a:moveTo>
                  <a:cubicBezTo>
                    <a:pt x="8534" y="0"/>
                    <a:pt x="0" y="8534"/>
                    <a:pt x="0" y="19050"/>
                  </a:cubicBezTo>
                  <a:lnTo>
                    <a:pt x="0" y="180975"/>
                  </a:lnTo>
                  <a:cubicBezTo>
                    <a:pt x="0" y="191491"/>
                    <a:pt x="8534" y="200025"/>
                    <a:pt x="19050" y="200025"/>
                  </a:cubicBezTo>
                  <a:cubicBezTo>
                    <a:pt x="29566" y="200025"/>
                    <a:pt x="38100" y="191491"/>
                    <a:pt x="38100" y="180975"/>
                  </a:cubicBezTo>
                  <a:lnTo>
                    <a:pt x="38100" y="19050"/>
                  </a:lnTo>
                  <a:cubicBezTo>
                    <a:pt x="38100" y="8525"/>
                    <a:pt x="29566" y="0"/>
                    <a:pt x="1905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 dirty="0"/>
            </a:p>
          </p:txBody>
        </p:sp>
      </p:grpSp>
      <p:sp>
        <p:nvSpPr>
          <p:cNvPr id="16" name="Title 1"/>
          <p:cNvSpPr txBox="1"/>
          <p:nvPr userDrawn="1"/>
        </p:nvSpPr>
        <p:spPr>
          <a:xfrm>
            <a:off x="474130" y="2639243"/>
            <a:ext cx="3334512" cy="108011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spc="-38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sz="6000" b="1" dirty="0">
                <a:solidFill>
                  <a:schemeClr val="bg1"/>
                </a:solidFill>
                <a:latin typeface="YESHUAH" panose="020005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Objectives</a:t>
            </a:r>
            <a:endParaRPr lang="en-US" sz="3200" b="1" dirty="0">
              <a:solidFill>
                <a:schemeClr val="bg1"/>
              </a:solidFill>
              <a:latin typeface="YESHUAH" panose="020005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5908431" y="1603717"/>
            <a:ext cx="5524060" cy="31511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600"/>
              </a:spcAft>
              <a:defRPr sz="3200">
                <a:solidFill>
                  <a:srgbClr val="002060"/>
                </a:solidFill>
              </a:defRPr>
            </a:lvl1pPr>
          </a:lstStyle>
          <a:p>
            <a:pPr lvl="0"/>
            <a:r>
              <a:rPr lang="en-US" dirty="0"/>
              <a:t> { write your objectives}</a:t>
            </a:r>
          </a:p>
          <a:p>
            <a:pPr lvl="0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3EF92EB-1689-2416-7533-E53DBC8933F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81400" y="2348890"/>
            <a:ext cx="2160220" cy="21602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156921" y="618977"/>
            <a:ext cx="9393848" cy="712765"/>
          </a:xfrm>
          <a:prstGeom prst="rect">
            <a:avLst/>
          </a:prstGeom>
        </p:spPr>
        <p:txBody>
          <a:bodyPr/>
          <a:lstStyle>
            <a:lvl1pPr>
              <a:defRPr lang="en-US" sz="3600" b="1" kern="1200" spc="-38" baseline="0" dirty="0">
                <a:solidFill>
                  <a:srgbClr val="002060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{ Title }</a:t>
            </a:r>
          </a:p>
        </p:txBody>
      </p:sp>
      <p:sp>
        <p:nvSpPr>
          <p:cNvPr id="6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1156921" y="1603717"/>
            <a:ext cx="10275570" cy="470535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600"/>
              </a:spcAft>
              <a:defRPr sz="2400">
                <a:solidFill>
                  <a:srgbClr val="002060"/>
                </a:solidFill>
              </a:defRPr>
            </a:lvl1pPr>
          </a:lstStyle>
          <a:p>
            <a:pPr lvl="0"/>
            <a:r>
              <a:rPr lang="en-US" dirty="0"/>
              <a:t>{write your bullet point }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 txBox="1"/>
          <p:nvPr userDrawn="1"/>
        </p:nvSpPr>
        <p:spPr>
          <a:xfrm>
            <a:off x="1325880" y="638175"/>
            <a:ext cx="9942195" cy="66675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spc="-38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sz="3200" b="1" dirty="0">
                <a:solidFill>
                  <a:srgbClr val="002060"/>
                </a:solidFill>
                <a:latin typeface="+mn-lt"/>
                <a:ea typeface="Cambria" panose="02040503050406030204" pitchFamily="18" charset="0"/>
              </a:rPr>
              <a:t>References</a:t>
            </a:r>
          </a:p>
        </p:txBody>
      </p:sp>
      <p:sp>
        <p:nvSpPr>
          <p:cNvPr id="15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1325880" y="1524000"/>
            <a:ext cx="9681949" cy="3958659"/>
          </a:xfrm>
          <a:prstGeom prst="rect">
            <a:avLst/>
          </a:prstGeom>
        </p:spPr>
        <p:txBody>
          <a:bodyPr>
            <a:normAutofit/>
          </a:bodyPr>
          <a:lstStyle>
            <a:lvl1pPr marL="91440">
              <a:spcBef>
                <a:spcPts val="0"/>
              </a:spcBef>
              <a:defRPr sz="2400">
                <a:solidFill>
                  <a:srgbClr val="002060"/>
                </a:solidFill>
              </a:defRPr>
            </a:lvl1pPr>
          </a:lstStyle>
          <a:p>
            <a:pPr lvl="0"/>
            <a:r>
              <a:rPr lang="en-US" dirty="0"/>
              <a:t>{ link to reference1, example: http://app.icraftsoft.net }</a:t>
            </a:r>
          </a:p>
          <a:p>
            <a:pPr lvl="0"/>
            <a:r>
              <a:rPr lang="en-US" dirty="0"/>
              <a:t>{ link to reference1, example: http://app.icraftsoft.net }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84E36F-A443-7521-D49B-753C50A8A8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25952" y="973836"/>
            <a:ext cx="4910328" cy="491032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-8621" y="625480"/>
            <a:ext cx="1036320" cy="685800"/>
          </a:xfrm>
          <a:prstGeom prst="rect">
            <a:avLst/>
          </a:prstGeom>
          <a:solidFill>
            <a:srgbClr val="25677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noProof="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8610600" y="6181726"/>
            <a:ext cx="2743200" cy="5397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836B06-9FB6-4AA1-A097-666DD28834F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073852" y="205990"/>
            <a:ext cx="944645" cy="94464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600" b="1" kern="1200" spc="-38" baseline="0">
          <a:solidFill>
            <a:schemeClr val="tx1">
              <a:lumMod val="75000"/>
              <a:lumOff val="25000"/>
            </a:schemeClr>
          </a:solidFill>
          <a:latin typeface="+mn-lt"/>
          <a:ea typeface="+mj-ea"/>
          <a:cs typeface="+mj-cs"/>
        </a:defRPr>
      </a:lvl1pPr>
    </p:titleStyle>
    <p:bodyStyle>
      <a:lvl1pPr marL="200025" indent="-200025" algn="l" defTabSz="685800" rtl="0" eaLnBrk="1" latinLnBrk="0" hangingPunct="1">
        <a:lnSpc>
          <a:spcPct val="100000"/>
        </a:lnSpc>
        <a:spcBef>
          <a:spcPts val="900"/>
        </a:spcBef>
        <a:spcAft>
          <a:spcPts val="150"/>
        </a:spcAft>
        <a:buClr>
          <a:schemeClr val="accent1"/>
        </a:buClr>
        <a:buSzPct val="100000"/>
        <a:buFont typeface="Wingdings" panose="05000000000000000000" pitchFamily="2" charset="2"/>
        <a:buChar char="§"/>
        <a:defRPr sz="15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288290" indent="-137160" algn="l" defTabSz="685800" rtl="0" eaLnBrk="1" latinLnBrk="0" hangingPunct="1">
        <a:lnSpc>
          <a:spcPct val="10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" panose="05000000000000000000" pitchFamily="2" charset="2"/>
        <a:buChar char="§"/>
        <a:defRPr sz="13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425450" indent="-137160" algn="l" defTabSz="685800" rtl="0" eaLnBrk="1" latinLnBrk="0" hangingPunct="1">
        <a:lnSpc>
          <a:spcPct val="10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" panose="05000000000000000000" pitchFamily="2" charset="2"/>
        <a:buChar char="§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562610" indent="-137160" algn="l" defTabSz="685800" rtl="0" eaLnBrk="1" latinLnBrk="0" hangingPunct="1">
        <a:lnSpc>
          <a:spcPct val="10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" panose="05000000000000000000" pitchFamily="2" charset="2"/>
        <a:buChar char="§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699770" indent="-137160" algn="l" defTabSz="685800" rtl="0" eaLnBrk="1" latinLnBrk="0" hangingPunct="1">
        <a:lnSpc>
          <a:spcPct val="10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" panose="05000000000000000000" pitchFamily="2" charset="2"/>
        <a:buChar char="§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824865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anose="020F0502020204030204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974725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anose="020F0502020204030204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12522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anose="020F0502020204030204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27508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anose="020F0502020204030204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ECDAC-6AB4-4A7B-90D7-87428ABE7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888" y="2402501"/>
            <a:ext cx="4014216" cy="1450757"/>
          </a:xfrm>
        </p:spPr>
        <p:txBody>
          <a:bodyPr>
            <a:noAutofit/>
          </a:bodyPr>
          <a:lstStyle/>
          <a:p>
            <a:r>
              <a:rPr lang="en-US" sz="60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Microsoft</a:t>
            </a:r>
            <a:br>
              <a:rPr lang="en-US" sz="60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sz="4000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SharePoint Sites</a:t>
            </a:r>
            <a:br>
              <a:rPr lang="en-US" sz="4000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sz="40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Part II</a:t>
            </a:r>
            <a:endParaRPr lang="en-US" sz="72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0905C-A1AA-3986-D28A-042DCEF7892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mintesnot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CEBC9E-4311-34A9-0C78-FA3EC39303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14544" y="1447038"/>
            <a:ext cx="6830568" cy="4553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9133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DA5F557-19C5-3E57-5E7C-602DF20CAEE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452193" y="654839"/>
            <a:ext cx="6460032" cy="6440905"/>
          </a:xfrm>
        </p:spPr>
        <p:txBody>
          <a:bodyPr>
            <a:normAutofit/>
          </a:bodyPr>
          <a:lstStyle/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What is a SharePoint Site?</a:t>
            </a:r>
          </a:p>
          <a:p>
            <a:pPr>
              <a:buBlip>
                <a:blip r:embed="rId2"/>
              </a:buBlip>
            </a:pPr>
            <a:r>
              <a:rPr lang="en-US" b="1" dirty="0">
                <a:solidFill>
                  <a:srgbClr val="036C7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Key differences Classic Vs Modern</a:t>
            </a:r>
          </a:p>
          <a:p>
            <a:pPr>
              <a:buBlip>
                <a:blip r:embed="rId2"/>
              </a:buBlip>
            </a:pPr>
            <a:r>
              <a:rPr lang="en-US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Key Features</a:t>
            </a:r>
          </a:p>
          <a:p>
            <a:pPr>
              <a:buBlip>
                <a:blip r:embed="rId2"/>
              </a:buBlip>
            </a:pPr>
            <a:r>
              <a:rPr lang="en-US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Components of SharePoint</a:t>
            </a:r>
          </a:p>
          <a:p>
            <a:pPr>
              <a:buBlip>
                <a:blip r:embed="rId2"/>
              </a:buBlip>
            </a:pPr>
            <a:r>
              <a:rPr lang="en-US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Integrate with Microsoft 365 Ecosystem</a:t>
            </a:r>
          </a:p>
          <a:p>
            <a:pPr>
              <a:buBlip>
                <a:blip r:embed="rId2"/>
              </a:buBlip>
            </a:pPr>
            <a:r>
              <a:rPr lang="en-US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SharePoint Version Evolution</a:t>
            </a:r>
          </a:p>
          <a:p>
            <a:pPr>
              <a:buBlip>
                <a:blip r:embed="rId2"/>
              </a:buBlip>
            </a:pPr>
            <a:r>
              <a:rPr lang="en-US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Types of SharePoint Users</a:t>
            </a:r>
          </a:p>
          <a:p>
            <a:pPr>
              <a:buBlip>
                <a:blip r:embed="rId2"/>
              </a:buBlip>
            </a:pPr>
            <a:r>
              <a:rPr lang="en-US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SharePoint Admin Center</a:t>
            </a:r>
          </a:p>
          <a:p>
            <a:pPr>
              <a:buBlip>
                <a:blip r:embed="rId2"/>
              </a:buBlip>
            </a:pPr>
            <a:r>
              <a:rPr lang="en-US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SharePoint Vs OneDrive</a:t>
            </a:r>
          </a:p>
        </p:txBody>
      </p:sp>
    </p:spTree>
    <p:extLst>
      <p:ext uri="{BB962C8B-B14F-4D97-AF65-F5344CB8AC3E}">
        <p14:creationId xmlns:p14="http://schemas.microsoft.com/office/powerpoint/2010/main" val="1664880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5AC7B-04BC-F64F-721F-7D3AF774F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SharePoint Modern Sites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4290E8-2F0D-3C23-E05D-060AC17761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79513" y="1475380"/>
            <a:ext cx="10617984" cy="5382620"/>
          </a:xfrm>
        </p:spPr>
        <p:txBody>
          <a:bodyPr>
            <a:normAutofit/>
          </a:bodyPr>
          <a:lstStyle/>
          <a:p>
            <a:pPr algn="just"/>
            <a:r>
              <a:rPr lang="en-US" dirty="0"/>
              <a:t> SharePoint in Microsoft 365 offers two primary modern site templates: </a:t>
            </a:r>
            <a:r>
              <a:rPr lang="en-US" b="1" dirty="0">
                <a:solidFill>
                  <a:srgbClr val="036C7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Team Sites</a:t>
            </a:r>
            <a:r>
              <a:rPr lang="en-US" dirty="0"/>
              <a:t> and </a:t>
            </a:r>
            <a:r>
              <a:rPr lang="en-US" b="1" dirty="0">
                <a:solidFill>
                  <a:srgbClr val="036C7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Communication Sites</a:t>
            </a:r>
            <a:r>
              <a:rPr lang="en-US" dirty="0"/>
              <a:t>.</a:t>
            </a:r>
          </a:p>
          <a:p>
            <a:pPr algn="just"/>
            <a:r>
              <a:rPr lang="en-US" dirty="0"/>
              <a:t> Both support modern pages, web parts, responsive design, and powerful customization, but they serve fundamentally different purposes.</a:t>
            </a:r>
          </a:p>
          <a:p>
            <a:pPr algn="just"/>
            <a:r>
              <a:rPr lang="en-US" dirty="0"/>
              <a:t> </a:t>
            </a:r>
            <a:r>
              <a:rPr lang="en-US" b="1" u="sng" dirty="0"/>
              <a:t>Core Philosophy</a:t>
            </a:r>
            <a:r>
              <a:rPr lang="en-US" b="1" dirty="0"/>
              <a:t>:</a:t>
            </a:r>
          </a:p>
          <a:p>
            <a:pPr algn="just">
              <a:buFont typeface="Wingdings" panose="05000000000000000000" pitchFamily="2" charset="2"/>
              <a:buChar char="Ø"/>
            </a:pPr>
            <a:r>
              <a:rPr lang="en-US" dirty="0"/>
              <a:t> </a:t>
            </a:r>
            <a:r>
              <a:rPr lang="en-US" b="1" dirty="0">
                <a:solidFill>
                  <a:srgbClr val="036C7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Team Sites</a:t>
            </a:r>
            <a:r>
              <a:rPr lang="en-US" dirty="0"/>
              <a:t>:</a:t>
            </a:r>
            <a:r>
              <a:rPr lang="en-US" b="1" dirty="0"/>
              <a:t> </a:t>
            </a:r>
            <a:r>
              <a:rPr lang="en-US" dirty="0"/>
              <a:t>” “Where the work gets done” – private, collaborative, workspaces.</a:t>
            </a:r>
          </a:p>
          <a:p>
            <a:pPr algn="just">
              <a:buFont typeface="Wingdings" panose="05000000000000000000" pitchFamily="2" charset="2"/>
              <a:buChar char="Ø"/>
            </a:pPr>
            <a:r>
              <a:rPr lang="en-US" dirty="0"/>
              <a:t> </a:t>
            </a:r>
            <a:r>
              <a:rPr lang="en-US" b="1" dirty="0">
                <a:solidFill>
                  <a:srgbClr val="036C7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Communication Sites</a:t>
            </a:r>
            <a:r>
              <a:rPr lang="en-US" dirty="0"/>
              <a:t>: “Where information is shared” – broadcasting and storytelling platforms.</a:t>
            </a:r>
          </a:p>
          <a:p>
            <a:pPr algn="just">
              <a:buFont typeface="Wingdings" panose="05000000000000000000" pitchFamily="2" charset="2"/>
              <a:buChar char="Ø"/>
            </a:pPr>
            <a:endParaRPr lang="en-US" dirty="0"/>
          </a:p>
          <a:p>
            <a:pPr algn="just">
              <a:buBlip>
                <a:blip r:embed="rId2"/>
              </a:buBlip>
            </a:pPr>
            <a:r>
              <a:rPr lang="en-US" dirty="0"/>
              <a:t> </a:t>
            </a:r>
            <a:r>
              <a:rPr lang="en-US" sz="3600" b="1" dirty="0">
                <a:solidFill>
                  <a:srgbClr val="FF0000"/>
                </a:solidFill>
                <a:latin typeface="Agency FB" panose="020B0503020202020204" pitchFamily="34" charset="0"/>
              </a:rPr>
              <a:t>Important Note</a:t>
            </a:r>
            <a:r>
              <a:rPr lang="en-US" dirty="0"/>
              <a:t>: You cannot easily convert one site type to the other after creation. Planning the purpose upfront is critical.</a:t>
            </a:r>
          </a:p>
        </p:txBody>
      </p:sp>
    </p:spTree>
    <p:extLst>
      <p:ext uri="{BB962C8B-B14F-4D97-AF65-F5344CB8AC3E}">
        <p14:creationId xmlns:p14="http://schemas.microsoft.com/office/powerpoint/2010/main" val="363147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7770C-B478-30B5-B96E-363269C68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0403F-8D76-97E8-5515-2D812FC2F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What is a Communication Site?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59E9FD-63E1-4DF3-D544-718BB6A58D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39326" y="1195384"/>
            <a:ext cx="6352674" cy="5662616"/>
          </a:xfrm>
        </p:spPr>
        <p:txBody>
          <a:bodyPr>
            <a:normAutofit fontScale="92500" lnSpcReduction="10000"/>
          </a:bodyPr>
          <a:lstStyle/>
          <a:p>
            <a:pPr algn="just"/>
            <a:r>
              <a:rPr lang="en-US" dirty="0"/>
              <a:t> A </a:t>
            </a:r>
            <a:r>
              <a:rPr lang="en-US" b="1" dirty="0">
                <a:solidFill>
                  <a:srgbClr val="036C70"/>
                </a:solidFill>
              </a:rPr>
              <a:t>Communication Site </a:t>
            </a:r>
            <a:r>
              <a:rPr lang="en-US" dirty="0"/>
              <a:t>is a SharePoint site designed to broadcast information to a larger audience.</a:t>
            </a:r>
          </a:p>
          <a:p>
            <a:pPr algn="just"/>
            <a:r>
              <a:rPr lang="en-US" dirty="0"/>
              <a:t> Its main goal is One-to-many communication.</a:t>
            </a:r>
          </a:p>
          <a:p>
            <a:pPr algn="just"/>
            <a:r>
              <a:rPr lang="en-US" dirty="0"/>
              <a:t> It focuses on:</a:t>
            </a:r>
          </a:p>
          <a:p>
            <a:pPr algn="just">
              <a:buFont typeface="Wingdings" panose="05000000000000000000" pitchFamily="2" charset="2"/>
              <a:buChar char="q"/>
            </a:pPr>
            <a:r>
              <a:rPr lang="en-US" dirty="0"/>
              <a:t> Announcements</a:t>
            </a:r>
          </a:p>
          <a:p>
            <a:pPr algn="just">
              <a:buFont typeface="Wingdings" panose="05000000000000000000" pitchFamily="2" charset="2"/>
              <a:buChar char="q"/>
            </a:pPr>
            <a:r>
              <a:rPr lang="en-US" dirty="0"/>
              <a:t> News</a:t>
            </a:r>
          </a:p>
          <a:p>
            <a:pPr algn="just">
              <a:buFont typeface="Wingdings" panose="05000000000000000000" pitchFamily="2" charset="2"/>
              <a:buChar char="q"/>
            </a:pPr>
            <a:r>
              <a:rPr lang="en-US" dirty="0"/>
              <a:t> Company information</a:t>
            </a:r>
          </a:p>
          <a:p>
            <a:pPr algn="just">
              <a:buFont typeface="Wingdings" panose="05000000000000000000" pitchFamily="2" charset="2"/>
              <a:buChar char="q"/>
            </a:pPr>
            <a:r>
              <a:rPr lang="en-US" dirty="0"/>
              <a:t> Policies</a:t>
            </a:r>
          </a:p>
          <a:p>
            <a:pPr algn="just">
              <a:buFont typeface="Wingdings" panose="05000000000000000000" pitchFamily="2" charset="2"/>
              <a:buChar char="q"/>
            </a:pPr>
            <a:r>
              <a:rPr lang="en-US" dirty="0"/>
              <a:t> Training materials</a:t>
            </a:r>
          </a:p>
          <a:p>
            <a:pPr algn="just"/>
            <a:r>
              <a:rPr lang="en-US" dirty="0"/>
              <a:t> Examples Use Cases:</a:t>
            </a:r>
          </a:p>
          <a:p>
            <a:pPr algn="just">
              <a:buBlip>
                <a:blip r:embed="rId2"/>
              </a:buBlip>
            </a:pPr>
            <a:r>
              <a:rPr lang="en-US" dirty="0"/>
              <a:t> HR Portal</a:t>
            </a:r>
          </a:p>
          <a:p>
            <a:pPr algn="just">
              <a:buBlip>
                <a:blip r:embed="rId2"/>
              </a:buBlip>
            </a:pPr>
            <a:r>
              <a:rPr lang="en-US" dirty="0"/>
              <a:t> Company News Portal</a:t>
            </a:r>
          </a:p>
          <a:p>
            <a:pPr algn="just">
              <a:buBlip>
                <a:blip r:embed="rId2"/>
              </a:buBlip>
            </a:pPr>
            <a:r>
              <a:rPr lang="en-US" dirty="0"/>
              <a:t> Training Center</a:t>
            </a:r>
          </a:p>
          <a:p>
            <a:pPr algn="just">
              <a:buBlip>
                <a:blip r:embed="rId2"/>
              </a:buBlip>
            </a:pPr>
            <a:r>
              <a:rPr lang="en-US" dirty="0"/>
              <a:t> Executive Updates</a:t>
            </a:r>
          </a:p>
          <a:p>
            <a:pPr algn="just">
              <a:buBlip>
                <a:blip r:embed="rId2"/>
              </a:buBlip>
            </a:pPr>
            <a:r>
              <a:rPr lang="en-US" dirty="0"/>
              <a:t> Department Information Site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4C3DF92-5270-29BA-2D42-4E27BA4BD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56" y="1619945"/>
            <a:ext cx="5771789" cy="4619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3110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10C7F-18C7-F045-EDA2-03C38C9B5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E3B1-2712-1DAA-7F23-BE08B1AFE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Characteristics of Communication Sites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288772-1D29-DBD9-9215-2387DE91A87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79513" y="1475380"/>
            <a:ext cx="10617984" cy="5382620"/>
          </a:xfrm>
        </p:spPr>
        <p:txBody>
          <a:bodyPr>
            <a:normAutofit/>
          </a:bodyPr>
          <a:lstStyle/>
          <a:p>
            <a:pPr marL="457200" indent="-457200" algn="just">
              <a:buFont typeface="+mj-lt"/>
              <a:buAutoNum type="arabicPeriod"/>
            </a:pPr>
            <a:r>
              <a:rPr lang="en-US" b="1" dirty="0">
                <a:latin typeface="Agency FB" panose="020B0503020202020204" pitchFamily="34" charset="0"/>
              </a:rPr>
              <a:t> Few Content Creators</a:t>
            </a:r>
          </a:p>
          <a:p>
            <a:pPr algn="just"/>
            <a:r>
              <a:rPr lang="en-US" dirty="0"/>
              <a:t> Only selected users publish content.</a:t>
            </a:r>
          </a:p>
          <a:p>
            <a:pPr marL="457200" indent="-457200" algn="just">
              <a:buFont typeface="+mj-lt"/>
              <a:buAutoNum type="arabicPeriod" startAt="2"/>
            </a:pPr>
            <a:r>
              <a:rPr lang="en-US" b="1" dirty="0">
                <a:latin typeface="Agency FB" panose="020B0503020202020204" pitchFamily="34" charset="0"/>
              </a:rPr>
              <a:t> Large Audience</a:t>
            </a:r>
          </a:p>
          <a:p>
            <a:pPr algn="just"/>
            <a:r>
              <a:rPr lang="en-US" dirty="0"/>
              <a:t> Many employees consume information.</a:t>
            </a:r>
          </a:p>
          <a:p>
            <a:pPr marL="457200" indent="-457200" algn="just">
              <a:buFont typeface="+mj-lt"/>
              <a:buAutoNum type="arabicPeriod" startAt="3"/>
            </a:pPr>
            <a:r>
              <a:rPr lang="en-US" b="1" dirty="0">
                <a:latin typeface="Agency FB" panose="020B0503020202020204" pitchFamily="34" charset="0"/>
              </a:rPr>
              <a:t> Attractive Design</a:t>
            </a:r>
          </a:p>
          <a:p>
            <a:pPr algn="just"/>
            <a:r>
              <a:rPr lang="en-US" dirty="0"/>
              <a:t> Modern layouts and visual pages</a:t>
            </a:r>
          </a:p>
          <a:p>
            <a:pPr marL="457200" indent="-457200" algn="just">
              <a:buFont typeface="+mj-lt"/>
              <a:buAutoNum type="arabicPeriod" startAt="4"/>
            </a:pPr>
            <a:r>
              <a:rPr lang="en-US" b="1" dirty="0">
                <a:latin typeface="Agency FB" panose="020B0503020202020204" pitchFamily="34" charset="0"/>
              </a:rPr>
              <a:t> Read-Oriented</a:t>
            </a:r>
          </a:p>
          <a:p>
            <a:pPr algn="just"/>
            <a:r>
              <a:rPr lang="en-US" dirty="0"/>
              <a:t> Focuses more on viewing than editing</a:t>
            </a:r>
          </a:p>
          <a:p>
            <a:pPr marL="457200" indent="-457200" algn="just">
              <a:buFont typeface="+mj-lt"/>
              <a:buAutoNum type="arabicPeriod" startAt="5"/>
            </a:pPr>
            <a:r>
              <a:rPr lang="en-US" b="1" dirty="0">
                <a:latin typeface="Agency FB" panose="020B0503020202020204" pitchFamily="34" charset="0"/>
              </a:rPr>
              <a:t> Organized information</a:t>
            </a:r>
          </a:p>
          <a:p>
            <a:pPr algn="just"/>
            <a:r>
              <a:rPr lang="en-US" dirty="0"/>
              <a:t> Content categorized neatly</a:t>
            </a:r>
          </a:p>
        </p:txBody>
      </p:sp>
    </p:spTree>
    <p:extLst>
      <p:ext uri="{BB962C8B-B14F-4D97-AF65-F5344CB8AC3E}">
        <p14:creationId xmlns:p14="http://schemas.microsoft.com/office/powerpoint/2010/main" val="27935635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0DDDE-4566-23E9-354A-B4CC3D47D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90AFAC5-E763-F336-08D0-F8081D8050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0602" y="1620374"/>
            <a:ext cx="7170639" cy="478042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C7526DF-3950-EB0D-2DCB-3296635C3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Features of Communication Sites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FF7869-EB93-E4F0-5C5B-99062D14012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186863" y="1331742"/>
            <a:ext cx="4812630" cy="5526257"/>
          </a:xfrm>
        </p:spPr>
        <p:txBody>
          <a:bodyPr>
            <a:normAutofit lnSpcReduction="1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b="1" dirty="0"/>
              <a:t>News Publishing </a:t>
            </a:r>
            <a:r>
              <a:rPr lang="en-US" dirty="0"/>
              <a:t>– Share updates and announcements.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Rich Pages </a:t>
            </a:r>
            <a:r>
              <a:rPr lang="en-US" dirty="0"/>
              <a:t>– Beautiful page layouts.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Hero Web Part </a:t>
            </a:r>
            <a:r>
              <a:rPr lang="en-US" dirty="0"/>
              <a:t>– Highlight important content.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Events </a:t>
            </a:r>
            <a:r>
              <a:rPr lang="en-US" dirty="0"/>
              <a:t>– Display upcoming company events.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Document Libraries </a:t>
            </a:r>
            <a:r>
              <a:rPr lang="en-US" dirty="0"/>
              <a:t>– Store company documents.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Search</a:t>
            </a:r>
            <a:r>
              <a:rPr lang="en-US" dirty="0"/>
              <a:t>– Easy information discovery.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Mobile Friendly – </a:t>
            </a:r>
            <a:r>
              <a:rPr lang="en-US" dirty="0"/>
              <a:t>Responsive design.</a:t>
            </a:r>
          </a:p>
        </p:txBody>
      </p:sp>
    </p:spTree>
    <p:extLst>
      <p:ext uri="{BB962C8B-B14F-4D97-AF65-F5344CB8AC3E}">
        <p14:creationId xmlns:p14="http://schemas.microsoft.com/office/powerpoint/2010/main" val="40274055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08FD6-CB2B-C301-2AB3-5FF949425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C3048F-06CE-6107-E31B-4A3EBFCB1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921" y="618977"/>
            <a:ext cx="9928174" cy="712765"/>
          </a:xfrm>
        </p:spPr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Real-world examples of Communication Sites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4F38AB9-2AF9-5080-F4A9-B2DA40EDD5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23999" y="1331742"/>
            <a:ext cx="822960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8624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672DF-AEBF-172A-644B-F3F6B4119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0B646-F560-FF3F-BECB-918CC45B1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Limitations of Communication Sites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856455-9A65-3A47-237A-11716F3D11D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79513" y="1475380"/>
            <a:ext cx="10617984" cy="5382620"/>
          </a:xfrm>
        </p:spPr>
        <p:txBody>
          <a:bodyPr>
            <a:normAutofit/>
          </a:bodyPr>
          <a:lstStyle/>
          <a:p>
            <a:pPr marL="457200" indent="-457200" algn="just">
              <a:buFont typeface="+mj-lt"/>
              <a:buAutoNum type="arabicPeriod"/>
            </a:pPr>
            <a:r>
              <a:rPr lang="en-US" b="1" dirty="0">
                <a:latin typeface="Agency FB" panose="020B0503020202020204" pitchFamily="34" charset="0"/>
              </a:rPr>
              <a:t> Limited Collaboration – </a:t>
            </a:r>
            <a:r>
              <a:rPr lang="en-US" dirty="0"/>
              <a:t>Not ideal for teams actively working together.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b="1" dirty="0">
                <a:latin typeface="Agency FB" panose="020B0503020202020204" pitchFamily="34" charset="0"/>
              </a:rPr>
              <a:t> Few Contributors – </a:t>
            </a:r>
            <a:r>
              <a:rPr lang="en-US" dirty="0"/>
              <a:t>Usually only authorized users edit content.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b="1" dirty="0">
                <a:latin typeface="Agency FB" panose="020B0503020202020204" pitchFamily="34" charset="0"/>
              </a:rPr>
              <a:t> Less Interactive – </a:t>
            </a:r>
            <a:r>
              <a:rPr lang="en-US" dirty="0"/>
              <a:t>Employees mainly consume information.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b="1" dirty="0">
                <a:latin typeface="Agency FB" panose="020B0503020202020204" pitchFamily="34" charset="0"/>
              </a:rPr>
              <a:t> Not Project-Oriented – </a:t>
            </a:r>
            <a:r>
              <a:rPr lang="en-US" dirty="0"/>
              <a:t>Poor choice for project teamwork.</a:t>
            </a:r>
          </a:p>
          <a:p>
            <a:pPr marL="457200" indent="-457200" algn="just">
              <a:buFont typeface="+mj-lt"/>
              <a:buAutoNum type="arabicPeriod"/>
            </a:pPr>
            <a:endParaRPr lang="en-US" b="1" dirty="0">
              <a:latin typeface="Agency FB" panose="020B0503020202020204" pitchFamily="34" charset="0"/>
            </a:endParaRPr>
          </a:p>
          <a:p>
            <a:pPr algn="just">
              <a:buFont typeface="Wingdings" panose="05000000000000000000" pitchFamily="2" charset="2"/>
              <a:buChar char="q"/>
            </a:pPr>
            <a:r>
              <a:rPr lang="en-US" b="1" dirty="0">
                <a:latin typeface="Agency FB" panose="020B0503020202020204" pitchFamily="34" charset="0"/>
              </a:rPr>
              <a:t> Avoid using Communication Sites For:</a:t>
            </a:r>
          </a:p>
          <a:p>
            <a:pPr marL="0" indent="0">
              <a:buNone/>
            </a:pPr>
            <a:r>
              <a:rPr lang="en-US" dirty="0"/>
              <a:t>❌ Daily team collaboration</a:t>
            </a:r>
          </a:p>
          <a:p>
            <a:pPr marL="0" indent="0">
              <a:buNone/>
            </a:pPr>
            <a:r>
              <a:rPr lang="en-US" dirty="0"/>
              <a:t>❌ Task management</a:t>
            </a:r>
          </a:p>
          <a:p>
            <a:pPr marL="0" indent="0">
              <a:buNone/>
            </a:pPr>
            <a:r>
              <a:rPr lang="en-US" dirty="0"/>
              <a:t>❌ Team project work</a:t>
            </a:r>
          </a:p>
          <a:p>
            <a:pPr marL="0" indent="0">
              <a:buNone/>
            </a:pPr>
            <a:r>
              <a:rPr lang="en-US" dirty="0"/>
              <a:t>❌ Heavy document co-authoring</a:t>
            </a:r>
          </a:p>
          <a:p>
            <a:pPr marL="0" indent="0" algn="just">
              <a:buNone/>
            </a:pPr>
            <a:endParaRPr lang="en-US" b="1" dirty="0">
              <a:latin typeface="Agency FB" panose="020B0503020202020204" pitchFamily="34" charset="0"/>
            </a:endParaRPr>
          </a:p>
          <a:p>
            <a:pPr algn="just">
              <a:buFont typeface="Wingdings" panose="05000000000000000000" pitchFamily="2" charset="2"/>
              <a:buChar char="q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35565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F9A1B1-E72D-8FF5-9AF0-2A47CFCC6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D127-9711-8F69-2CE2-6FB74C443C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What is a Team Site?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E53CA2-A6FD-E89E-7DE6-95464591892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742806" y="1195384"/>
            <a:ext cx="6449193" cy="5662616"/>
          </a:xfrm>
        </p:spPr>
        <p:txBody>
          <a:bodyPr>
            <a:normAutofit fontScale="92500" lnSpcReduction="10000"/>
          </a:bodyPr>
          <a:lstStyle/>
          <a:p>
            <a:pPr algn="just"/>
            <a:r>
              <a:rPr lang="en-US" dirty="0"/>
              <a:t> A </a:t>
            </a:r>
            <a:r>
              <a:rPr lang="en-US" b="1" dirty="0">
                <a:solidFill>
                  <a:srgbClr val="036C70"/>
                </a:solidFill>
              </a:rPr>
              <a:t>Team Site </a:t>
            </a:r>
            <a:r>
              <a:rPr lang="en-US" dirty="0"/>
              <a:t>is a SharePoint site designed for collaboration among team members.</a:t>
            </a:r>
          </a:p>
          <a:p>
            <a:pPr algn="just"/>
            <a:r>
              <a:rPr lang="en-US" dirty="0"/>
              <a:t> Its main goal is Many-to-many collaboration.</a:t>
            </a:r>
          </a:p>
          <a:p>
            <a:pPr algn="just"/>
            <a:r>
              <a:rPr lang="en-US" dirty="0"/>
              <a:t> It focuses on:</a:t>
            </a:r>
          </a:p>
          <a:p>
            <a:pPr algn="just">
              <a:buFont typeface="Wingdings" panose="05000000000000000000" pitchFamily="2" charset="2"/>
              <a:buChar char="q"/>
            </a:pPr>
            <a:r>
              <a:rPr lang="en-US" dirty="0"/>
              <a:t> Share files</a:t>
            </a:r>
          </a:p>
          <a:p>
            <a:pPr algn="just">
              <a:buFont typeface="Wingdings" panose="05000000000000000000" pitchFamily="2" charset="2"/>
              <a:buChar char="q"/>
            </a:pPr>
            <a:r>
              <a:rPr lang="en-US" dirty="0"/>
              <a:t> Edit documents</a:t>
            </a:r>
          </a:p>
          <a:p>
            <a:pPr algn="just">
              <a:buFont typeface="Wingdings" panose="05000000000000000000" pitchFamily="2" charset="2"/>
              <a:buChar char="q"/>
            </a:pPr>
            <a:r>
              <a:rPr lang="en-US" dirty="0"/>
              <a:t> Manage tasks</a:t>
            </a:r>
          </a:p>
          <a:p>
            <a:pPr algn="just">
              <a:buFont typeface="Wingdings" panose="05000000000000000000" pitchFamily="2" charset="2"/>
              <a:buChar char="q"/>
            </a:pPr>
            <a:r>
              <a:rPr lang="en-US" dirty="0"/>
              <a:t> Communication</a:t>
            </a:r>
          </a:p>
          <a:p>
            <a:pPr algn="just">
              <a:buFont typeface="Wingdings" panose="05000000000000000000" pitchFamily="2" charset="2"/>
              <a:buChar char="q"/>
            </a:pPr>
            <a:r>
              <a:rPr lang="en-US" dirty="0"/>
              <a:t> Track progress</a:t>
            </a:r>
          </a:p>
          <a:p>
            <a:pPr algn="just"/>
            <a:r>
              <a:rPr lang="en-US" dirty="0"/>
              <a:t> Examples Use Cases:</a:t>
            </a:r>
          </a:p>
          <a:p>
            <a:pPr algn="just">
              <a:buBlip>
                <a:blip r:embed="rId2"/>
              </a:buBlip>
            </a:pPr>
            <a:r>
              <a:rPr lang="en-US" dirty="0"/>
              <a:t> Project teams</a:t>
            </a:r>
          </a:p>
          <a:p>
            <a:pPr algn="just">
              <a:buBlip>
                <a:blip r:embed="rId2"/>
              </a:buBlip>
            </a:pPr>
            <a:r>
              <a:rPr lang="en-US" dirty="0"/>
              <a:t> IT department</a:t>
            </a:r>
          </a:p>
          <a:p>
            <a:pPr algn="just">
              <a:buBlip>
                <a:blip r:embed="rId2"/>
              </a:buBlip>
            </a:pPr>
            <a:r>
              <a:rPr lang="en-US" dirty="0"/>
              <a:t> Marketing team</a:t>
            </a:r>
          </a:p>
          <a:p>
            <a:pPr algn="just">
              <a:buBlip>
                <a:blip r:embed="rId2"/>
              </a:buBlip>
            </a:pPr>
            <a:r>
              <a:rPr lang="en-US" dirty="0"/>
              <a:t> Finance department</a:t>
            </a:r>
          </a:p>
          <a:p>
            <a:pPr algn="just">
              <a:buBlip>
                <a:blip r:embed="rId2"/>
              </a:buBlip>
            </a:pPr>
            <a:r>
              <a:rPr lang="en-US" dirty="0"/>
              <a:t> Student group projects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F703ADD-75B5-F5F1-639C-C931422B5A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64683" y="1323388"/>
            <a:ext cx="4585885" cy="5406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20103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BCB11-EE79-BD5C-DED3-82ABE6FDD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DA1DFA-57DD-B900-AC01-DD2BD9AD0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Characteristics of Team Sites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C83E4C-9449-BEDD-F4B6-A56E57ED7E8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79513" y="1475380"/>
            <a:ext cx="10617984" cy="5382620"/>
          </a:xfrm>
        </p:spPr>
        <p:txBody>
          <a:bodyPr>
            <a:normAutofit/>
          </a:bodyPr>
          <a:lstStyle/>
          <a:p>
            <a:pPr marL="457200" indent="-457200" algn="just">
              <a:buFont typeface="+mj-lt"/>
              <a:buAutoNum type="arabicPeriod"/>
            </a:pPr>
            <a:r>
              <a:rPr lang="en-US" b="1" dirty="0">
                <a:latin typeface="Agency FB" panose="020B0503020202020204" pitchFamily="34" charset="0"/>
              </a:rPr>
              <a:t> Collaborative Environment</a:t>
            </a:r>
          </a:p>
          <a:p>
            <a:pPr algn="just"/>
            <a:r>
              <a:rPr lang="en-US" dirty="0"/>
              <a:t> Everyone works together.</a:t>
            </a:r>
          </a:p>
          <a:p>
            <a:pPr marL="457200" indent="-457200" algn="just">
              <a:buFont typeface="+mj-lt"/>
              <a:buAutoNum type="arabicPeriod" startAt="2"/>
            </a:pPr>
            <a:r>
              <a:rPr lang="en-US" b="1" dirty="0">
                <a:latin typeface="Agency FB" panose="020B0503020202020204" pitchFamily="34" charset="0"/>
              </a:rPr>
              <a:t> Shared Ownership</a:t>
            </a:r>
          </a:p>
          <a:p>
            <a:pPr algn="just"/>
            <a:r>
              <a:rPr lang="en-US" dirty="0"/>
              <a:t> Members can contribute content.</a:t>
            </a:r>
          </a:p>
          <a:p>
            <a:pPr marL="457200" indent="-457200" algn="just">
              <a:buFont typeface="+mj-lt"/>
              <a:buAutoNum type="arabicPeriod" startAt="3"/>
            </a:pPr>
            <a:r>
              <a:rPr lang="en-US" b="1" dirty="0">
                <a:latin typeface="Agency FB" panose="020B0503020202020204" pitchFamily="34" charset="0"/>
              </a:rPr>
              <a:t> Document Co-Authoring</a:t>
            </a:r>
          </a:p>
          <a:p>
            <a:pPr algn="just"/>
            <a:r>
              <a:rPr lang="en-US" dirty="0"/>
              <a:t> Multiple users edit files simultaneously.</a:t>
            </a:r>
          </a:p>
          <a:p>
            <a:pPr marL="457200" indent="-457200" algn="just">
              <a:buFont typeface="+mj-lt"/>
              <a:buAutoNum type="arabicPeriod" startAt="4"/>
            </a:pPr>
            <a:r>
              <a:rPr lang="en-US" b="1" dirty="0">
                <a:latin typeface="Agency FB" panose="020B0503020202020204" pitchFamily="34" charset="0"/>
              </a:rPr>
              <a:t> Permission-Based Access</a:t>
            </a:r>
          </a:p>
          <a:p>
            <a:pPr algn="just"/>
            <a:r>
              <a:rPr lang="en-US" dirty="0"/>
              <a:t> Only team members access content.</a:t>
            </a:r>
          </a:p>
          <a:p>
            <a:pPr marL="457200" indent="-457200" algn="just">
              <a:buFont typeface="+mj-lt"/>
              <a:buAutoNum type="arabicPeriod" startAt="5"/>
            </a:pPr>
            <a:r>
              <a:rPr lang="en-US" b="1" dirty="0">
                <a:latin typeface="Agency FB" panose="020B0503020202020204" pitchFamily="34" charset="0"/>
              </a:rPr>
              <a:t> Integration with Microsoft Teams</a:t>
            </a:r>
          </a:p>
          <a:p>
            <a:pPr algn="just"/>
            <a:r>
              <a:rPr lang="en-US" dirty="0"/>
              <a:t> Supports meetings and chats.</a:t>
            </a:r>
          </a:p>
        </p:txBody>
      </p:sp>
    </p:spTree>
    <p:extLst>
      <p:ext uri="{BB962C8B-B14F-4D97-AF65-F5344CB8AC3E}">
        <p14:creationId xmlns:p14="http://schemas.microsoft.com/office/powerpoint/2010/main" val="22041909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83E4AC-F7B1-A5B0-4E55-F5E14B552F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602" y="1620374"/>
            <a:ext cx="7170639" cy="478042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06C0930-EA17-5610-8179-8363412575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Features of Team Sites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5C9FD5-021C-1379-0EDF-30F3F46ACB4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186863" y="1331742"/>
            <a:ext cx="4812630" cy="5526257"/>
          </a:xfrm>
        </p:spPr>
        <p:txBody>
          <a:bodyPr>
            <a:normAutofit lnSpcReduction="1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b="1" dirty="0"/>
              <a:t>Shared Document Library </a:t>
            </a:r>
            <a:r>
              <a:rPr lang="en-US" dirty="0"/>
              <a:t>– Central location for files.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Real-Time Collaboration </a:t>
            </a:r>
            <a:r>
              <a:rPr lang="en-US" dirty="0"/>
              <a:t>– Multiple users edit documents simultaneously.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Lists </a:t>
            </a:r>
            <a:r>
              <a:rPr lang="en-US" dirty="0"/>
              <a:t>– Track Tasks, Inventory, Issues &amp; Projects.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Shared Calendar </a:t>
            </a:r>
            <a:r>
              <a:rPr lang="en-US" dirty="0"/>
              <a:t>– Track deadlines and events.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Permissions </a:t>
            </a:r>
            <a:r>
              <a:rPr lang="en-US" dirty="0"/>
              <a:t>– Control access.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Version History </a:t>
            </a:r>
            <a:r>
              <a:rPr lang="en-US" dirty="0"/>
              <a:t>– Recover previous document versions.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Integration with Microsoft Teams</a:t>
            </a:r>
          </a:p>
        </p:txBody>
      </p:sp>
    </p:spTree>
    <p:extLst>
      <p:ext uri="{BB962C8B-B14F-4D97-AF65-F5344CB8AC3E}">
        <p14:creationId xmlns:p14="http://schemas.microsoft.com/office/powerpoint/2010/main" val="500089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65F35-588A-374C-3F78-8BD1BEA8D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6AE8B2-9E93-1E76-EB3F-5DF1CFE1F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Real-world examples of Team Sites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2DEA8B6-59E3-4B2F-78A9-8A3F6ED1AF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31742"/>
            <a:ext cx="8229601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91988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EB799-B936-D623-02E5-FD7AF8597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63475-ECD0-49B1-EA03-CDB16C462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Limitations of Team Sites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001BE8-A33E-248F-4258-AEEF030994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79513" y="1475380"/>
            <a:ext cx="10617984" cy="5382620"/>
          </a:xfrm>
        </p:spPr>
        <p:txBody>
          <a:bodyPr>
            <a:normAutofit/>
          </a:bodyPr>
          <a:lstStyle/>
          <a:p>
            <a:pPr marL="457200" indent="-457200" algn="just">
              <a:buFont typeface="+mj-lt"/>
              <a:buAutoNum type="arabicPeriod"/>
            </a:pPr>
            <a:r>
              <a:rPr lang="en-US" b="1" dirty="0">
                <a:latin typeface="Agency FB" panose="020B0503020202020204" pitchFamily="34" charset="0"/>
              </a:rPr>
              <a:t> Can Become Disorganized – </a:t>
            </a:r>
            <a:r>
              <a:rPr lang="en-US" dirty="0"/>
              <a:t>Poor governance causes clutter.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b="1" dirty="0">
                <a:latin typeface="Agency FB" panose="020B0503020202020204" pitchFamily="34" charset="0"/>
              </a:rPr>
              <a:t> Too Many Permissions – </a:t>
            </a:r>
            <a:r>
              <a:rPr lang="en-US" dirty="0"/>
              <a:t>Complex access settings.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b="1" dirty="0">
                <a:latin typeface="Agency FB" panose="020B0503020202020204" pitchFamily="34" charset="0"/>
              </a:rPr>
              <a:t> Storage Management – </a:t>
            </a:r>
            <a:r>
              <a:rPr lang="en-US" dirty="0"/>
              <a:t>Unused files accumulate.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b="1" dirty="0">
                <a:latin typeface="Agency FB" panose="020B0503020202020204" pitchFamily="34" charset="0"/>
              </a:rPr>
              <a:t> Requires User Training – </a:t>
            </a:r>
            <a:r>
              <a:rPr lang="en-US" dirty="0"/>
              <a:t>Employees must understand collaboration rules.</a:t>
            </a:r>
          </a:p>
          <a:p>
            <a:pPr marL="457200" indent="-457200" algn="just">
              <a:buFont typeface="+mj-lt"/>
              <a:buAutoNum type="arabicPeriod"/>
            </a:pPr>
            <a:endParaRPr lang="en-US" b="1" dirty="0">
              <a:latin typeface="Agency FB" panose="020B0503020202020204" pitchFamily="34" charset="0"/>
            </a:endParaRPr>
          </a:p>
          <a:p>
            <a:pPr algn="just">
              <a:buFont typeface="Wingdings" panose="05000000000000000000" pitchFamily="2" charset="2"/>
              <a:buChar char="q"/>
            </a:pPr>
            <a:r>
              <a:rPr lang="en-US" b="1" dirty="0">
                <a:latin typeface="Agency FB" panose="020B0503020202020204" pitchFamily="34" charset="0"/>
              </a:rPr>
              <a:t> Common Problems</a:t>
            </a:r>
            <a:r>
              <a:rPr lang="en-US" dirty="0">
                <a:latin typeface="Agency FB" panose="020B0503020202020204" pitchFamily="34" charset="0"/>
              </a:rPr>
              <a:t>:</a:t>
            </a:r>
          </a:p>
          <a:p>
            <a:pPr marL="0" indent="0">
              <a:buNone/>
            </a:pPr>
            <a:r>
              <a:rPr lang="en-US" dirty="0"/>
              <a:t>❌ Duplicate files</a:t>
            </a:r>
          </a:p>
          <a:p>
            <a:pPr marL="0" indent="0">
              <a:buNone/>
            </a:pPr>
            <a:r>
              <a:rPr lang="en-US" dirty="0"/>
              <a:t>❌ Poor folder structure</a:t>
            </a:r>
          </a:p>
          <a:p>
            <a:pPr marL="0" indent="0">
              <a:buNone/>
            </a:pPr>
            <a:r>
              <a:rPr lang="en-US" dirty="0"/>
              <a:t>❌ Permission confusion</a:t>
            </a:r>
          </a:p>
          <a:p>
            <a:pPr marL="0" indent="0">
              <a:buNone/>
            </a:pPr>
            <a:r>
              <a:rPr lang="en-US" dirty="0"/>
              <a:t>❌ Unused content</a:t>
            </a:r>
          </a:p>
          <a:p>
            <a:pPr marL="0" indent="0" algn="just">
              <a:buNone/>
            </a:pPr>
            <a:endParaRPr lang="en-US" b="1" dirty="0">
              <a:latin typeface="Agency FB" panose="020B0503020202020204" pitchFamily="34" charset="0"/>
            </a:endParaRPr>
          </a:p>
          <a:p>
            <a:pPr algn="just">
              <a:buFont typeface="Wingdings" panose="05000000000000000000" pitchFamily="2" charset="2"/>
              <a:buChar char="q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51435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8629D-5981-B8F3-85B3-362DD45A0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Communication Site Vs. Team Site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10FFBB7-B88C-E5F4-B9DD-0FA30C9073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4779718"/>
              </p:ext>
            </p:extLst>
          </p:nvPr>
        </p:nvGraphicFramePr>
        <p:xfrm>
          <a:off x="695157" y="1473645"/>
          <a:ext cx="10983495" cy="509016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3661165">
                  <a:extLst>
                    <a:ext uri="{9D8B030D-6E8A-4147-A177-3AD203B41FA5}">
                      <a16:colId xmlns:a16="http://schemas.microsoft.com/office/drawing/2014/main" val="3217115142"/>
                    </a:ext>
                  </a:extLst>
                </a:gridCol>
                <a:gridCol w="3661165">
                  <a:extLst>
                    <a:ext uri="{9D8B030D-6E8A-4147-A177-3AD203B41FA5}">
                      <a16:colId xmlns:a16="http://schemas.microsoft.com/office/drawing/2014/main" val="1635014751"/>
                    </a:ext>
                  </a:extLst>
                </a:gridCol>
                <a:gridCol w="3661165">
                  <a:extLst>
                    <a:ext uri="{9D8B030D-6E8A-4147-A177-3AD203B41FA5}">
                      <a16:colId xmlns:a16="http://schemas.microsoft.com/office/drawing/2014/main" val="28205189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036C7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036C7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Communication 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036C7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Team Site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25943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Primary Goal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Share information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Collaborate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96109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Audience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Large audience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Small team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5863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Contributors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Few 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Many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63095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Content Style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Publishing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Collaboration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4089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Editing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Limited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Shared editing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3909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Permissions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Controlled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Team-based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58959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Microsoft 365 Group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Usually No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Usually Yes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79777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Best For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News &amp; announcements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Project teamwork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95181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941489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807BB-9CF5-84D4-A58C-23A8DCA46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24757-9E24-5C02-0A70-C5803F621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921" y="616107"/>
            <a:ext cx="9393848" cy="712765"/>
          </a:xfrm>
        </p:spPr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Detailed Feature Comparison</a:t>
            </a: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F5A9262-1564-AC88-FDED-6C8BDCBA63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3950119"/>
              </p:ext>
            </p:extLst>
          </p:nvPr>
        </p:nvGraphicFramePr>
        <p:xfrm>
          <a:off x="256674" y="1459832"/>
          <a:ext cx="11710738" cy="5250882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256556">
                  <a:extLst>
                    <a:ext uri="{9D8B030D-6E8A-4147-A177-3AD203B41FA5}">
                      <a16:colId xmlns:a16="http://schemas.microsoft.com/office/drawing/2014/main" val="470776211"/>
                    </a:ext>
                  </a:extLst>
                </a:gridCol>
                <a:gridCol w="4751973">
                  <a:extLst>
                    <a:ext uri="{9D8B030D-6E8A-4147-A177-3AD203B41FA5}">
                      <a16:colId xmlns:a16="http://schemas.microsoft.com/office/drawing/2014/main" val="1019660400"/>
                    </a:ext>
                  </a:extLst>
                </a:gridCol>
                <a:gridCol w="4702209">
                  <a:extLst>
                    <a:ext uri="{9D8B030D-6E8A-4147-A177-3AD203B41FA5}">
                      <a16:colId xmlns:a16="http://schemas.microsoft.com/office/drawing/2014/main" val="375588374"/>
                    </a:ext>
                  </a:extLst>
                </a:gridCol>
              </a:tblGrid>
              <a:tr h="378860">
                <a:tc>
                  <a:txBody>
                    <a:bodyPr/>
                    <a:lstStyle/>
                    <a:p>
                      <a:r>
                        <a:rPr lang="en-US" sz="2000" b="0" dirty="0">
                          <a:solidFill>
                            <a:srgbClr val="036C7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0" dirty="0">
                          <a:solidFill>
                            <a:srgbClr val="036C7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Team 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0" dirty="0">
                          <a:solidFill>
                            <a:srgbClr val="036C7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Communication Site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9263078"/>
                  </a:ext>
                </a:extLst>
              </a:tr>
              <a:tr h="450986">
                <a:tc>
                  <a:txBody>
                    <a:bodyPr/>
                    <a:lstStyle/>
                    <a:p>
                      <a:r>
                        <a:rPr lang="en-US" sz="2000" b="1" dirty="0"/>
                        <a:t>Primary Goal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Collaboration (many-to-many)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Broadcasting (one-to-many)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7398213"/>
                  </a:ext>
                </a:extLst>
              </a:tr>
              <a:tr h="503425">
                <a:tc>
                  <a:txBody>
                    <a:bodyPr/>
                    <a:lstStyle/>
                    <a:p>
                      <a:r>
                        <a:rPr lang="en-US" sz="2000" b="1" dirty="0"/>
                        <a:t>Microsoft 365 Group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Yes (mailbox, calendar, Planner, Teams)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No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7047288"/>
                  </a:ext>
                </a:extLst>
              </a:tr>
              <a:tr h="553719">
                <a:tc>
                  <a:txBody>
                    <a:bodyPr/>
                    <a:lstStyle/>
                    <a:p>
                      <a:r>
                        <a:rPr lang="en-US" sz="2000" b="1" dirty="0"/>
                        <a:t>Default Audience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Closed / Private team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Broad / Organization-wide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6704357"/>
                  </a:ext>
                </a:extLst>
              </a:tr>
              <a:tr h="553719">
                <a:tc>
                  <a:txBody>
                    <a:bodyPr/>
                    <a:lstStyle/>
                    <a:p>
                      <a:r>
                        <a:rPr lang="en-US" sz="2000" b="1" dirty="0"/>
                        <a:t>Content Authors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All members by default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Limited authors (controlled)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0567304"/>
                  </a:ext>
                </a:extLst>
              </a:tr>
              <a:tr h="493193">
                <a:tc>
                  <a:txBody>
                    <a:bodyPr/>
                    <a:lstStyle/>
                    <a:p>
                      <a:r>
                        <a:rPr lang="en-US" sz="2000" b="1" dirty="0"/>
                        <a:t>Navigation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Left-hand (Quick Launch)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Top navigation only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2006373"/>
                  </a:ext>
                </a:extLst>
              </a:tr>
              <a:tr h="553719">
                <a:tc>
                  <a:txBody>
                    <a:bodyPr/>
                    <a:lstStyle/>
                    <a:p>
                      <a:r>
                        <a:rPr lang="en-US" sz="2000" b="1" dirty="0"/>
                        <a:t>Permissions Model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Microsoft 365 Groups (easier for teams)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SharePoint Groups (more granular)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3131654"/>
                  </a:ext>
                </a:extLst>
              </a:tr>
              <a:tr h="320574">
                <a:tc>
                  <a:txBody>
                    <a:bodyPr/>
                    <a:lstStyle/>
                    <a:p>
                      <a:r>
                        <a:rPr lang="en-US" sz="2000" b="1" dirty="0"/>
                        <a:t>External Sharing (Default)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Often enabled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Disabled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7577836"/>
                  </a:ext>
                </a:extLst>
              </a:tr>
              <a:tr h="320574">
                <a:tc>
                  <a:txBody>
                    <a:bodyPr/>
                    <a:lstStyle/>
                    <a:p>
                      <a:r>
                        <a:rPr lang="en-US" sz="2000" b="1" dirty="0"/>
                        <a:t>Visual Design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Functional &amp; practical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Highly visual, full-width sections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8402394"/>
                  </a:ext>
                </a:extLst>
              </a:tr>
              <a:tr h="450986">
                <a:tc>
                  <a:txBody>
                    <a:bodyPr/>
                    <a:lstStyle/>
                    <a:p>
                      <a:r>
                        <a:rPr lang="en-US" sz="2000" b="1" dirty="0"/>
                        <a:t>News &amp; Events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Supported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Optimized (better engagement tools)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35190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404831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07B6D-4850-C9E4-AC33-731C82420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0BEC5-CF3D-209F-F682-35476C7ABF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921" y="616107"/>
            <a:ext cx="9393848" cy="712765"/>
          </a:xfrm>
        </p:spPr>
        <p:txBody>
          <a:bodyPr/>
          <a:lstStyle/>
          <a:p>
            <a:r>
              <a:rPr lang="en-US" dirty="0">
                <a:solidFill>
                  <a:srgbClr val="036C7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en-US" dirty="0">
              <a:solidFill>
                <a:srgbClr val="036C70"/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F74300A-9D2A-B517-A624-CBE0D8C3A3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989107"/>
              </p:ext>
            </p:extLst>
          </p:nvPr>
        </p:nvGraphicFramePr>
        <p:xfrm>
          <a:off x="256674" y="1459832"/>
          <a:ext cx="11710738" cy="2595879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3304673">
                  <a:extLst>
                    <a:ext uri="{9D8B030D-6E8A-4147-A177-3AD203B41FA5}">
                      <a16:colId xmlns:a16="http://schemas.microsoft.com/office/drawing/2014/main" val="470776211"/>
                    </a:ext>
                  </a:extLst>
                </a:gridCol>
                <a:gridCol w="4748464">
                  <a:extLst>
                    <a:ext uri="{9D8B030D-6E8A-4147-A177-3AD203B41FA5}">
                      <a16:colId xmlns:a16="http://schemas.microsoft.com/office/drawing/2014/main" val="1019660400"/>
                    </a:ext>
                  </a:extLst>
                </a:gridCol>
                <a:gridCol w="3657601">
                  <a:extLst>
                    <a:ext uri="{9D8B030D-6E8A-4147-A177-3AD203B41FA5}">
                      <a16:colId xmlns:a16="http://schemas.microsoft.com/office/drawing/2014/main" val="375588374"/>
                    </a:ext>
                  </a:extLst>
                </a:gridCol>
              </a:tblGrid>
              <a:tr h="378860">
                <a:tc>
                  <a:txBody>
                    <a:bodyPr/>
                    <a:lstStyle/>
                    <a:p>
                      <a:r>
                        <a:rPr lang="en-US" sz="2000" b="0" dirty="0">
                          <a:solidFill>
                            <a:srgbClr val="036C7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0" dirty="0">
                          <a:solidFill>
                            <a:srgbClr val="036C7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Team 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0" dirty="0">
                          <a:solidFill>
                            <a:srgbClr val="036C7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Communication Site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9263078"/>
                  </a:ext>
                </a:extLst>
              </a:tr>
              <a:tr h="450986">
                <a:tc>
                  <a:txBody>
                    <a:bodyPr/>
                    <a:lstStyle/>
                    <a:p>
                      <a:r>
                        <a:rPr lang="en-US" sz="2400" b="1" dirty="0"/>
                        <a:t>Additional Tools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Planner, OneNote, Shared Email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Hero web part, News carousel, Spotlight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7398213"/>
                  </a:ext>
                </a:extLst>
              </a:tr>
              <a:tr h="503425">
                <a:tc>
                  <a:txBody>
                    <a:bodyPr/>
                    <a:lstStyle/>
                    <a:p>
                      <a:r>
                        <a:rPr lang="en-US" sz="2400" b="1" dirty="0"/>
                        <a:t>Web Parts Availability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More collaboration – focused options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Stronger publishing options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7047288"/>
                  </a:ext>
                </a:extLst>
              </a:tr>
              <a:tr h="553719">
                <a:tc>
                  <a:txBody>
                    <a:bodyPr/>
                    <a:lstStyle/>
                    <a:p>
                      <a:r>
                        <a:rPr lang="en-US" sz="2400" b="1" dirty="0"/>
                        <a:t>Conversion Possible?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No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No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67043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2628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6C2F1-85DB-B503-5583-03D9F107E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2D4D0-1E32-9D52-2CDB-47853BC86B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When to Choose a Team Site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AA4F2F-E4C5-4583-E4AD-0DCB92F6126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106653" y="1475380"/>
            <a:ext cx="5065295" cy="5382620"/>
          </a:xfrm>
        </p:spPr>
        <p:txBody>
          <a:bodyPr>
            <a:normAutofit/>
          </a:bodyPr>
          <a:lstStyle/>
          <a:p>
            <a:pPr algn="just"/>
            <a:r>
              <a:rPr lang="en-US" dirty="0"/>
              <a:t> When You need:</a:t>
            </a:r>
          </a:p>
          <a:p>
            <a:pPr marL="0" indent="0">
              <a:buNone/>
            </a:pPr>
            <a:r>
              <a:rPr lang="en-US" dirty="0"/>
              <a:t>✅ Team collaboration</a:t>
            </a:r>
          </a:p>
          <a:p>
            <a:pPr marL="0" indent="0">
              <a:buNone/>
            </a:pPr>
            <a:r>
              <a:rPr lang="en-US" dirty="0"/>
              <a:t>✅ Shared editing</a:t>
            </a:r>
          </a:p>
          <a:p>
            <a:pPr marL="0" indent="0">
              <a:buNone/>
            </a:pPr>
            <a:r>
              <a:rPr lang="en-US" dirty="0"/>
              <a:t>✅ Project management</a:t>
            </a:r>
          </a:p>
          <a:p>
            <a:pPr marL="0" indent="0">
              <a:buNone/>
            </a:pPr>
            <a:r>
              <a:rPr lang="en-US" dirty="0"/>
              <a:t>✅ Task tracking</a:t>
            </a:r>
          </a:p>
          <a:p>
            <a:pPr marL="0" indent="0">
              <a:buNone/>
            </a:pPr>
            <a:r>
              <a:rPr lang="en-US" dirty="0"/>
              <a:t>✅ Department teamwork</a:t>
            </a:r>
          </a:p>
          <a:p>
            <a:pPr marL="0" indent="0">
              <a:buNone/>
            </a:pPr>
            <a:r>
              <a:rPr lang="en-US" dirty="0"/>
              <a:t>✅ File collaboration</a:t>
            </a:r>
          </a:p>
          <a:p>
            <a:pPr algn="just"/>
            <a:r>
              <a:rPr lang="en-US" dirty="0"/>
              <a:t> </a:t>
            </a:r>
            <a:r>
              <a:rPr lang="en-US" b="1" u="sng" dirty="0"/>
              <a:t>Example Scenarios</a:t>
            </a:r>
            <a:r>
              <a:rPr lang="en-US" dirty="0"/>
              <a:t>: Marketing Team – Campaign collaboration, IT Team – System documentation, Construction Team – Project coordination.</a:t>
            </a:r>
          </a:p>
          <a:p>
            <a:pPr algn="just"/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A286092-27ED-38F4-A0F0-9FCAE412EB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51" y="1636294"/>
            <a:ext cx="7098633" cy="4732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8686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1ED8A-1C06-0C1D-2E9B-E59C3ED88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E34172-8AC5-8DED-0D3F-0564B552B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When to Choose a Communication Site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C64AFC-6B18-06D2-440C-6959B6E9C37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106653" y="1475380"/>
            <a:ext cx="5065295" cy="5382620"/>
          </a:xfrm>
        </p:spPr>
        <p:txBody>
          <a:bodyPr>
            <a:normAutofit/>
          </a:bodyPr>
          <a:lstStyle/>
          <a:p>
            <a:pPr algn="just"/>
            <a:r>
              <a:rPr lang="en-US" dirty="0"/>
              <a:t> When You need:</a:t>
            </a:r>
          </a:p>
          <a:p>
            <a:pPr marL="0" indent="0">
              <a:buNone/>
            </a:pPr>
            <a:r>
              <a:rPr lang="en-US" dirty="0"/>
              <a:t>✅ Organization-wide announcements</a:t>
            </a:r>
          </a:p>
          <a:p>
            <a:pPr marL="0" indent="0">
              <a:buNone/>
            </a:pPr>
            <a:r>
              <a:rPr lang="en-US" dirty="0"/>
              <a:t>✅ Knowledge sharing</a:t>
            </a:r>
          </a:p>
          <a:p>
            <a:pPr marL="0" indent="0">
              <a:buNone/>
            </a:pPr>
            <a:r>
              <a:rPr lang="en-US" dirty="0"/>
              <a:t>✅ Company news</a:t>
            </a:r>
          </a:p>
          <a:p>
            <a:pPr marL="0" indent="0">
              <a:buNone/>
            </a:pPr>
            <a:r>
              <a:rPr lang="en-US" dirty="0"/>
              <a:t>✅ Training materials</a:t>
            </a:r>
          </a:p>
          <a:p>
            <a:pPr marL="0" indent="0">
              <a:buNone/>
            </a:pPr>
            <a:r>
              <a:rPr lang="en-US" dirty="0"/>
              <a:t>✅ Policy management</a:t>
            </a:r>
          </a:p>
          <a:p>
            <a:pPr marL="0" indent="0">
              <a:buNone/>
            </a:pPr>
            <a:r>
              <a:rPr lang="en-US" dirty="0"/>
              <a:t>✅ Department information portal</a:t>
            </a:r>
          </a:p>
          <a:p>
            <a:r>
              <a:rPr lang="en-US" dirty="0"/>
              <a:t> </a:t>
            </a:r>
            <a:r>
              <a:rPr lang="en-US" b="1" u="sng" dirty="0"/>
              <a:t>Example Scenarios</a:t>
            </a:r>
            <a:r>
              <a:rPr lang="en-US" dirty="0"/>
              <a:t>: HR Department – Employee handbook, CEO Office – Company updates, University Administration – Student announcements.</a:t>
            </a:r>
          </a:p>
          <a:p>
            <a:pPr algn="just"/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5221667-DEB2-7A79-D252-D9DFAB03B6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51" y="1636294"/>
            <a:ext cx="7098633" cy="4732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59149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RetrospectVTI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2453</TotalTime>
  <Words>941</Words>
  <Application>Microsoft Office PowerPoint</Application>
  <PresentationFormat>Widescreen</PresentationFormat>
  <Paragraphs>201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ADLaM Display</vt:lpstr>
      <vt:lpstr>Agency FB</vt:lpstr>
      <vt:lpstr>Calibri</vt:lpstr>
      <vt:lpstr>Wingdings</vt:lpstr>
      <vt:lpstr>YESHUAH</vt:lpstr>
      <vt:lpstr>RetrospectVTI</vt:lpstr>
      <vt:lpstr>Microsoft SharePoint Sites Part II</vt:lpstr>
      <vt:lpstr>PowerPoint Presentation</vt:lpstr>
      <vt:lpstr>SharePoint Modern Sites</vt:lpstr>
      <vt:lpstr>What is a Communication Site?</vt:lpstr>
      <vt:lpstr>Characteristics of Communication Sites</vt:lpstr>
      <vt:lpstr>Features of Communication Sites</vt:lpstr>
      <vt:lpstr>Real-world examples of Communication Sites</vt:lpstr>
      <vt:lpstr>Limitations of Communication Sites</vt:lpstr>
      <vt:lpstr>What is a Team Site?</vt:lpstr>
      <vt:lpstr>Characteristics of Team Sites</vt:lpstr>
      <vt:lpstr>Features of Team Sites</vt:lpstr>
      <vt:lpstr>Real-world examples of Team Sites</vt:lpstr>
      <vt:lpstr>Limitations of Team Sites</vt:lpstr>
      <vt:lpstr>Communication Site Vs. Team Site</vt:lpstr>
      <vt:lpstr>Detailed Feature Comparison</vt:lpstr>
      <vt:lpstr>…</vt:lpstr>
      <vt:lpstr>When to Choose a Team Site</vt:lpstr>
      <vt:lpstr>When to Choose a Communication Site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Mintesnot Iwunete</cp:lastModifiedBy>
  <cp:revision>267</cp:revision>
  <dcterms:created xsi:type="dcterms:W3CDTF">2020-02-06T00:04:00Z</dcterms:created>
  <dcterms:modified xsi:type="dcterms:W3CDTF">2026-05-20T21:28:08Z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1033-11.2.0.9937</vt:lpwstr>
  </property>
</Properties>
</file>